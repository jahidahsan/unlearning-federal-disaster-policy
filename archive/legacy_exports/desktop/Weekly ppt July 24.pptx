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6" r:id="rId5"/>
    <p:sldId id="267" r:id="rId6"/>
    <p:sldId id="268" r:id="rId7"/>
    <p:sldId id="260" r:id="rId8"/>
    <p:sldId id="269" r:id="rId9"/>
    <p:sldId id="270" r:id="rId10"/>
    <p:sldId id="263" r:id="rId11"/>
    <p:sldId id="262" r:id="rId12"/>
    <p:sldId id="271" r:id="rId13"/>
    <p:sldId id="272" r:id="rId14"/>
    <p:sldId id="273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1977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as a weekly research update: not a final model-selection presentation. The full controlled A/B phase details can be presented next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 that the multiple-seed stability run did happen: five repeat seeds, 630 predictions in the controlled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explains why the cleaned set is a stronger research substrate than the earlier 49-row test, even though it is smaller.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restate the last-meeting result in confusion-matrix form. The high TN/low FP pattern should not be overread as good performance because recall is weak.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context is an infrastructure and diagnostic improvement, not a magic score boost.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gives the document-level numbers the team is likely to ask for. Make clear that row counts differ because the 42-row set is cleaned/context-complete.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only detailed controlled-test result to include this week. The rest of the controlled experiment phases can be covered next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codebook-specific confusion matrix slide. State the caveat clearly: this tells us how definition wording changes model behavior, not which definition is theoretically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focus the team on the practical adjudication decision. Exact source-level numeric D1/D2 rescoring for all documents should follow after human definition-specific labels are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team asks about reliability: frame as review triage/production pilot, not an accuracy benchmark, because no human gold labels were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that repeated seeds were actually run. Emphasize that this is not the full controlled experiment report; it is a reproducibility update.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explain how majority vote and disagreement are operationalized.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summary slide for the meeting: the work is more defensible, but the next step is adjudication rather than another broad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3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24A"/>
          </a:solidFill>
          <a:ln w="12700">
            <a:solidFill>
              <a:srgbClr val="1832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308592" y="0"/>
            <a:ext cx="2880360" cy="6858000"/>
          </a:xfrm>
          <a:prstGeom prst="rect">
            <a:avLst/>
          </a:prstGeom>
          <a:solidFill>
            <a:srgbClr val="1E8A8A">
              <a:alpha val="80000"/>
            </a:srgbClr>
          </a:solidFill>
          <a:ln w="12700">
            <a:solidFill>
              <a:srgbClr val="1E8A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287000" y="0"/>
            <a:ext cx="1901952" cy="6858000"/>
          </a:xfrm>
          <a:prstGeom prst="rect">
            <a:avLst/>
          </a:prstGeom>
          <a:solidFill>
            <a:srgbClr val="D86F45">
              <a:alpha val="70000"/>
            </a:srgbClr>
          </a:solidFill>
          <a:ln w="12700">
            <a:solidFill>
              <a:srgbClr val="D86F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5852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D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UNLEARNING PROJECT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1225296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Weekly team update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85800" y="23957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FD1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Cleaned benchmark • local context • codebook comparison • consensus metrics • production pilot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2971800"/>
            <a:ext cx="1645920" cy="0"/>
          </a:xfrm>
          <a:prstGeom prst="line">
            <a:avLst/>
          </a:prstGeom>
          <a:noFill/>
          <a:ln w="38100">
            <a:solidFill>
              <a:srgbClr val="D86F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3255264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week’s focus: what changed since the 49-label EPA error diagnostic, and what needs team adjudication next.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13232" y="607161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D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 since last meeting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Last meeting centered on the 49-label mixed benchmark and the EPA failure mode.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325880" cy="0"/>
          </a:xfrm>
          <a:prstGeom prst="line">
            <a:avLst/>
          </a:prstGeom>
          <a:noFill/>
          <a:ln w="28575">
            <a:solidFill>
              <a:srgbClr val="1E8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76656" y="141732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D86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LAST TIME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658368" y="1627632"/>
            <a:ext cx="4526280" cy="1444752"/>
          </a:xfrm>
          <a:prstGeom prst="roundRect">
            <a:avLst>
              <a:gd name="adj" fmla="val 4430"/>
            </a:avLst>
          </a:prstGeom>
          <a:solidFill>
            <a:srgbClr val="FFFFFF"/>
          </a:solidFill>
          <a:ln w="9525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8368" y="1627632"/>
            <a:ext cx="64008" cy="1444752"/>
          </a:xfrm>
          <a:prstGeom prst="rect">
            <a:avLst/>
          </a:prstGeom>
          <a:solidFill>
            <a:srgbClr val="D86F45"/>
          </a:solidFill>
          <a:ln w="12700">
            <a:solidFill>
              <a:srgbClr val="D86F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59536" y="17647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8324A"/>
                </a:solidFill>
              </a:rPr>
              <a:t>49-label mixed benchmark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859536" y="2103120"/>
            <a:ext cx="420624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54606A"/>
                </a:solidFill>
              </a:rPr>
              <a:t>We had 49 human-coded passages (39 Yes / 10 No) and saw a strong false-negative pattern in the EPA document.</a:t>
            </a:r>
            <a:endParaRPr lang="en-US" sz="1010" dirty="0"/>
          </a:p>
        </p:txBody>
      </p:sp>
      <p:sp>
        <p:nvSpPr>
          <p:cNvPr id="11" name="Shape 9"/>
          <p:cNvSpPr/>
          <p:nvPr/>
        </p:nvSpPr>
        <p:spPr>
          <a:xfrm>
            <a:off x="658368" y="3273552"/>
            <a:ext cx="45262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58368" y="3273552"/>
            <a:ext cx="64008" cy="1280160"/>
          </a:xfrm>
          <a:prstGeom prst="rect">
            <a:avLst/>
          </a:prstGeom>
          <a:solidFill>
            <a:srgbClr val="D86F45"/>
          </a:solidFill>
          <a:ln w="12700">
            <a:solidFill>
              <a:srgbClr val="D86F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59536" y="341071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8324A"/>
                </a:solidFill>
              </a:rPr>
              <a:t>Core concern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859536" y="3749040"/>
            <a:ext cx="42062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54606A"/>
                </a:solidFill>
              </a:rPr>
              <a:t>EPA was not a random error case: it exposed a boundary between “learning,” “resources,” and organizational unlearning.</a:t>
            </a:r>
            <a:endParaRPr lang="en-US" sz="1010" dirty="0"/>
          </a:p>
        </p:txBody>
      </p:sp>
      <p:sp>
        <p:nvSpPr>
          <p:cNvPr id="15" name="Text 13"/>
          <p:cNvSpPr/>
          <p:nvPr/>
        </p:nvSpPr>
        <p:spPr>
          <a:xfrm>
            <a:off x="6446520" y="141732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D86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WEEK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6446520" y="1627632"/>
            <a:ext cx="4663440" cy="1152144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46520" y="1627632"/>
            <a:ext cx="64008" cy="1152144"/>
          </a:xfrm>
          <a:prstGeom prst="rect">
            <a:avLst/>
          </a:prstGeom>
          <a:solidFill>
            <a:srgbClr val="1E8A8A"/>
          </a:solidFill>
          <a:ln w="12700">
            <a:solidFill>
              <a:srgbClr val="1E8A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47688" y="176479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8324A"/>
                </a:solidFill>
              </a:rPr>
              <a:t>Cleaner research substrate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6647688" y="2103120"/>
            <a:ext cx="4343400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54606A"/>
                </a:solidFill>
              </a:rPr>
              <a:t>Reduced to a context-complete 42-row benchmark, added row-level provenance, and isolated leakage/duplicate risks.</a:t>
            </a:r>
            <a:endParaRPr lang="en-US" sz="1010" dirty="0"/>
          </a:p>
        </p:txBody>
      </p:sp>
      <p:sp>
        <p:nvSpPr>
          <p:cNvPr id="20" name="Shape 18"/>
          <p:cNvSpPr/>
          <p:nvPr/>
        </p:nvSpPr>
        <p:spPr>
          <a:xfrm>
            <a:off x="6446520" y="2944368"/>
            <a:ext cx="4663440" cy="1316736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9525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46520" y="2944368"/>
            <a:ext cx="64008" cy="1316736"/>
          </a:xfrm>
          <a:prstGeom prst="rect">
            <a:avLst/>
          </a:prstGeom>
          <a:solidFill>
            <a:srgbClr val="1E8A8A"/>
          </a:solidFill>
          <a:ln w="12700">
            <a:solidFill>
              <a:srgbClr val="1E8A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647688" y="3081528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8324A"/>
                </a:solidFill>
              </a:rPr>
              <a:t>Better diagnostics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6647688" y="3419856"/>
            <a:ext cx="4343400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54606A"/>
                </a:solidFill>
              </a:rPr>
              <a:t>Added model agreement, majority/tiered review, evidence validation, repeat stability, and a production pilot on a new document.</a:t>
            </a:r>
            <a:endParaRPr lang="en-US" sz="1010" dirty="0"/>
          </a:p>
        </p:txBody>
      </p:sp>
      <p:sp>
        <p:nvSpPr>
          <p:cNvPr id="24" name="Shape 22"/>
          <p:cNvSpPr/>
          <p:nvPr/>
        </p:nvSpPr>
        <p:spPr>
          <a:xfrm>
            <a:off x="5349240" y="2834640"/>
            <a:ext cx="841248" cy="0"/>
          </a:xfrm>
          <a:prstGeom prst="line">
            <a:avLst/>
          </a:prstGeom>
          <a:noFill/>
          <a:ln w="38100">
            <a:solidFill>
              <a:srgbClr val="1E8A8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86384" y="51663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86F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49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86384" y="56052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4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 mixed-label rows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816352" y="51663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8A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2816352" y="560527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4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cleaned context-complete rows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720840" y="51663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720840" y="560527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4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providers kept throughout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732520" y="51663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8732520" y="56052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4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seeds completed for stability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2920" y="65653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Unlearning Project • Weekly update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201400" y="65471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Benchmark cleanup: from 49 labels to 42 usable test rows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was a defensible, reproducible benchmark.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325880" cy="0"/>
          </a:xfrm>
          <a:prstGeom prst="line">
            <a:avLst/>
          </a:prstGeom>
          <a:noFill/>
          <a:ln w="28575">
            <a:solidFill>
              <a:srgbClr val="1E8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2057400" cy="1024128"/>
          </a:xfrm>
          <a:prstGeom prst="rect">
            <a:avLst/>
          </a:prstGeom>
          <a:solidFill>
            <a:srgbClr val="D86F45"/>
          </a:solidFill>
          <a:ln>
            <a:solidFill>
              <a:srgbClr val="D86F45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49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labels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mixed benchmark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834640" y="2331720"/>
            <a:ext cx="256032" cy="0"/>
          </a:xfrm>
          <a:prstGeom prst="line">
            <a:avLst/>
          </a:prstGeom>
          <a:noFill/>
          <a:ln w="12700">
            <a:solidFill>
              <a:srgbClr val="54606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154680" y="1828800"/>
            <a:ext cx="2057400" cy="1024128"/>
          </a:xfrm>
          <a:prstGeom prst="rect">
            <a:avLst/>
          </a:prstGeom>
          <a:solidFill>
            <a:srgbClr val="CBA552"/>
          </a:solidFill>
          <a:ln>
            <a:solidFill>
              <a:srgbClr val="CBA552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cleaning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duplicates + leakage risk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03520" y="2331720"/>
            <a:ext cx="256032" cy="0"/>
          </a:xfrm>
          <a:prstGeom prst="line">
            <a:avLst/>
          </a:prstGeom>
          <a:noFill/>
          <a:ln w="12700">
            <a:solidFill>
              <a:srgbClr val="54606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23560" y="1828800"/>
            <a:ext cx="2057400" cy="1024128"/>
          </a:xfrm>
          <a:prstGeom prst="rect">
            <a:avLst/>
          </a:prstGeom>
          <a:solidFill>
            <a:srgbClr val="1E8A8A"/>
          </a:solidFill>
          <a:ln>
            <a:solidFill>
              <a:srgbClr val="1E8A8A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rows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context-complete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772400" y="2331720"/>
            <a:ext cx="256032" cy="0"/>
          </a:xfrm>
          <a:prstGeom prst="line">
            <a:avLst/>
          </a:prstGeom>
          <a:noFill/>
          <a:ln w="12700">
            <a:solidFill>
              <a:srgbClr val="54606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92440" y="1828800"/>
            <a:ext cx="2057400" cy="1024128"/>
          </a:xfrm>
          <a:prstGeom prst="rect">
            <a:avLst/>
          </a:prstGeom>
          <a:solidFill>
            <a:srgbClr val="18324A"/>
          </a:solidFill>
          <a:ln>
            <a:solidFill>
              <a:srgbClr val="18324A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 Yes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 No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frozen class balance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37307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D86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WAS REMOVED / CONTROLLED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804672" y="4041648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8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Parent-child / near-duplicate passages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8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Passages with codebook/example overlap to avoid leakage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6446520" y="373075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D86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WAS ADDED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6437376" y="4041648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8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Stable paragraph IDs and document heading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8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Target paragraph + title/section + neighboring paragraph fields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8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Seeds, Hashes, run logs, and checkpoints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502920" y="65653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Unlearning Project • Weekly update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201400" y="65471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384048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Prior 49-row benchmark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832104"/>
            <a:ext cx="10515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mixed-label benchmark as last meeting: 39 Yes and 10 No passages, definitions-only prompt.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B1F3A"/>
                </a:solidFill>
              </a:rPr>
              <a:t>Claude Sonnet 5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685800" y="168249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5E6673"/>
                </a:solidFill>
              </a:rPr>
              <a:t>N=49 · current definitions only</a:t>
            </a:r>
            <a:endParaRPr lang="en-US" sz="1040" dirty="0"/>
          </a:p>
        </p:txBody>
      </p:sp>
      <p:sp>
        <p:nvSpPr>
          <p:cNvPr id="7" name="Text 5"/>
          <p:cNvSpPr/>
          <p:nvPr/>
        </p:nvSpPr>
        <p:spPr>
          <a:xfrm>
            <a:off x="1161288" y="2130552"/>
            <a:ext cx="13761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E6673"/>
                </a:solidFill>
              </a:rPr>
              <a:t>Pred No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592324" y="2130552"/>
            <a:ext cx="13761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E6673"/>
                </a:solidFill>
              </a:rPr>
              <a:t>Pred Yes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 rot="16200000">
            <a:off x="685800" y="2706624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5E6673"/>
                </a:solidFill>
              </a:rPr>
              <a:t>Actual No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 rot="16200000">
            <a:off x="685800" y="371475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5E6673"/>
                </a:solidFill>
              </a:rPr>
              <a:t>Actual Yes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161288" y="2377440"/>
            <a:ext cx="1376172" cy="1028700"/>
          </a:xfrm>
          <a:prstGeom prst="roundRect">
            <a:avLst>
              <a:gd name="adj" fmla="val 5333"/>
            </a:avLst>
          </a:prstGeom>
          <a:solidFill>
            <a:srgbClr val="E8F5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97864" y="2468880"/>
            <a:ext cx="1303020" cy="8823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TN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10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592324" y="2377440"/>
            <a:ext cx="1376172" cy="1028700"/>
          </a:xfrm>
          <a:prstGeom prst="roundRect">
            <a:avLst>
              <a:gd name="adj" fmla="val 5333"/>
            </a:avLst>
          </a:prstGeom>
          <a:solidFill>
            <a:srgbClr val="FEEFE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28900" y="2468880"/>
            <a:ext cx="1303020" cy="8823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FP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61288" y="3461004"/>
            <a:ext cx="1376172" cy="1028700"/>
          </a:xfrm>
          <a:prstGeom prst="roundRect">
            <a:avLst>
              <a:gd name="adj" fmla="val 5333"/>
            </a:avLst>
          </a:prstGeom>
          <a:solidFill>
            <a:srgbClr val="FFF2E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97864" y="3552444"/>
            <a:ext cx="1303020" cy="8823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FN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25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592324" y="3461004"/>
            <a:ext cx="1376172" cy="1028700"/>
          </a:xfrm>
          <a:prstGeom prst="roundRect">
            <a:avLst>
              <a:gd name="adj" fmla="val 5333"/>
            </a:avLst>
          </a:prstGeom>
          <a:solidFill>
            <a:srgbClr val="EAF2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628900" y="3552444"/>
            <a:ext cx="1303020" cy="8823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TP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14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61288" y="459943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D5BD0"/>
                </a:solidFill>
              </a:rPr>
              <a:t>Acc 49.0% · F1 52.8%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434840" y="141732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B1F3A"/>
                </a:solidFill>
              </a:rPr>
              <a:t>Gemini 3.1 Flash Lite</a:t>
            </a:r>
            <a:endParaRPr lang="en-US" sz="1420" dirty="0"/>
          </a:p>
        </p:txBody>
      </p:sp>
      <p:sp>
        <p:nvSpPr>
          <p:cNvPr id="21" name="Text 19"/>
          <p:cNvSpPr/>
          <p:nvPr/>
        </p:nvSpPr>
        <p:spPr>
          <a:xfrm>
            <a:off x="4434840" y="168249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5E6673"/>
                </a:solidFill>
              </a:rPr>
              <a:t>N=49 · current definitions only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4910328" y="2130552"/>
            <a:ext cx="13761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E6673"/>
                </a:solidFill>
              </a:rPr>
              <a:t>Pred No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41364" y="2130552"/>
            <a:ext cx="13761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E6673"/>
                </a:solidFill>
              </a:rPr>
              <a:t>Pred Yes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 rot="16200000">
            <a:off x="4434840" y="2706624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5E6673"/>
                </a:solidFill>
              </a:rPr>
              <a:t>Actual No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 rot="16200000">
            <a:off x="4434840" y="371475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5E6673"/>
                </a:solidFill>
              </a:rPr>
              <a:t>Actual Yes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910328" y="2377440"/>
            <a:ext cx="1376172" cy="1028700"/>
          </a:xfrm>
          <a:prstGeom prst="roundRect">
            <a:avLst>
              <a:gd name="adj" fmla="val 5333"/>
            </a:avLst>
          </a:prstGeom>
          <a:solidFill>
            <a:srgbClr val="E8F5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46904" y="2468880"/>
            <a:ext cx="1303020" cy="8823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TN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9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41364" y="2377440"/>
            <a:ext cx="1376172" cy="1028700"/>
          </a:xfrm>
          <a:prstGeom prst="roundRect">
            <a:avLst>
              <a:gd name="adj" fmla="val 5333"/>
            </a:avLst>
          </a:prstGeom>
          <a:solidFill>
            <a:srgbClr val="FEEFE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377940" y="2468880"/>
            <a:ext cx="1303020" cy="8823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FP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1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910328" y="3461004"/>
            <a:ext cx="1376172" cy="1028700"/>
          </a:xfrm>
          <a:prstGeom prst="roundRect">
            <a:avLst>
              <a:gd name="adj" fmla="val 5333"/>
            </a:avLst>
          </a:prstGeom>
          <a:solidFill>
            <a:srgbClr val="FFF2E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46904" y="3552444"/>
            <a:ext cx="1303020" cy="8823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FN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21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41364" y="3461004"/>
            <a:ext cx="1376172" cy="1028700"/>
          </a:xfrm>
          <a:prstGeom prst="roundRect">
            <a:avLst>
              <a:gd name="adj" fmla="val 5333"/>
            </a:avLst>
          </a:prstGeom>
          <a:solidFill>
            <a:srgbClr val="EAF2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377940" y="3552444"/>
            <a:ext cx="1303020" cy="8823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TP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18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910328" y="459943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7D32"/>
                </a:solidFill>
              </a:rPr>
              <a:t>Acc 55.1% · F1 62.1%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83880" y="141732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B1F3A"/>
                </a:solidFill>
              </a:rPr>
              <a:t>GPT-5.6 Terra</a:t>
            </a:r>
            <a:endParaRPr lang="en-US" sz="1420" dirty="0"/>
          </a:p>
        </p:txBody>
      </p:sp>
      <p:sp>
        <p:nvSpPr>
          <p:cNvPr id="36" name="Text 34"/>
          <p:cNvSpPr/>
          <p:nvPr/>
        </p:nvSpPr>
        <p:spPr>
          <a:xfrm>
            <a:off x="8183880" y="168249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5E6673"/>
                </a:solidFill>
              </a:rPr>
              <a:t>N=49 · current definitions only</a:t>
            </a:r>
            <a:endParaRPr lang="en-US" sz="1040" dirty="0"/>
          </a:p>
        </p:txBody>
      </p:sp>
      <p:sp>
        <p:nvSpPr>
          <p:cNvPr id="37" name="Text 35"/>
          <p:cNvSpPr/>
          <p:nvPr/>
        </p:nvSpPr>
        <p:spPr>
          <a:xfrm>
            <a:off x="8659368" y="2130552"/>
            <a:ext cx="13761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E6673"/>
                </a:solidFill>
              </a:rPr>
              <a:t>Pred No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090404" y="2130552"/>
            <a:ext cx="13761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E6673"/>
                </a:solidFill>
              </a:rPr>
              <a:t>Pred Yes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 rot="16200000">
            <a:off x="8183880" y="2706624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5E6673"/>
                </a:solidFill>
              </a:rPr>
              <a:t>Actual No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 rot="16200000">
            <a:off x="8183880" y="371475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5E6673"/>
                </a:solidFill>
              </a:rPr>
              <a:t>Actual Yes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659368" y="2377440"/>
            <a:ext cx="1376172" cy="1028700"/>
          </a:xfrm>
          <a:prstGeom prst="roundRect">
            <a:avLst>
              <a:gd name="adj" fmla="val 5333"/>
            </a:avLst>
          </a:prstGeom>
          <a:solidFill>
            <a:srgbClr val="E8F5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695944" y="2468880"/>
            <a:ext cx="1303020" cy="8823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TN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10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0090404" y="2377440"/>
            <a:ext cx="1376172" cy="1028700"/>
          </a:xfrm>
          <a:prstGeom prst="roundRect">
            <a:avLst>
              <a:gd name="adj" fmla="val 5333"/>
            </a:avLst>
          </a:prstGeom>
          <a:solidFill>
            <a:srgbClr val="FEEFE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0126980" y="2468880"/>
            <a:ext cx="1303020" cy="8823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FP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0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659368" y="3461004"/>
            <a:ext cx="1376172" cy="1028700"/>
          </a:xfrm>
          <a:prstGeom prst="roundRect">
            <a:avLst>
              <a:gd name="adj" fmla="val 5333"/>
            </a:avLst>
          </a:prstGeom>
          <a:solidFill>
            <a:srgbClr val="FFF2E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695944" y="3552444"/>
            <a:ext cx="1303020" cy="8823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FN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30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0090404" y="3461004"/>
            <a:ext cx="1376172" cy="1028700"/>
          </a:xfrm>
          <a:prstGeom prst="roundRect">
            <a:avLst>
              <a:gd name="adj" fmla="val 5333"/>
            </a:avLst>
          </a:prstGeom>
          <a:solidFill>
            <a:srgbClr val="EAF2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0126980" y="3552444"/>
            <a:ext cx="1303020" cy="8823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TP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9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659368" y="459943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6FED"/>
                </a:solidFill>
              </a:rPr>
              <a:t>Acc 38.8% · F1 37.5%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68680" y="5074920"/>
            <a:ext cx="10652760" cy="640080"/>
          </a:xfrm>
          <a:prstGeom prst="roundRect">
            <a:avLst>
              <a:gd name="adj" fmla="val 11429"/>
            </a:avLst>
          </a:prstGeom>
          <a:solidFill>
            <a:srgbClr val="FFF2E5"/>
          </a:solidFill>
          <a:ln w="12700">
            <a:solidFill>
              <a:srgbClr val="FFF2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868680" y="5074920"/>
            <a:ext cx="73152" cy="640080"/>
          </a:xfrm>
          <a:prstGeom prst="rect">
            <a:avLst/>
          </a:prstGeom>
          <a:solidFill>
            <a:srgbClr val="E8842A"/>
          </a:solidFill>
          <a:ln w="12700">
            <a:solidFill>
              <a:srgbClr val="E88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069848" y="5202936"/>
            <a:ext cx="10332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Reading the old benchmark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1069848" y="5513832"/>
            <a:ext cx="1030528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</a:rPr>
              <a:t>The main weakness was false negatives: models usually avoided false positives but missed many historical Yes labels, especially in the EPA document.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48640" y="6437376"/>
            <a:ext cx="8961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49-row definitions-only benchmark; shared-provider subset shown for comparison with local-context run.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1147572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E6673"/>
                </a:solidFill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384048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Local-context run: clean set, same EPA boundary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832104"/>
            <a:ext cx="10515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 context-complete rows after removing duplicate/leakage concerns: 32 Yes and 10 No.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B1F3A"/>
                </a:solidFill>
              </a:rPr>
              <a:t>Claude Sonnet 5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685800" y="168249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5E6673"/>
                </a:solidFill>
              </a:rPr>
              <a:t>N=42 · ±2 local context</a:t>
            </a:r>
            <a:endParaRPr lang="en-US" sz="1040" dirty="0"/>
          </a:p>
        </p:txBody>
      </p:sp>
      <p:sp>
        <p:nvSpPr>
          <p:cNvPr id="7" name="Text 5"/>
          <p:cNvSpPr/>
          <p:nvPr/>
        </p:nvSpPr>
        <p:spPr>
          <a:xfrm>
            <a:off x="1161288" y="2130552"/>
            <a:ext cx="13761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E6673"/>
                </a:solidFill>
              </a:rPr>
              <a:t>Pred No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592324" y="2130552"/>
            <a:ext cx="13761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E6673"/>
                </a:solidFill>
              </a:rPr>
              <a:t>Pred Yes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 rot="16200000">
            <a:off x="685800" y="2706624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5E6673"/>
                </a:solidFill>
              </a:rPr>
              <a:t>Actual No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 rot="16200000">
            <a:off x="685800" y="371475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5E6673"/>
                </a:solidFill>
              </a:rPr>
              <a:t>Actual Yes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161288" y="2377440"/>
            <a:ext cx="1376172" cy="1028700"/>
          </a:xfrm>
          <a:prstGeom prst="roundRect">
            <a:avLst>
              <a:gd name="adj" fmla="val 5333"/>
            </a:avLst>
          </a:prstGeom>
          <a:solidFill>
            <a:srgbClr val="E8F5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97864" y="2468880"/>
            <a:ext cx="1303020" cy="8823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TN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10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592324" y="2377440"/>
            <a:ext cx="1376172" cy="1028700"/>
          </a:xfrm>
          <a:prstGeom prst="roundRect">
            <a:avLst>
              <a:gd name="adj" fmla="val 5333"/>
            </a:avLst>
          </a:prstGeom>
          <a:solidFill>
            <a:srgbClr val="FEEFE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28900" y="2468880"/>
            <a:ext cx="1303020" cy="8823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FP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61288" y="3461004"/>
            <a:ext cx="1376172" cy="1028700"/>
          </a:xfrm>
          <a:prstGeom prst="roundRect">
            <a:avLst>
              <a:gd name="adj" fmla="val 5333"/>
            </a:avLst>
          </a:prstGeom>
          <a:solidFill>
            <a:srgbClr val="FFF2E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97864" y="3552444"/>
            <a:ext cx="1303020" cy="8823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FN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23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592324" y="3461004"/>
            <a:ext cx="1376172" cy="1028700"/>
          </a:xfrm>
          <a:prstGeom prst="roundRect">
            <a:avLst>
              <a:gd name="adj" fmla="val 5333"/>
            </a:avLst>
          </a:prstGeom>
          <a:solidFill>
            <a:srgbClr val="EAF2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628900" y="3552444"/>
            <a:ext cx="1303020" cy="8823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TP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9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61288" y="459943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D5BD0"/>
                </a:solidFill>
              </a:rPr>
              <a:t>Acc 45.2% · F1 43.9%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434840" y="141732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B1F3A"/>
                </a:solidFill>
              </a:rPr>
              <a:t>Gemini 3.1 Flash Lite</a:t>
            </a:r>
            <a:endParaRPr lang="en-US" sz="1420" dirty="0"/>
          </a:p>
        </p:txBody>
      </p:sp>
      <p:sp>
        <p:nvSpPr>
          <p:cNvPr id="21" name="Text 19"/>
          <p:cNvSpPr/>
          <p:nvPr/>
        </p:nvSpPr>
        <p:spPr>
          <a:xfrm>
            <a:off x="4434840" y="168249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5E6673"/>
                </a:solidFill>
              </a:rPr>
              <a:t>N=42 · ±2 local context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4910328" y="2130552"/>
            <a:ext cx="13761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E6673"/>
                </a:solidFill>
              </a:rPr>
              <a:t>Pred No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41364" y="2130552"/>
            <a:ext cx="13761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E6673"/>
                </a:solidFill>
              </a:rPr>
              <a:t>Pred Yes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 rot="16200000">
            <a:off x="4434840" y="2706624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5E6673"/>
                </a:solidFill>
              </a:rPr>
              <a:t>Actual No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 rot="16200000">
            <a:off x="4434840" y="371475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5E6673"/>
                </a:solidFill>
              </a:rPr>
              <a:t>Actual Yes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910328" y="2377440"/>
            <a:ext cx="1376172" cy="1028700"/>
          </a:xfrm>
          <a:prstGeom prst="roundRect">
            <a:avLst>
              <a:gd name="adj" fmla="val 5333"/>
            </a:avLst>
          </a:prstGeom>
          <a:solidFill>
            <a:srgbClr val="E8F5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46904" y="2468880"/>
            <a:ext cx="1303020" cy="8823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TN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9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41364" y="2377440"/>
            <a:ext cx="1376172" cy="1028700"/>
          </a:xfrm>
          <a:prstGeom prst="roundRect">
            <a:avLst>
              <a:gd name="adj" fmla="val 5333"/>
            </a:avLst>
          </a:prstGeom>
          <a:solidFill>
            <a:srgbClr val="FEEFE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377940" y="2468880"/>
            <a:ext cx="1303020" cy="8823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FP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1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910328" y="3461004"/>
            <a:ext cx="1376172" cy="1028700"/>
          </a:xfrm>
          <a:prstGeom prst="roundRect">
            <a:avLst>
              <a:gd name="adj" fmla="val 5333"/>
            </a:avLst>
          </a:prstGeom>
          <a:solidFill>
            <a:srgbClr val="FFF2E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46904" y="3552444"/>
            <a:ext cx="1303020" cy="8823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FN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18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41364" y="3461004"/>
            <a:ext cx="1376172" cy="1028700"/>
          </a:xfrm>
          <a:prstGeom prst="roundRect">
            <a:avLst>
              <a:gd name="adj" fmla="val 5333"/>
            </a:avLst>
          </a:prstGeom>
          <a:solidFill>
            <a:srgbClr val="EAF2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377940" y="3552444"/>
            <a:ext cx="1303020" cy="8823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TP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14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910328" y="459943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7D32"/>
                </a:solidFill>
              </a:rPr>
              <a:t>Acc 54.8% · F1 59.6%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83880" y="141732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B1F3A"/>
                </a:solidFill>
              </a:rPr>
              <a:t>GPT-5.6 Terra</a:t>
            </a:r>
            <a:endParaRPr lang="en-US" sz="1420" dirty="0"/>
          </a:p>
        </p:txBody>
      </p:sp>
      <p:sp>
        <p:nvSpPr>
          <p:cNvPr id="36" name="Text 34"/>
          <p:cNvSpPr/>
          <p:nvPr/>
        </p:nvSpPr>
        <p:spPr>
          <a:xfrm>
            <a:off x="8183880" y="168249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5E6673"/>
                </a:solidFill>
              </a:rPr>
              <a:t>N=42 · ±2 local context</a:t>
            </a:r>
            <a:endParaRPr lang="en-US" sz="1040" dirty="0"/>
          </a:p>
        </p:txBody>
      </p:sp>
      <p:sp>
        <p:nvSpPr>
          <p:cNvPr id="37" name="Text 35"/>
          <p:cNvSpPr/>
          <p:nvPr/>
        </p:nvSpPr>
        <p:spPr>
          <a:xfrm>
            <a:off x="8659368" y="2130552"/>
            <a:ext cx="13761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E6673"/>
                </a:solidFill>
              </a:rPr>
              <a:t>Pred No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090404" y="2130552"/>
            <a:ext cx="13761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E6673"/>
                </a:solidFill>
              </a:rPr>
              <a:t>Pred Yes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 rot="16200000">
            <a:off x="8183880" y="2706624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5E6673"/>
                </a:solidFill>
              </a:rPr>
              <a:t>Actual No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 rot="16200000">
            <a:off x="8183880" y="371475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5E6673"/>
                </a:solidFill>
              </a:rPr>
              <a:t>Actual Yes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659368" y="2377440"/>
            <a:ext cx="1376172" cy="1028700"/>
          </a:xfrm>
          <a:prstGeom prst="roundRect">
            <a:avLst>
              <a:gd name="adj" fmla="val 5333"/>
            </a:avLst>
          </a:prstGeom>
          <a:solidFill>
            <a:srgbClr val="E8F5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695944" y="2468880"/>
            <a:ext cx="1303020" cy="8823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TN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10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0090404" y="2377440"/>
            <a:ext cx="1376172" cy="1028700"/>
          </a:xfrm>
          <a:prstGeom prst="roundRect">
            <a:avLst>
              <a:gd name="adj" fmla="val 5333"/>
            </a:avLst>
          </a:prstGeom>
          <a:solidFill>
            <a:srgbClr val="FEEFE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0126980" y="2468880"/>
            <a:ext cx="1303020" cy="8823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FP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0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659368" y="3461004"/>
            <a:ext cx="1376172" cy="1028700"/>
          </a:xfrm>
          <a:prstGeom prst="roundRect">
            <a:avLst>
              <a:gd name="adj" fmla="val 5333"/>
            </a:avLst>
          </a:prstGeom>
          <a:solidFill>
            <a:srgbClr val="FFF2E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695944" y="3552444"/>
            <a:ext cx="1303020" cy="8823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FN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25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0090404" y="3461004"/>
            <a:ext cx="1376172" cy="1028700"/>
          </a:xfrm>
          <a:prstGeom prst="roundRect">
            <a:avLst>
              <a:gd name="adj" fmla="val 5333"/>
            </a:avLst>
          </a:prstGeom>
          <a:solidFill>
            <a:srgbClr val="EAF2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0126980" y="3552444"/>
            <a:ext cx="1303020" cy="8823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TP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7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659368" y="459943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6FED"/>
                </a:solidFill>
              </a:rPr>
              <a:t>Acc 40.5% · F1 35.9%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68680" y="5074920"/>
            <a:ext cx="10652760" cy="640080"/>
          </a:xfrm>
          <a:prstGeom prst="roundRect">
            <a:avLst>
              <a:gd name="adj" fmla="val 114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868680" y="5074920"/>
            <a:ext cx="73152" cy="64008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069848" y="5202936"/>
            <a:ext cx="10332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Interpretation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1069848" y="5513832"/>
            <a:ext cx="1030528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Local context improved auditability and made model reasoning easier to inspect, but it did not by itself resolve the label/codebook mismatch.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48640" y="6437376"/>
            <a:ext cx="8961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42-row local-context benchmark; same three providers shown as prior slide.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1147572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E6673"/>
                </a:solidFill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384048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Document Recall: EPA remains hardest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832104"/>
            <a:ext cx="10515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uses the same three providers available in both the 49-row benchmark and the 42-row local-context run.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5349240" cy="0"/>
          </a:xfrm>
          <a:prstGeom prst="line">
            <a:avLst/>
          </a:prstGeom>
          <a:noFill/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1463040"/>
            <a:ext cx="175564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B1F3A"/>
                </a:solidFill>
              </a:rPr>
              <a:t>Prior 49-row benchmark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2542032" y="1463040"/>
            <a:ext cx="102412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B1F3A"/>
                </a:solidFill>
              </a:rPr>
              <a:t>Claude Sonnet 5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3639312" y="1463040"/>
            <a:ext cx="125272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B1F3A"/>
                </a:solidFill>
              </a:rPr>
              <a:t>Gemini 3.1 Flash Lite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4965192" y="1463040"/>
            <a:ext cx="102412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B1F3A"/>
                </a:solidFill>
              </a:rPr>
              <a:t>GPT-5.6 Terra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85800" y="2000250"/>
            <a:ext cx="5349240" cy="0"/>
          </a:xfrm>
          <a:prstGeom prst="line">
            <a:avLst/>
          </a:prstGeom>
          <a:noFill/>
          <a:ln w="1524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3232" y="2045970"/>
            <a:ext cx="175564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EPA lessons learned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2542032" y="2045970"/>
            <a:ext cx="102412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0/20 · 0%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3639312" y="2045970"/>
            <a:ext cx="125272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2/20 · 10%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4965192" y="2045970"/>
            <a:ext cx="102412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0/20 · 0%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685800" y="2583180"/>
            <a:ext cx="534924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3232" y="2628900"/>
            <a:ext cx="175564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GAO observations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2542032" y="2628900"/>
            <a:ext cx="102412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6/10 · 60%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3639312" y="2628900"/>
            <a:ext cx="125272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7/10 · 70%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4965192" y="2628900"/>
            <a:ext cx="102412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5/10 · 50%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85800" y="3166110"/>
            <a:ext cx="534924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3232" y="3211830"/>
            <a:ext cx="175564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Post-Katrina preparedness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2542032" y="3211830"/>
            <a:ext cx="102412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8/9 · 88.9%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3639312" y="3211830"/>
            <a:ext cx="125272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9/9 · 100%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4965192" y="3211830"/>
            <a:ext cx="102412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4/9 · 44.4%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685800" y="3749040"/>
            <a:ext cx="534924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263640" y="1417320"/>
            <a:ext cx="5257800" cy="0"/>
          </a:xfrm>
          <a:prstGeom prst="line">
            <a:avLst/>
          </a:prstGeom>
          <a:noFill/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91072" y="1463040"/>
            <a:ext cx="170992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B1F3A"/>
                </a:solidFill>
              </a:rPr>
              <a:t>Local-context 42-row run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8074152" y="1463040"/>
            <a:ext cx="102412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B1F3A"/>
                </a:solidFill>
              </a:rPr>
              <a:t>Claude Sonnet 5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9171432" y="1463040"/>
            <a:ext cx="120700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B1F3A"/>
                </a:solidFill>
              </a:rPr>
              <a:t>Gemini 3.1 Flash Lite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10451592" y="1463040"/>
            <a:ext cx="97840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B1F3A"/>
                </a:solidFill>
              </a:rPr>
              <a:t>GPT-5.6 Terra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6263640" y="2000250"/>
            <a:ext cx="5257800" cy="0"/>
          </a:xfrm>
          <a:prstGeom prst="line">
            <a:avLst/>
          </a:prstGeom>
          <a:noFill/>
          <a:ln w="1524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91072" y="2045970"/>
            <a:ext cx="170992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EPA lessons learned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8074152" y="2045970"/>
            <a:ext cx="102412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0/16 · 0%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9171432" y="2045970"/>
            <a:ext cx="120700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0/16 · 0%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10451592" y="2045970"/>
            <a:ext cx="97840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0/16 · 0%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6263640" y="2583180"/>
            <a:ext cx="525780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291072" y="2628900"/>
            <a:ext cx="170992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GAO observations</a:t>
            </a:r>
            <a:endParaRPr lang="en-US" sz="1020" dirty="0"/>
          </a:p>
        </p:txBody>
      </p:sp>
      <p:sp>
        <p:nvSpPr>
          <p:cNvPr id="38" name="Text 36"/>
          <p:cNvSpPr/>
          <p:nvPr/>
        </p:nvSpPr>
        <p:spPr>
          <a:xfrm>
            <a:off x="8074152" y="2628900"/>
            <a:ext cx="102412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5/10 · 50%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9171432" y="2628900"/>
            <a:ext cx="120700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8/10 · 80%</a:t>
            </a:r>
            <a:endParaRPr lang="en-US" sz="1020" dirty="0"/>
          </a:p>
        </p:txBody>
      </p:sp>
      <p:sp>
        <p:nvSpPr>
          <p:cNvPr id="40" name="Text 38"/>
          <p:cNvSpPr/>
          <p:nvPr/>
        </p:nvSpPr>
        <p:spPr>
          <a:xfrm>
            <a:off x="10451592" y="2628900"/>
            <a:ext cx="97840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4/10 · 40%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6263640" y="3166110"/>
            <a:ext cx="525780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291072" y="3211830"/>
            <a:ext cx="170992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Post-Katrina preparedness</a:t>
            </a:r>
            <a:endParaRPr lang="en-US" sz="1020" dirty="0"/>
          </a:p>
        </p:txBody>
      </p:sp>
      <p:sp>
        <p:nvSpPr>
          <p:cNvPr id="43" name="Text 41"/>
          <p:cNvSpPr/>
          <p:nvPr/>
        </p:nvSpPr>
        <p:spPr>
          <a:xfrm>
            <a:off x="8074152" y="3211830"/>
            <a:ext cx="102412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4/6 · 66.7%</a:t>
            </a:r>
            <a:endParaRPr lang="en-US" sz="1020" dirty="0"/>
          </a:p>
        </p:txBody>
      </p:sp>
      <p:sp>
        <p:nvSpPr>
          <p:cNvPr id="44" name="Text 42"/>
          <p:cNvSpPr/>
          <p:nvPr/>
        </p:nvSpPr>
        <p:spPr>
          <a:xfrm>
            <a:off x="9171432" y="3211830"/>
            <a:ext cx="120700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6/6 · 100%</a:t>
            </a:r>
            <a:endParaRPr lang="en-US" sz="1020" dirty="0"/>
          </a:p>
        </p:txBody>
      </p:sp>
      <p:sp>
        <p:nvSpPr>
          <p:cNvPr id="45" name="Text 43"/>
          <p:cNvSpPr/>
          <p:nvPr/>
        </p:nvSpPr>
        <p:spPr>
          <a:xfrm>
            <a:off x="10451592" y="3211830"/>
            <a:ext cx="97840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3/6 · 50%</a:t>
            </a:r>
            <a:endParaRPr lang="en-US" sz="1020" dirty="0"/>
          </a:p>
        </p:txBody>
      </p:sp>
      <p:sp>
        <p:nvSpPr>
          <p:cNvPr id="46" name="Shape 44"/>
          <p:cNvSpPr/>
          <p:nvPr/>
        </p:nvSpPr>
        <p:spPr>
          <a:xfrm>
            <a:off x="6263640" y="3749040"/>
            <a:ext cx="525780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868680" y="4160520"/>
            <a:ext cx="10561320" cy="786384"/>
          </a:xfrm>
          <a:prstGeom prst="roundRect">
            <a:avLst>
              <a:gd name="adj" fmla="val 9302"/>
            </a:avLst>
          </a:prstGeom>
          <a:solidFill>
            <a:srgbClr val="FFF2E5"/>
          </a:solidFill>
          <a:ln w="12700">
            <a:solidFill>
              <a:srgbClr val="FFF2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868680" y="4160520"/>
            <a:ext cx="73152" cy="786384"/>
          </a:xfrm>
          <a:prstGeom prst="rect">
            <a:avLst/>
          </a:prstGeom>
          <a:solidFill>
            <a:srgbClr val="E8842A"/>
          </a:solidFill>
          <a:ln w="12700">
            <a:solidFill>
              <a:srgbClr val="E88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069848" y="4288536"/>
            <a:ext cx="10241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What changed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069848" y="4599432"/>
            <a:ext cx="1021384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The cleaned local-context set is smaller and more controlled. The key pattern is stable: GAO and Post-Katrina are easier than EPA, where many positives look like adaptation, coordination, training, or capacity-building rather than explicit displacement.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68680" y="5138928"/>
            <a:ext cx="10561320" cy="640080"/>
          </a:xfrm>
          <a:prstGeom prst="roundRect">
            <a:avLst>
              <a:gd name="adj" fmla="val 11429"/>
            </a:avLst>
          </a:prstGeom>
          <a:solidFill>
            <a:srgbClr val="FEEFE9"/>
          </a:solidFill>
          <a:ln w="12700">
            <a:solidFill>
              <a:srgbClr val="FEE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868680" y="5138928"/>
            <a:ext cx="73152" cy="64008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069848" y="5266944"/>
            <a:ext cx="10241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How to explain this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069848" y="5577840"/>
            <a:ext cx="1021384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This is not random model failure. It is a document-style and definition-threshold problem: the team needs to decide whether EPA adaptation passages should count as unlearning.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48640" y="6437376"/>
            <a:ext cx="8961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Values are positive recall: TP / human-positive rows. Old N=49; local-context N=42.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1147572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E6673"/>
                </a:solidFill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384048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Old vs current codebook: matched test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832104"/>
            <a:ext cx="10515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definition wording itself changes the recall/specificity tradeoff.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1389888"/>
            <a:ext cx="6720840" cy="0"/>
          </a:xfrm>
          <a:prstGeom prst="line">
            <a:avLst/>
          </a:prstGeom>
          <a:noFill/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1435608"/>
            <a:ext cx="134416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B1F3A"/>
                </a:solidFill>
              </a:rPr>
              <a:t>Condition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2130552" y="1435608"/>
            <a:ext cx="65836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B1F3A"/>
                </a:solidFill>
              </a:rPr>
              <a:t>Recall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2862072" y="1435608"/>
            <a:ext cx="74980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B1F3A"/>
                </a:solidFill>
              </a:rPr>
              <a:t>Specificity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3685032" y="1435608"/>
            <a:ext cx="52120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B1F3A"/>
                </a:solidFill>
              </a:rPr>
              <a:t>F1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4279392" y="1435608"/>
            <a:ext cx="308152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B1F3A"/>
                </a:solidFill>
              </a:rPr>
              <a:t>Interpretation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85800" y="2048256"/>
            <a:ext cx="6720840" cy="0"/>
          </a:xfrm>
          <a:prstGeom prst="line">
            <a:avLst/>
          </a:prstGeom>
          <a:noFill/>
          <a:ln w="1524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32" y="2093976"/>
            <a:ext cx="134416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Old — simple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2130552" y="2093976"/>
            <a:ext cx="65836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54.2%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2862072" y="2093976"/>
            <a:ext cx="74980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66.7%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3685032" y="2093976"/>
            <a:ext cx="52120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65.3%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4279392" y="2093976"/>
            <a:ext cx="308152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Highest recall; more false positives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685800" y="2706624"/>
            <a:ext cx="672084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3232" y="2752344"/>
            <a:ext cx="134416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Old — checklist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2130552" y="2752344"/>
            <a:ext cx="65836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51.0%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2862072" y="2752344"/>
            <a:ext cx="74980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70.0%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3685032" y="2752344"/>
            <a:ext cx="52120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63.5%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4279392" y="2752344"/>
            <a:ext cx="308152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Slightly more conservative than old-simple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685800" y="3364992"/>
            <a:ext cx="672084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13232" y="3410712"/>
            <a:ext cx="134416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Current — simple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2130552" y="3410712"/>
            <a:ext cx="65836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26.0%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2862072" y="3410712"/>
            <a:ext cx="74980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96.7%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3685032" y="3410712"/>
            <a:ext cx="52120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40.8%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4279392" y="3410712"/>
            <a:ext cx="308152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Very conservative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685800" y="4023360"/>
            <a:ext cx="672084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13232" y="4069080"/>
            <a:ext cx="134416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Current — checklist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2130552" y="4069080"/>
            <a:ext cx="65836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36.5%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2862072" y="4069080"/>
            <a:ext cx="74980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96.7%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3685032" y="4069080"/>
            <a:ext cx="52120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52.6%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4279392" y="4069080"/>
            <a:ext cx="308152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Best current-definition balance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685800" y="4681728"/>
            <a:ext cx="672084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49808" y="4892040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FFF2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49808" y="4892040"/>
            <a:ext cx="73152" cy="713232"/>
          </a:xfrm>
          <a:prstGeom prst="rect">
            <a:avLst/>
          </a:prstGeom>
          <a:solidFill>
            <a:srgbClr val="E8842A"/>
          </a:solidFill>
          <a:ln w="12700">
            <a:solidFill>
              <a:srgbClr val="E88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69264" y="4977628"/>
            <a:ext cx="1682496" cy="2710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</a:rPr>
              <a:t>51–54%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969264" y="5319979"/>
            <a:ext cx="1682496" cy="19970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5E6673"/>
                </a:solidFill>
              </a:rPr>
              <a:t>old definition recall range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2999232" y="4892040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EA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999232" y="4892040"/>
            <a:ext cx="73152" cy="713232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218688" y="4977628"/>
            <a:ext cx="1682496" cy="2710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</a:rPr>
              <a:t>96.7%</a:t>
            </a:r>
            <a:endParaRPr lang="en-US" sz="1900" dirty="0"/>
          </a:p>
        </p:txBody>
      </p:sp>
      <p:sp>
        <p:nvSpPr>
          <p:cNvPr id="43" name="Text 41"/>
          <p:cNvSpPr/>
          <p:nvPr/>
        </p:nvSpPr>
        <p:spPr>
          <a:xfrm>
            <a:off x="3218688" y="5319979"/>
            <a:ext cx="1682496" cy="19970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5E6673"/>
                </a:solidFill>
              </a:rPr>
              <a:t>current specificity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5248656" y="4892040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E8F5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248656" y="4892040"/>
            <a:ext cx="73152" cy="7132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468112" y="4977628"/>
            <a:ext cx="1682496" cy="2710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</a:rPr>
              <a:t>52.6%</a:t>
            </a:r>
            <a:endParaRPr lang="en-US" sz="1900" dirty="0"/>
          </a:p>
        </p:txBody>
      </p:sp>
      <p:sp>
        <p:nvSpPr>
          <p:cNvPr id="47" name="Text 45"/>
          <p:cNvSpPr/>
          <p:nvPr/>
        </p:nvSpPr>
        <p:spPr>
          <a:xfrm>
            <a:off x="5468112" y="5319979"/>
            <a:ext cx="1682496" cy="19970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5E6673"/>
                </a:solidFill>
              </a:rPr>
              <a:t>best current F1</a:t>
            </a:r>
            <a:endParaRPr lang="en-US" sz="980" dirty="0"/>
          </a:p>
        </p:txBody>
      </p:sp>
      <p:sp>
        <p:nvSpPr>
          <p:cNvPr id="48" name="Shape 46"/>
          <p:cNvSpPr/>
          <p:nvPr/>
        </p:nvSpPr>
        <p:spPr>
          <a:xfrm>
            <a:off x="7635240" y="1325880"/>
            <a:ext cx="3794760" cy="1600200"/>
          </a:xfrm>
          <a:prstGeom prst="roundRect">
            <a:avLst>
              <a:gd name="adj" fmla="val 4571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635240" y="1325880"/>
            <a:ext cx="73152" cy="160020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836408" y="1453896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Interpretation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7836408" y="1764792"/>
            <a:ext cx="3447288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11827"/>
                </a:solidFill>
              </a:rPr>
              <a:t>Old broad definition recovered more historical positives, but at the cost of lower specificity. Current strict definition was more conservative and had much higher specificity.</a:t>
            </a:r>
            <a:endParaRPr lang="en-US" sz="1280" dirty="0"/>
          </a:p>
        </p:txBody>
      </p:sp>
      <p:sp>
        <p:nvSpPr>
          <p:cNvPr id="52" name="Shape 50"/>
          <p:cNvSpPr/>
          <p:nvPr/>
        </p:nvSpPr>
        <p:spPr>
          <a:xfrm>
            <a:off x="7635240" y="3154680"/>
            <a:ext cx="3794760" cy="1417320"/>
          </a:xfrm>
          <a:prstGeom prst="roundRect">
            <a:avLst>
              <a:gd name="adj" fmla="val 5161"/>
            </a:avLst>
          </a:prstGeom>
          <a:solidFill>
            <a:srgbClr val="FFF2E5"/>
          </a:solidFill>
          <a:ln w="12700">
            <a:solidFill>
              <a:srgbClr val="FFF2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7635240" y="3154680"/>
            <a:ext cx="73152" cy="1417320"/>
          </a:xfrm>
          <a:prstGeom prst="rect">
            <a:avLst/>
          </a:prstGeom>
          <a:solidFill>
            <a:srgbClr val="E8842A"/>
          </a:solidFill>
          <a:ln w="12700">
            <a:solidFill>
              <a:srgbClr val="E88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836408" y="3282696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Important caveat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7836408" y="3593592"/>
            <a:ext cx="3447288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11827"/>
                </a:solidFill>
              </a:rPr>
              <a:t>This was scored against historical labels, not definition-specific human labels. It is an operational sensitivity test, not the final codebook validation.</a:t>
            </a:r>
            <a:endParaRPr lang="en-US" sz="1280" dirty="0"/>
          </a:p>
        </p:txBody>
      </p:sp>
      <p:sp>
        <p:nvSpPr>
          <p:cNvPr id="56" name="Shape 54"/>
          <p:cNvSpPr/>
          <p:nvPr/>
        </p:nvSpPr>
        <p:spPr>
          <a:xfrm>
            <a:off x="7635240" y="4800600"/>
            <a:ext cx="3794760" cy="731520"/>
          </a:xfrm>
          <a:prstGeom prst="roundRect">
            <a:avLst>
              <a:gd name="adj" fmla="val 10000"/>
            </a:avLst>
          </a:prstGeom>
          <a:solidFill>
            <a:srgbClr val="E8F5F0"/>
          </a:solidFill>
          <a:ln w="12700">
            <a:solidFill>
              <a:srgbClr val="E8F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7635240" y="4800600"/>
            <a:ext cx="73152" cy="7315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836408" y="4928616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Action for team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7836408" y="5239512"/>
            <a:ext cx="344728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Adjudicate old/current/final labels on the cleaned 42-row set, then rescore the frozen predictions without rerunning models.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48640" y="6437376"/>
            <a:ext cx="8961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 target-only conditions: old broad vs current strict definitions, simple vs structured evidence-checklist prompts.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1147572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E6673"/>
                </a:solidFill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384048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Old vs. current codebook: tradeoff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832104"/>
            <a:ext cx="10515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 compared definition wording on the same 42 rows and three providers; results are scored against historical labels.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B1F3A"/>
                </a:solidFill>
              </a:rPr>
              <a:t>Old broad · simple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594360" y="16824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5E6673"/>
                </a:solidFill>
              </a:rPr>
              <a:t>N=126 provider-row decisions</a:t>
            </a:r>
            <a:endParaRPr lang="en-US" sz="1040" dirty="0"/>
          </a:p>
        </p:txBody>
      </p:sp>
      <p:sp>
        <p:nvSpPr>
          <p:cNvPr id="7" name="Text 5"/>
          <p:cNvSpPr/>
          <p:nvPr/>
        </p:nvSpPr>
        <p:spPr>
          <a:xfrm>
            <a:off x="1069848" y="213055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E6673"/>
                </a:solidFill>
              </a:rPr>
              <a:t>Pred No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203704" y="213055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E6673"/>
                </a:solidFill>
              </a:rPr>
              <a:t>Pred Yes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 rot="16200000">
            <a:off x="594360" y="268467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5E6673"/>
                </a:solidFill>
              </a:rPr>
              <a:t>Actual No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 rot="16200000">
            <a:off x="594360" y="3625596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5E6673"/>
                </a:solidFill>
              </a:rPr>
              <a:t>Actual Yes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069848" y="2377440"/>
            <a:ext cx="1078992" cy="960120"/>
          </a:xfrm>
          <a:prstGeom prst="roundRect">
            <a:avLst>
              <a:gd name="adj" fmla="val 5714"/>
            </a:avLst>
          </a:prstGeom>
          <a:solidFill>
            <a:srgbClr val="E8F5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06424" y="2468880"/>
            <a:ext cx="100584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TN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20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203704" y="2377440"/>
            <a:ext cx="1078992" cy="960120"/>
          </a:xfrm>
          <a:prstGeom prst="roundRect">
            <a:avLst>
              <a:gd name="adj" fmla="val 5714"/>
            </a:avLst>
          </a:prstGeom>
          <a:solidFill>
            <a:srgbClr val="FEEFE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240280" y="2468880"/>
            <a:ext cx="100584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FP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10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69848" y="3392424"/>
            <a:ext cx="1078992" cy="960120"/>
          </a:xfrm>
          <a:prstGeom prst="roundRect">
            <a:avLst>
              <a:gd name="adj" fmla="val 5714"/>
            </a:avLst>
          </a:prstGeom>
          <a:solidFill>
            <a:srgbClr val="FFF2E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06424" y="3483864"/>
            <a:ext cx="100584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FN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44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203704" y="3392424"/>
            <a:ext cx="107899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240280" y="3483864"/>
            <a:ext cx="100584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TP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52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69848" y="446227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842A"/>
                </a:solidFill>
              </a:rPr>
              <a:t>Acc 57.1% · F1 65.3%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520440" y="1417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B1F3A"/>
                </a:solidFill>
              </a:rPr>
              <a:t>Old broad · checklist</a:t>
            </a:r>
            <a:endParaRPr lang="en-US" sz="1420" dirty="0"/>
          </a:p>
        </p:txBody>
      </p:sp>
      <p:sp>
        <p:nvSpPr>
          <p:cNvPr id="21" name="Text 19"/>
          <p:cNvSpPr/>
          <p:nvPr/>
        </p:nvSpPr>
        <p:spPr>
          <a:xfrm>
            <a:off x="3520440" y="16824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5E6673"/>
                </a:solidFill>
              </a:rPr>
              <a:t>N=126 provider-row decisions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3995928" y="213055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E6673"/>
                </a:solidFill>
              </a:rPr>
              <a:t>Pred No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129784" y="213055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E6673"/>
                </a:solidFill>
              </a:rPr>
              <a:t>Pred Yes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 rot="16200000">
            <a:off x="3520440" y="268467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5E6673"/>
                </a:solidFill>
              </a:rPr>
              <a:t>Actual No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 rot="16200000">
            <a:off x="3520440" y="3625596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5E6673"/>
                </a:solidFill>
              </a:rPr>
              <a:t>Actual Yes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995928" y="2377440"/>
            <a:ext cx="1078992" cy="960120"/>
          </a:xfrm>
          <a:prstGeom prst="roundRect">
            <a:avLst>
              <a:gd name="adj" fmla="val 5714"/>
            </a:avLst>
          </a:prstGeom>
          <a:solidFill>
            <a:srgbClr val="E8F5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032504" y="2468880"/>
            <a:ext cx="100584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TN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21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129784" y="2377440"/>
            <a:ext cx="1078992" cy="960120"/>
          </a:xfrm>
          <a:prstGeom prst="roundRect">
            <a:avLst>
              <a:gd name="adj" fmla="val 5714"/>
            </a:avLst>
          </a:prstGeom>
          <a:solidFill>
            <a:srgbClr val="FEEFE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166360" y="2468880"/>
            <a:ext cx="100584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FP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9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995928" y="3392424"/>
            <a:ext cx="1078992" cy="960120"/>
          </a:xfrm>
          <a:prstGeom prst="roundRect">
            <a:avLst>
              <a:gd name="adj" fmla="val 5714"/>
            </a:avLst>
          </a:prstGeom>
          <a:solidFill>
            <a:srgbClr val="FFF2E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032504" y="3483864"/>
            <a:ext cx="100584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FN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47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129784" y="3392424"/>
            <a:ext cx="107899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166360" y="3483864"/>
            <a:ext cx="100584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TP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49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995928" y="446227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842A"/>
                </a:solidFill>
              </a:rPr>
              <a:t>Acc 55.6% · F1 63.5%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46520" y="1417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B1F3A"/>
                </a:solidFill>
              </a:rPr>
              <a:t>Current strict · simple</a:t>
            </a:r>
            <a:endParaRPr lang="en-US" sz="1420" dirty="0"/>
          </a:p>
        </p:txBody>
      </p:sp>
      <p:sp>
        <p:nvSpPr>
          <p:cNvPr id="36" name="Text 34"/>
          <p:cNvSpPr/>
          <p:nvPr/>
        </p:nvSpPr>
        <p:spPr>
          <a:xfrm>
            <a:off x="6446520" y="16824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5E6673"/>
                </a:solidFill>
              </a:rPr>
              <a:t>N=126 provider-row decisions</a:t>
            </a:r>
            <a:endParaRPr lang="en-US" sz="1040" dirty="0"/>
          </a:p>
        </p:txBody>
      </p:sp>
      <p:sp>
        <p:nvSpPr>
          <p:cNvPr id="37" name="Text 35"/>
          <p:cNvSpPr/>
          <p:nvPr/>
        </p:nvSpPr>
        <p:spPr>
          <a:xfrm>
            <a:off x="6922008" y="213055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E6673"/>
                </a:solidFill>
              </a:rPr>
              <a:t>Pred No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055864" y="213055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E6673"/>
                </a:solidFill>
              </a:rPr>
              <a:t>Pred Yes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 rot="16200000">
            <a:off x="6446520" y="268467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5E6673"/>
                </a:solidFill>
              </a:rPr>
              <a:t>Actual No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 rot="16200000">
            <a:off x="6446520" y="3625596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5E6673"/>
                </a:solidFill>
              </a:rPr>
              <a:t>Actual Yes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922008" y="2377440"/>
            <a:ext cx="1078992" cy="960120"/>
          </a:xfrm>
          <a:prstGeom prst="roundRect">
            <a:avLst>
              <a:gd name="adj" fmla="val 5714"/>
            </a:avLst>
          </a:prstGeom>
          <a:solidFill>
            <a:srgbClr val="E8F5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958584" y="2468880"/>
            <a:ext cx="100584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TN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29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055864" y="2377440"/>
            <a:ext cx="1078992" cy="960120"/>
          </a:xfrm>
          <a:prstGeom prst="roundRect">
            <a:avLst>
              <a:gd name="adj" fmla="val 5714"/>
            </a:avLst>
          </a:prstGeom>
          <a:solidFill>
            <a:srgbClr val="FEEFE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092440" y="2468880"/>
            <a:ext cx="100584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FP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1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922008" y="3392424"/>
            <a:ext cx="1078992" cy="960120"/>
          </a:xfrm>
          <a:prstGeom prst="roundRect">
            <a:avLst>
              <a:gd name="adj" fmla="val 5714"/>
            </a:avLst>
          </a:prstGeom>
          <a:solidFill>
            <a:srgbClr val="FFF2E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958584" y="3483864"/>
            <a:ext cx="100584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FN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71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055864" y="3392424"/>
            <a:ext cx="107899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092440" y="3483864"/>
            <a:ext cx="100584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TP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25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922008" y="446227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6FED"/>
                </a:solidFill>
              </a:rPr>
              <a:t>Acc 42.9% · F1 40.8%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9372600" y="1417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B1F3A"/>
                </a:solidFill>
              </a:rPr>
              <a:t>Current strict · checklist</a:t>
            </a:r>
            <a:endParaRPr lang="en-US" sz="1420" dirty="0"/>
          </a:p>
        </p:txBody>
      </p:sp>
      <p:sp>
        <p:nvSpPr>
          <p:cNvPr id="51" name="Text 49"/>
          <p:cNvSpPr/>
          <p:nvPr/>
        </p:nvSpPr>
        <p:spPr>
          <a:xfrm>
            <a:off x="9372600" y="16824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5E6673"/>
                </a:solidFill>
              </a:rPr>
              <a:t>N=126 provider-row decisions</a:t>
            </a:r>
            <a:endParaRPr lang="en-US" sz="1040" dirty="0"/>
          </a:p>
        </p:txBody>
      </p:sp>
      <p:sp>
        <p:nvSpPr>
          <p:cNvPr id="52" name="Text 50"/>
          <p:cNvSpPr/>
          <p:nvPr/>
        </p:nvSpPr>
        <p:spPr>
          <a:xfrm>
            <a:off x="9848088" y="213055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E6673"/>
                </a:solidFill>
              </a:rPr>
              <a:t>Pred No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10981944" y="213055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E6673"/>
                </a:solidFill>
              </a:rPr>
              <a:t>Pred Yes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 rot="16200000">
            <a:off x="9372600" y="268467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5E6673"/>
                </a:solidFill>
              </a:rPr>
              <a:t>Actual No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 rot="16200000">
            <a:off x="9372600" y="3625596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5E6673"/>
                </a:solidFill>
              </a:rPr>
              <a:t>Actual Yes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9848088" y="2377440"/>
            <a:ext cx="1078992" cy="960120"/>
          </a:xfrm>
          <a:prstGeom prst="roundRect">
            <a:avLst>
              <a:gd name="adj" fmla="val 5714"/>
            </a:avLst>
          </a:prstGeom>
          <a:solidFill>
            <a:srgbClr val="E8F5F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9884664" y="2468880"/>
            <a:ext cx="100584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TN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29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0981944" y="2377440"/>
            <a:ext cx="1078992" cy="960120"/>
          </a:xfrm>
          <a:prstGeom prst="roundRect">
            <a:avLst>
              <a:gd name="adj" fmla="val 5714"/>
            </a:avLst>
          </a:prstGeom>
          <a:solidFill>
            <a:srgbClr val="FEEFE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1018520" y="2468880"/>
            <a:ext cx="100584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FP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1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9848088" y="3392424"/>
            <a:ext cx="1078992" cy="960120"/>
          </a:xfrm>
          <a:prstGeom prst="roundRect">
            <a:avLst>
              <a:gd name="adj" fmla="val 5714"/>
            </a:avLst>
          </a:prstGeom>
          <a:solidFill>
            <a:srgbClr val="FFF2E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9884664" y="3483864"/>
            <a:ext cx="100584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FN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61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10981944" y="3392424"/>
            <a:ext cx="107899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11018520" y="3483864"/>
            <a:ext cx="100584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TP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35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848088" y="446227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6FED"/>
                </a:solidFill>
              </a:rPr>
              <a:t>Acc 50.8% · F1 52.6%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822960" y="4992624"/>
            <a:ext cx="10835640" cy="676656"/>
          </a:xfrm>
          <a:prstGeom prst="roundRect">
            <a:avLst>
              <a:gd name="adj" fmla="val 10811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822960" y="4992624"/>
            <a:ext cx="73152" cy="676656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1024128" y="5120640"/>
            <a:ext cx="10515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Main finding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1024128" y="5431536"/>
            <a:ext cx="1048816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</a:rPr>
              <a:t>The old broader wording recovers more historical positives, but also creates more false positives. The current stricter wording preserves specificity, especially with the evidence checklist, but misses many historical positives.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548640" y="6437376"/>
            <a:ext cx="8961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1147572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E6673"/>
                </a:solidFill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384048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Codebook impact: EPA boundary cases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832104"/>
            <a:ext cx="10515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exact EPA diagnostic shows how old/current wording shifts positive calls on the same cleaned benchmark.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5623560" cy="0"/>
          </a:xfrm>
          <a:prstGeom prst="line">
            <a:avLst/>
          </a:prstGeom>
          <a:noFill/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1463040"/>
            <a:ext cx="18013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B1F3A"/>
                </a:solidFill>
              </a:rPr>
              <a:t>Definition condition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2587752" y="1463040"/>
            <a:ext cx="4297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B1F3A"/>
                </a:solidFill>
              </a:rPr>
              <a:t>TP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3090672" y="1463040"/>
            <a:ext cx="4297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B1F3A"/>
                </a:solidFill>
              </a:rPr>
              <a:t>TN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3593592" y="1463040"/>
            <a:ext cx="4297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B1F3A"/>
                </a:solidFill>
              </a:rPr>
              <a:t>FP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4096512" y="1463040"/>
            <a:ext cx="4297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B1F3A"/>
                </a:solidFill>
              </a:rPr>
              <a:t>FN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4599432" y="1463040"/>
            <a:ext cx="79552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B1F3A"/>
                </a:solidFill>
              </a:rPr>
              <a:t>Recall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5468112" y="1463040"/>
            <a:ext cx="79552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B1F3A"/>
                </a:solidFill>
              </a:rPr>
              <a:t>Specificity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85800" y="1956816"/>
            <a:ext cx="5623560" cy="0"/>
          </a:xfrm>
          <a:prstGeom prst="line">
            <a:avLst/>
          </a:prstGeom>
          <a:noFill/>
          <a:ln w="1524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3232" y="2002536"/>
            <a:ext cx="18013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Old broad · simple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2587752" y="2002536"/>
            <a:ext cx="4297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25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3090672" y="2002536"/>
            <a:ext cx="4297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11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3593592" y="2002536"/>
            <a:ext cx="4297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4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4096512" y="2002536"/>
            <a:ext cx="4297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23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4599432" y="2002536"/>
            <a:ext cx="79552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52.1%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5468112" y="2002536"/>
            <a:ext cx="79552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73.3%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685800" y="2496312"/>
            <a:ext cx="562356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3232" y="2542032"/>
            <a:ext cx="18013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Old broad · checklist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2587752" y="2542032"/>
            <a:ext cx="4297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22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3090672" y="2542032"/>
            <a:ext cx="4297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8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3593592" y="2542032"/>
            <a:ext cx="4297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7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4096512" y="2542032"/>
            <a:ext cx="4297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26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4599432" y="2542032"/>
            <a:ext cx="79552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45.8%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5468112" y="2542032"/>
            <a:ext cx="79552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53.3%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685800" y="3035808"/>
            <a:ext cx="562356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13232" y="3081528"/>
            <a:ext cx="18013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Current strict · simple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2587752" y="3081528"/>
            <a:ext cx="4297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6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3090672" y="3081528"/>
            <a:ext cx="4297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14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3593592" y="3081528"/>
            <a:ext cx="4297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1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4096512" y="3081528"/>
            <a:ext cx="4297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42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4599432" y="3081528"/>
            <a:ext cx="79552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12.5%</a:t>
            </a:r>
            <a:endParaRPr lang="en-US" sz="1020" dirty="0"/>
          </a:p>
        </p:txBody>
      </p:sp>
      <p:sp>
        <p:nvSpPr>
          <p:cNvPr id="36" name="Text 34"/>
          <p:cNvSpPr/>
          <p:nvPr/>
        </p:nvSpPr>
        <p:spPr>
          <a:xfrm>
            <a:off x="5468112" y="3081528"/>
            <a:ext cx="79552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93.3%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685800" y="3575304"/>
            <a:ext cx="562356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13232" y="3621024"/>
            <a:ext cx="18013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Current strict · checklist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2587752" y="3621024"/>
            <a:ext cx="4297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14</a:t>
            </a:r>
            <a:endParaRPr lang="en-US" sz="1020" dirty="0"/>
          </a:p>
        </p:txBody>
      </p:sp>
      <p:sp>
        <p:nvSpPr>
          <p:cNvPr id="40" name="Text 38"/>
          <p:cNvSpPr/>
          <p:nvPr/>
        </p:nvSpPr>
        <p:spPr>
          <a:xfrm>
            <a:off x="3090672" y="3621024"/>
            <a:ext cx="4297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14</a:t>
            </a:r>
            <a:endParaRPr lang="en-US" sz="1020" dirty="0"/>
          </a:p>
        </p:txBody>
      </p:sp>
      <p:sp>
        <p:nvSpPr>
          <p:cNvPr id="41" name="Text 39"/>
          <p:cNvSpPr/>
          <p:nvPr/>
        </p:nvSpPr>
        <p:spPr>
          <a:xfrm>
            <a:off x="3593592" y="3621024"/>
            <a:ext cx="4297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1</a:t>
            </a:r>
            <a:endParaRPr lang="en-US" sz="1020" dirty="0"/>
          </a:p>
        </p:txBody>
      </p:sp>
      <p:sp>
        <p:nvSpPr>
          <p:cNvPr id="42" name="Text 40"/>
          <p:cNvSpPr/>
          <p:nvPr/>
        </p:nvSpPr>
        <p:spPr>
          <a:xfrm>
            <a:off x="4096512" y="3621024"/>
            <a:ext cx="4297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34</a:t>
            </a:r>
            <a:endParaRPr lang="en-US" sz="1020" dirty="0"/>
          </a:p>
        </p:txBody>
      </p:sp>
      <p:sp>
        <p:nvSpPr>
          <p:cNvPr id="43" name="Text 41"/>
          <p:cNvSpPr/>
          <p:nvPr/>
        </p:nvSpPr>
        <p:spPr>
          <a:xfrm>
            <a:off x="4599432" y="3621024"/>
            <a:ext cx="79552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29.2%</a:t>
            </a:r>
            <a:endParaRPr lang="en-US" sz="1020" dirty="0"/>
          </a:p>
        </p:txBody>
      </p:sp>
      <p:sp>
        <p:nvSpPr>
          <p:cNvPr id="44" name="Text 42"/>
          <p:cNvSpPr/>
          <p:nvPr/>
        </p:nvSpPr>
        <p:spPr>
          <a:xfrm>
            <a:off x="5468112" y="3621024"/>
            <a:ext cx="79552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93.3%</a:t>
            </a:r>
            <a:endParaRPr lang="en-US" sz="1020" dirty="0"/>
          </a:p>
        </p:txBody>
      </p:sp>
      <p:sp>
        <p:nvSpPr>
          <p:cNvPr id="45" name="Shape 43"/>
          <p:cNvSpPr/>
          <p:nvPr/>
        </p:nvSpPr>
        <p:spPr>
          <a:xfrm>
            <a:off x="685800" y="4114800"/>
            <a:ext cx="562356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537960" y="1417320"/>
            <a:ext cx="4937760" cy="0"/>
          </a:xfrm>
          <a:prstGeom prst="line">
            <a:avLst/>
          </a:prstGeom>
          <a:noFill/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565392" y="1463040"/>
            <a:ext cx="1435608" cy="61036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B1F3A"/>
                </a:solidFill>
              </a:rPr>
              <a:t>Document</a:t>
            </a:r>
            <a:endParaRPr lang="en-US" sz="1080" dirty="0"/>
          </a:p>
        </p:txBody>
      </p:sp>
      <p:sp>
        <p:nvSpPr>
          <p:cNvPr id="48" name="Text 46"/>
          <p:cNvSpPr/>
          <p:nvPr/>
        </p:nvSpPr>
        <p:spPr>
          <a:xfrm>
            <a:off x="8074152" y="1463040"/>
            <a:ext cx="3355848" cy="61036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B1F3A"/>
                </a:solidFill>
              </a:rPr>
              <a:t>Pattern under the codebook comparison</a:t>
            </a:r>
            <a:endParaRPr lang="en-US" sz="1080" dirty="0"/>
          </a:p>
        </p:txBody>
      </p:sp>
      <p:sp>
        <p:nvSpPr>
          <p:cNvPr id="49" name="Shape 47"/>
          <p:cNvSpPr/>
          <p:nvPr/>
        </p:nvSpPr>
        <p:spPr>
          <a:xfrm>
            <a:off x="6537960" y="2091690"/>
            <a:ext cx="4937760" cy="0"/>
          </a:xfrm>
          <a:prstGeom prst="line">
            <a:avLst/>
          </a:prstGeom>
          <a:noFill/>
          <a:ln w="1524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565392" y="2137410"/>
            <a:ext cx="1435608" cy="61036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EPA lessons learned</a:t>
            </a:r>
            <a:endParaRPr lang="en-US" sz="1020" dirty="0"/>
          </a:p>
        </p:txBody>
      </p:sp>
      <p:sp>
        <p:nvSpPr>
          <p:cNvPr id="51" name="Text 49"/>
          <p:cNvSpPr/>
          <p:nvPr/>
        </p:nvSpPr>
        <p:spPr>
          <a:xfrm>
            <a:off x="8074152" y="2137410"/>
            <a:ext cx="3355848" cy="61036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Most sensitive to definition threshold; old wording marks more coordination/capacity adaptation as positive.</a:t>
            </a:r>
            <a:endParaRPr lang="en-US" sz="1020" dirty="0"/>
          </a:p>
        </p:txBody>
      </p:sp>
      <p:sp>
        <p:nvSpPr>
          <p:cNvPr id="52" name="Shape 50"/>
          <p:cNvSpPr/>
          <p:nvPr/>
        </p:nvSpPr>
        <p:spPr>
          <a:xfrm>
            <a:off x="6537960" y="2766060"/>
            <a:ext cx="493776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565392" y="2811780"/>
            <a:ext cx="1435608" cy="61036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GAO observations</a:t>
            </a:r>
            <a:endParaRPr lang="en-US" sz="1020" dirty="0"/>
          </a:p>
        </p:txBody>
      </p:sp>
      <p:sp>
        <p:nvSpPr>
          <p:cNvPr id="54" name="Text 52"/>
          <p:cNvSpPr/>
          <p:nvPr/>
        </p:nvSpPr>
        <p:spPr>
          <a:xfrm>
            <a:off x="8074152" y="2811780"/>
            <a:ext cx="3355848" cy="61036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Easier when the text explicitly says business-as-usual should be replaced or a prior explanation is wrong.</a:t>
            </a:r>
            <a:endParaRPr lang="en-US" sz="1020" dirty="0"/>
          </a:p>
        </p:txBody>
      </p:sp>
      <p:sp>
        <p:nvSpPr>
          <p:cNvPr id="55" name="Shape 53"/>
          <p:cNvSpPr/>
          <p:nvPr/>
        </p:nvSpPr>
        <p:spPr>
          <a:xfrm>
            <a:off x="6537960" y="3440430"/>
            <a:ext cx="493776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565392" y="3486150"/>
            <a:ext cx="1435608" cy="61036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Post-Katrina preparedness</a:t>
            </a:r>
            <a:endParaRPr lang="en-US" sz="1020" dirty="0"/>
          </a:p>
        </p:txBody>
      </p:sp>
      <p:sp>
        <p:nvSpPr>
          <p:cNvPr id="57" name="Text 55"/>
          <p:cNvSpPr/>
          <p:nvPr/>
        </p:nvSpPr>
        <p:spPr>
          <a:xfrm>
            <a:off x="8074152" y="3486150"/>
            <a:ext cx="3355848" cy="61036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Often uses overt reform language, so positives are easier to justify under stricter criteria.</a:t>
            </a:r>
            <a:endParaRPr lang="en-US" sz="1020" dirty="0"/>
          </a:p>
        </p:txBody>
      </p:sp>
      <p:sp>
        <p:nvSpPr>
          <p:cNvPr id="58" name="Shape 56"/>
          <p:cNvSpPr/>
          <p:nvPr/>
        </p:nvSpPr>
        <p:spPr>
          <a:xfrm>
            <a:off x="6537960" y="4114800"/>
            <a:ext cx="493776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868680" y="4617720"/>
            <a:ext cx="10607040" cy="868680"/>
          </a:xfrm>
          <a:prstGeom prst="roundRect">
            <a:avLst>
              <a:gd name="adj" fmla="val 8421"/>
            </a:avLst>
          </a:prstGeom>
          <a:solidFill>
            <a:srgbClr val="FFF2E5"/>
          </a:solidFill>
          <a:ln w="12700">
            <a:solidFill>
              <a:srgbClr val="FFF2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868680" y="4617720"/>
            <a:ext cx="73152" cy="868680"/>
          </a:xfrm>
          <a:prstGeom prst="rect">
            <a:avLst/>
          </a:prstGeom>
          <a:solidFill>
            <a:srgbClr val="E8842A"/>
          </a:solidFill>
          <a:ln w="12700">
            <a:solidFill>
              <a:srgbClr val="E88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1069848" y="4745736"/>
            <a:ext cx="102870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Decision for the team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1069848" y="5056632"/>
            <a:ext cx="10259568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11827"/>
                </a:solidFill>
              </a:rPr>
              <a:t>If adaptation, coordination routines, liaison roles, training, and added capacity count as unlearning, the final definition should say so explicitly. If unlearning requires displacement of a prior approach, several historical EPA positives need adjudication.</a:t>
            </a:r>
            <a:endParaRPr lang="en-US" sz="1280" dirty="0"/>
          </a:p>
        </p:txBody>
      </p:sp>
      <p:sp>
        <p:nvSpPr>
          <p:cNvPr id="63" name="Shape 61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548640" y="6437376"/>
            <a:ext cx="8961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EPA values aggregate three providers × 21 EPA rows = 63 provider-row decisions; document notes summarize the source-level pattern.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1147572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E6673"/>
                </a:solidFill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Production pilot on a new document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the pipeline to “What if Hurricane Katrina Hit in 2020” as a review-oriented production pilot.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325880" cy="0"/>
          </a:xfrm>
          <a:prstGeom prst="line">
            <a:avLst/>
          </a:prstGeom>
          <a:noFill/>
          <a:ln w="28575">
            <a:solidFill>
              <a:srgbClr val="1E8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92808" y="2468880"/>
            <a:ext cx="484632" cy="0"/>
          </a:xfrm>
          <a:prstGeom prst="line">
            <a:avLst/>
          </a:prstGeom>
          <a:noFill/>
          <a:ln w="12700">
            <a:solidFill>
              <a:srgbClr val="54606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749040" y="2468880"/>
            <a:ext cx="502920" cy="0"/>
          </a:xfrm>
          <a:prstGeom prst="line">
            <a:avLst/>
          </a:prstGeom>
          <a:noFill/>
          <a:ln w="12700">
            <a:solidFill>
              <a:srgbClr val="54606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623560" y="2468880"/>
            <a:ext cx="502920" cy="0"/>
          </a:xfrm>
          <a:prstGeom prst="line">
            <a:avLst/>
          </a:prstGeom>
          <a:noFill/>
          <a:ln w="12700">
            <a:solidFill>
              <a:srgbClr val="54606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498080" y="2468880"/>
            <a:ext cx="502920" cy="0"/>
          </a:xfrm>
          <a:prstGeom prst="line">
            <a:avLst/>
          </a:prstGeom>
          <a:noFill/>
          <a:ln w="12700">
            <a:solidFill>
              <a:srgbClr val="54606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8368" y="1920240"/>
            <a:ext cx="1417320" cy="1051560"/>
          </a:xfrm>
          <a:prstGeom prst="roundRect">
            <a:avLst>
              <a:gd name="adj" fmla="val 6087"/>
            </a:avLst>
          </a:prstGeom>
          <a:solidFill>
            <a:srgbClr val="18324A"/>
          </a:solidFill>
          <a:ln w="12700">
            <a:solidFill>
              <a:srgbClr val="1832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808" y="219456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14600" y="1920240"/>
            <a:ext cx="1417320" cy="1051560"/>
          </a:xfrm>
          <a:prstGeom prst="roundRect">
            <a:avLst>
              <a:gd name="adj" fmla="val 6087"/>
            </a:avLst>
          </a:prstGeom>
          <a:solidFill>
            <a:srgbClr val="2E5B78"/>
          </a:solidFill>
          <a:ln w="12700">
            <a:solidFill>
              <a:srgbClr val="2E5B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06040" y="219456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Paragraph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0" y="1920240"/>
            <a:ext cx="1417320" cy="1051560"/>
          </a:xfrm>
          <a:prstGeom prst="roundRect">
            <a:avLst>
              <a:gd name="adj" fmla="val 6087"/>
            </a:avLst>
          </a:prstGeom>
          <a:solidFill>
            <a:srgbClr val="1E8A8A"/>
          </a:solidFill>
          <a:ln w="12700">
            <a:solidFill>
              <a:srgbClr val="1E8A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480560" y="219456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3-provider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1920240"/>
            <a:ext cx="1417320" cy="1051560"/>
          </a:xfrm>
          <a:prstGeom prst="roundRect">
            <a:avLst>
              <a:gd name="adj" fmla="val 6087"/>
            </a:avLst>
          </a:prstGeom>
          <a:solidFill>
            <a:srgbClr val="CBA552"/>
          </a:solidFill>
          <a:ln w="12700">
            <a:solidFill>
              <a:srgbClr val="CBA5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55080" y="219456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Majority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tiered review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8160" y="1920240"/>
            <a:ext cx="1417320" cy="1051560"/>
          </a:xfrm>
          <a:prstGeom prst="roundRect">
            <a:avLst>
              <a:gd name="adj" fmla="val 6087"/>
            </a:avLst>
          </a:prstGeom>
          <a:solidFill>
            <a:srgbClr val="D86F45"/>
          </a:solidFill>
          <a:ln w="12700">
            <a:solidFill>
              <a:srgbClr val="D86F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29600" y="219456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annotations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3977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91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77240" y="44165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4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 paragraph texts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063240" y="39776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96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063240" y="44165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4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paragraph occurrences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349240" y="39776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8A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273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349240" y="44165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4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unique-text model predictions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183880" y="39776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86F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8183880" y="44165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46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annotation segments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13232" y="5285232"/>
            <a:ext cx="104241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D9D2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13232" y="5285232"/>
            <a:ext cx="64008" cy="731520"/>
          </a:xfrm>
          <a:prstGeom prst="rect">
            <a:avLst/>
          </a:prstGeom>
          <a:solidFill>
            <a:srgbClr val="1E8A8A"/>
          </a:solidFill>
          <a:ln w="12700">
            <a:solidFill>
              <a:srgbClr val="1E8A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14400" y="5422392"/>
            <a:ext cx="10104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8324A"/>
                </a:solidFill>
              </a:rPr>
              <a:t>How to position this result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914400" y="5760720"/>
            <a:ext cx="101041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54606A"/>
                </a:solidFill>
              </a:rPr>
              <a:t>The pilot shows the workflow can generate review-ready outputs on a new document. It should not be described as accuracy-tested until human gold labels exist for that document.</a:t>
            </a:r>
            <a:endParaRPr lang="en-US" sz="1010" dirty="0"/>
          </a:p>
        </p:txBody>
      </p:sp>
      <p:sp>
        <p:nvSpPr>
          <p:cNvPr id="32" name="Text 30"/>
          <p:cNvSpPr/>
          <p:nvPr/>
        </p:nvSpPr>
        <p:spPr>
          <a:xfrm>
            <a:off x="502920" y="65653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Unlearning Project • Weekly update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201400" y="65471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384048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Reproducibility and model-coder agreement were added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832104"/>
            <a:ext cx="10515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Confirmed: the completed run includes five repeated stability trials with fixed experiment seeds.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1965960" cy="1060704"/>
          </a:xfrm>
          <a:prstGeom prst="roundRect">
            <a:avLst>
              <a:gd name="adj" fmla="val 6897"/>
            </a:avLst>
          </a:prstGeom>
          <a:solidFill>
            <a:srgbClr val="E8F5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73152" cy="106070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05256" y="1361724"/>
            <a:ext cx="1636776" cy="4030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</a:rPr>
              <a:t>5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05256" y="1870862"/>
            <a:ext cx="1636776" cy="29699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5E6673"/>
                </a:solidFill>
              </a:rPr>
              <a:t>seeds / repeated trials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2880360" y="1234440"/>
            <a:ext cx="2148840" cy="1060704"/>
          </a:xfrm>
          <a:prstGeom prst="roundRect">
            <a:avLst>
              <a:gd name="adj" fmla="val 6897"/>
            </a:avLst>
          </a:prstGeom>
          <a:solidFill>
            <a:srgbClr val="EA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880360" y="1234440"/>
            <a:ext cx="73152" cy="1060704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099816" y="1361724"/>
            <a:ext cx="1819656" cy="4030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</a:rPr>
              <a:t>630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099816" y="1870862"/>
            <a:ext cx="1819656" cy="29699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5E6673"/>
                </a:solidFill>
              </a:rPr>
              <a:t>stability predictions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257800" y="1234440"/>
            <a:ext cx="2468880" cy="1060704"/>
          </a:xfrm>
          <a:prstGeom prst="roundRect">
            <a:avLst>
              <a:gd name="adj" fmla="val 6897"/>
            </a:avLst>
          </a:prstGeom>
          <a:solidFill>
            <a:srgbClr val="F0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257800" y="1234440"/>
            <a:ext cx="73152" cy="1060704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77256" y="1361724"/>
            <a:ext cx="2139696" cy="4030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</a:rPr>
              <a:t>69–74%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477256" y="1870862"/>
            <a:ext cx="2139696" cy="29699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5E6673"/>
                </a:solidFill>
              </a:rPr>
              <a:t>unanimous agreement range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7955280" y="1234440"/>
            <a:ext cx="2514600" cy="1060704"/>
          </a:xfrm>
          <a:prstGeom prst="roundRect">
            <a:avLst>
              <a:gd name="adj" fmla="val 6897"/>
            </a:avLst>
          </a:prstGeom>
          <a:solidFill>
            <a:srgbClr val="FFF2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955280" y="1234440"/>
            <a:ext cx="73152" cy="1060704"/>
          </a:xfrm>
          <a:prstGeom prst="rect">
            <a:avLst/>
          </a:prstGeom>
          <a:solidFill>
            <a:srgbClr val="E8842A"/>
          </a:solidFill>
          <a:ln w="12700">
            <a:solidFill>
              <a:srgbClr val="E88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174736" y="1361724"/>
            <a:ext cx="2185416" cy="4030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</a:rPr>
              <a:t>0.50–0.57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174736" y="1870862"/>
            <a:ext cx="2185416" cy="29699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5E6673"/>
                </a:solidFill>
              </a:rPr>
              <a:t>Fleiss κ range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777240" y="2852928"/>
            <a:ext cx="6035040" cy="0"/>
          </a:xfrm>
          <a:prstGeom prst="line">
            <a:avLst/>
          </a:prstGeom>
          <a:noFill/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04672" y="2898648"/>
            <a:ext cx="841248" cy="2788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B1F3A"/>
                </a:solidFill>
              </a:rPr>
              <a:t>Seed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1719072" y="2898648"/>
            <a:ext cx="1801368" cy="2788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B1F3A"/>
                </a:solidFill>
              </a:rPr>
              <a:t>Unanimous agreement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3593592" y="2898648"/>
            <a:ext cx="1389888" cy="2788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B1F3A"/>
                </a:solidFill>
              </a:rPr>
              <a:t>Fleiss κ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5056632" y="2898648"/>
            <a:ext cx="1709928" cy="2788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B1F3A"/>
                </a:solidFill>
              </a:rPr>
              <a:t>Krippendorff α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777240" y="3195828"/>
            <a:ext cx="6035040" cy="0"/>
          </a:xfrm>
          <a:prstGeom prst="line">
            <a:avLst/>
          </a:prstGeom>
          <a:noFill/>
          <a:ln w="1524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04672" y="3241548"/>
            <a:ext cx="841248" cy="2788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17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1719072" y="3241548"/>
            <a:ext cx="1801368" cy="2788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69.0%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3593592" y="3241548"/>
            <a:ext cx="1389888" cy="2788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0.503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5056632" y="3241548"/>
            <a:ext cx="1709928" cy="2788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0.507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777240" y="3538728"/>
            <a:ext cx="603504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04672" y="3584448"/>
            <a:ext cx="841248" cy="2788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43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1719072" y="3584448"/>
            <a:ext cx="1801368" cy="2788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69.0%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3593592" y="3584448"/>
            <a:ext cx="1389888" cy="2788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0.503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5056632" y="3584448"/>
            <a:ext cx="1709928" cy="2788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0.507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777240" y="3881628"/>
            <a:ext cx="603504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04672" y="3927348"/>
            <a:ext cx="841248" cy="2788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101</a:t>
            </a:r>
            <a:endParaRPr lang="en-US" sz="1020" dirty="0"/>
          </a:p>
        </p:txBody>
      </p:sp>
      <p:sp>
        <p:nvSpPr>
          <p:cNvPr id="38" name="Text 36"/>
          <p:cNvSpPr/>
          <p:nvPr/>
        </p:nvSpPr>
        <p:spPr>
          <a:xfrm>
            <a:off x="1719072" y="3927348"/>
            <a:ext cx="1801368" cy="2788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73.8%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3593592" y="3927348"/>
            <a:ext cx="1389888" cy="2788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0.572</a:t>
            </a:r>
            <a:endParaRPr lang="en-US" sz="1020" dirty="0"/>
          </a:p>
        </p:txBody>
      </p:sp>
      <p:sp>
        <p:nvSpPr>
          <p:cNvPr id="40" name="Text 38"/>
          <p:cNvSpPr/>
          <p:nvPr/>
        </p:nvSpPr>
        <p:spPr>
          <a:xfrm>
            <a:off x="5056632" y="3927348"/>
            <a:ext cx="1709928" cy="2788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0.576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777240" y="4224528"/>
            <a:ext cx="603504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04672" y="4270248"/>
            <a:ext cx="841248" cy="2788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211</a:t>
            </a:r>
            <a:endParaRPr lang="en-US" sz="1020" dirty="0"/>
          </a:p>
        </p:txBody>
      </p:sp>
      <p:sp>
        <p:nvSpPr>
          <p:cNvPr id="43" name="Text 41"/>
          <p:cNvSpPr/>
          <p:nvPr/>
        </p:nvSpPr>
        <p:spPr>
          <a:xfrm>
            <a:off x="1719072" y="4270248"/>
            <a:ext cx="1801368" cy="2788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73.8%</a:t>
            </a:r>
            <a:endParaRPr lang="en-US" sz="1020" dirty="0"/>
          </a:p>
        </p:txBody>
      </p:sp>
      <p:sp>
        <p:nvSpPr>
          <p:cNvPr id="44" name="Text 42"/>
          <p:cNvSpPr/>
          <p:nvPr/>
        </p:nvSpPr>
        <p:spPr>
          <a:xfrm>
            <a:off x="3593592" y="4270248"/>
            <a:ext cx="1389888" cy="2788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0.565</a:t>
            </a:r>
            <a:endParaRPr lang="en-US" sz="1020" dirty="0"/>
          </a:p>
        </p:txBody>
      </p:sp>
      <p:sp>
        <p:nvSpPr>
          <p:cNvPr id="45" name="Text 43"/>
          <p:cNvSpPr/>
          <p:nvPr/>
        </p:nvSpPr>
        <p:spPr>
          <a:xfrm>
            <a:off x="5056632" y="4270248"/>
            <a:ext cx="1709928" cy="2788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0.568</a:t>
            </a:r>
            <a:endParaRPr lang="en-US" sz="1020" dirty="0"/>
          </a:p>
        </p:txBody>
      </p:sp>
      <p:sp>
        <p:nvSpPr>
          <p:cNvPr id="46" name="Shape 44"/>
          <p:cNvSpPr/>
          <p:nvPr/>
        </p:nvSpPr>
        <p:spPr>
          <a:xfrm>
            <a:off x="777240" y="4567428"/>
            <a:ext cx="603504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04672" y="4613148"/>
            <a:ext cx="841248" cy="2788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307</a:t>
            </a:r>
            <a:endParaRPr lang="en-US" sz="1020" dirty="0"/>
          </a:p>
        </p:txBody>
      </p:sp>
      <p:sp>
        <p:nvSpPr>
          <p:cNvPr id="48" name="Text 46"/>
          <p:cNvSpPr/>
          <p:nvPr/>
        </p:nvSpPr>
        <p:spPr>
          <a:xfrm>
            <a:off x="1719072" y="4613148"/>
            <a:ext cx="1801368" cy="2788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69.0%</a:t>
            </a:r>
            <a:endParaRPr lang="en-US" sz="1020" dirty="0"/>
          </a:p>
        </p:txBody>
      </p:sp>
      <p:sp>
        <p:nvSpPr>
          <p:cNvPr id="49" name="Text 47"/>
          <p:cNvSpPr/>
          <p:nvPr/>
        </p:nvSpPr>
        <p:spPr>
          <a:xfrm>
            <a:off x="3593592" y="4613148"/>
            <a:ext cx="1389888" cy="2788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0.503</a:t>
            </a:r>
            <a:endParaRPr lang="en-US" sz="1020" dirty="0"/>
          </a:p>
        </p:txBody>
      </p:sp>
      <p:sp>
        <p:nvSpPr>
          <p:cNvPr id="50" name="Text 48"/>
          <p:cNvSpPr/>
          <p:nvPr/>
        </p:nvSpPr>
        <p:spPr>
          <a:xfrm>
            <a:off x="5056632" y="4613148"/>
            <a:ext cx="1709928" cy="2788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0.507</a:t>
            </a:r>
            <a:endParaRPr lang="en-US" sz="1020" dirty="0"/>
          </a:p>
        </p:txBody>
      </p:sp>
      <p:sp>
        <p:nvSpPr>
          <p:cNvPr id="51" name="Shape 49"/>
          <p:cNvSpPr/>
          <p:nvPr/>
        </p:nvSpPr>
        <p:spPr>
          <a:xfrm>
            <a:off x="777240" y="4910328"/>
            <a:ext cx="603504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777240" y="5166360"/>
            <a:ext cx="6035040" cy="530352"/>
          </a:xfrm>
          <a:prstGeom prst="roundRect">
            <a:avLst>
              <a:gd name="adj" fmla="val 13793"/>
            </a:avLst>
          </a:prstGeom>
          <a:solidFill>
            <a:srgbClr val="E8F5F0"/>
          </a:solidFill>
          <a:ln w="12700">
            <a:solidFill>
              <a:srgbClr val="E8F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777240" y="5166360"/>
            <a:ext cx="73152" cy="5303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978408" y="5294376"/>
            <a:ext cx="57150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Confirmed repeated-run stability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978408" y="5605272"/>
            <a:ext cx="5687568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The full repeated-trial run completed: 5 seeds × 42 rows × 3 providers = 630 predictions.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132320" y="2834640"/>
            <a:ext cx="4343400" cy="0"/>
          </a:xfrm>
          <a:prstGeom prst="line">
            <a:avLst/>
          </a:prstGeom>
          <a:noFill/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159752" y="2880360"/>
            <a:ext cx="1069848" cy="35890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B1F3A"/>
                </a:solidFill>
              </a:rPr>
              <a:t>Provider</a:t>
            </a:r>
            <a:endParaRPr lang="en-US" sz="1080" dirty="0"/>
          </a:p>
        </p:txBody>
      </p:sp>
      <p:sp>
        <p:nvSpPr>
          <p:cNvPr id="58" name="Text 56"/>
          <p:cNvSpPr/>
          <p:nvPr/>
        </p:nvSpPr>
        <p:spPr>
          <a:xfrm>
            <a:off x="8302752" y="2880360"/>
            <a:ext cx="1435608" cy="35890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B1F3A"/>
                </a:solidFill>
              </a:rPr>
              <a:t>Mean repeat agreement</a:t>
            </a:r>
            <a:endParaRPr lang="en-US" sz="1080" dirty="0"/>
          </a:p>
        </p:txBody>
      </p:sp>
      <p:sp>
        <p:nvSpPr>
          <p:cNvPr id="59" name="Text 57"/>
          <p:cNvSpPr/>
          <p:nvPr/>
        </p:nvSpPr>
        <p:spPr>
          <a:xfrm>
            <a:off x="9811512" y="2880360"/>
            <a:ext cx="1618488" cy="35890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B1F3A"/>
                </a:solidFill>
              </a:rPr>
              <a:t>Interpretation</a:t>
            </a:r>
            <a:endParaRPr lang="en-US" sz="1080" dirty="0"/>
          </a:p>
        </p:txBody>
      </p:sp>
      <p:sp>
        <p:nvSpPr>
          <p:cNvPr id="60" name="Shape 58"/>
          <p:cNvSpPr/>
          <p:nvPr/>
        </p:nvSpPr>
        <p:spPr>
          <a:xfrm>
            <a:off x="7132320" y="3257550"/>
            <a:ext cx="4343400" cy="0"/>
          </a:xfrm>
          <a:prstGeom prst="line">
            <a:avLst/>
          </a:prstGeom>
          <a:noFill/>
          <a:ln w="1524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7159752" y="3303270"/>
            <a:ext cx="1069848" cy="35890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Anthropic</a:t>
            </a:r>
            <a:endParaRPr lang="en-US" sz="1020" dirty="0"/>
          </a:p>
        </p:txBody>
      </p:sp>
      <p:sp>
        <p:nvSpPr>
          <p:cNvPr id="62" name="Text 60"/>
          <p:cNvSpPr/>
          <p:nvPr/>
        </p:nvSpPr>
        <p:spPr>
          <a:xfrm>
            <a:off x="8302752" y="3303270"/>
            <a:ext cx="1435608" cy="35890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100%</a:t>
            </a:r>
            <a:endParaRPr lang="en-US" sz="1020" dirty="0"/>
          </a:p>
        </p:txBody>
      </p:sp>
      <p:sp>
        <p:nvSpPr>
          <p:cNvPr id="63" name="Text 61"/>
          <p:cNvSpPr/>
          <p:nvPr/>
        </p:nvSpPr>
        <p:spPr>
          <a:xfrm>
            <a:off x="9811512" y="3303270"/>
            <a:ext cx="1618488" cy="35890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No label variation across five repeats</a:t>
            </a:r>
            <a:endParaRPr lang="en-US" sz="1020" dirty="0"/>
          </a:p>
        </p:txBody>
      </p:sp>
      <p:sp>
        <p:nvSpPr>
          <p:cNvPr id="64" name="Shape 62"/>
          <p:cNvSpPr/>
          <p:nvPr/>
        </p:nvSpPr>
        <p:spPr>
          <a:xfrm>
            <a:off x="7132320" y="3680460"/>
            <a:ext cx="434340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7159752" y="3726180"/>
            <a:ext cx="1069848" cy="35890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Gemini</a:t>
            </a:r>
            <a:endParaRPr lang="en-US" sz="1020" dirty="0"/>
          </a:p>
        </p:txBody>
      </p:sp>
      <p:sp>
        <p:nvSpPr>
          <p:cNvPr id="66" name="Text 64"/>
          <p:cNvSpPr/>
          <p:nvPr/>
        </p:nvSpPr>
        <p:spPr>
          <a:xfrm>
            <a:off x="8302752" y="3726180"/>
            <a:ext cx="1435608" cy="35890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100%</a:t>
            </a:r>
            <a:endParaRPr lang="en-US" sz="1020" dirty="0"/>
          </a:p>
        </p:txBody>
      </p:sp>
      <p:sp>
        <p:nvSpPr>
          <p:cNvPr id="67" name="Text 65"/>
          <p:cNvSpPr/>
          <p:nvPr/>
        </p:nvSpPr>
        <p:spPr>
          <a:xfrm>
            <a:off x="9811512" y="3726180"/>
            <a:ext cx="1618488" cy="35890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No label variation across five repeats</a:t>
            </a:r>
            <a:endParaRPr lang="en-US" sz="1020" dirty="0"/>
          </a:p>
        </p:txBody>
      </p:sp>
      <p:sp>
        <p:nvSpPr>
          <p:cNvPr id="68" name="Shape 66"/>
          <p:cNvSpPr/>
          <p:nvPr/>
        </p:nvSpPr>
        <p:spPr>
          <a:xfrm>
            <a:off x="7132320" y="4103370"/>
            <a:ext cx="434340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7159752" y="4149090"/>
            <a:ext cx="1069848" cy="35890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OpenAI</a:t>
            </a:r>
            <a:endParaRPr lang="en-US" sz="1020" dirty="0"/>
          </a:p>
        </p:txBody>
      </p:sp>
      <p:sp>
        <p:nvSpPr>
          <p:cNvPr id="70" name="Text 68"/>
          <p:cNvSpPr/>
          <p:nvPr/>
        </p:nvSpPr>
        <p:spPr>
          <a:xfrm>
            <a:off x="8302752" y="4149090"/>
            <a:ext cx="1435608" cy="35890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96.2%</a:t>
            </a:r>
            <a:endParaRPr lang="en-US" sz="1020" dirty="0"/>
          </a:p>
        </p:txBody>
      </p:sp>
      <p:sp>
        <p:nvSpPr>
          <p:cNvPr id="71" name="Text 69"/>
          <p:cNvSpPr/>
          <p:nvPr/>
        </p:nvSpPr>
        <p:spPr>
          <a:xfrm>
            <a:off x="9811512" y="4149090"/>
            <a:ext cx="1618488" cy="35890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Small run-to-run variation</a:t>
            </a:r>
            <a:endParaRPr lang="en-US" sz="1020" dirty="0"/>
          </a:p>
        </p:txBody>
      </p:sp>
      <p:sp>
        <p:nvSpPr>
          <p:cNvPr id="72" name="Shape 70"/>
          <p:cNvSpPr/>
          <p:nvPr/>
        </p:nvSpPr>
        <p:spPr>
          <a:xfrm>
            <a:off x="7132320" y="4526280"/>
            <a:ext cx="434340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7132320" y="4773167"/>
            <a:ext cx="4343400" cy="1193291"/>
          </a:xfrm>
          <a:prstGeom prst="roundRect">
            <a:avLst>
              <a:gd name="adj" fmla="val 10256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7132320" y="4773168"/>
            <a:ext cx="73152" cy="713232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7333488" y="4901184"/>
            <a:ext cx="40233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What changed methodologically</a:t>
            </a:r>
            <a:endParaRPr lang="en-US" sz="1400" dirty="0"/>
          </a:p>
        </p:txBody>
      </p:sp>
      <p:sp>
        <p:nvSpPr>
          <p:cNvPr id="76" name="Text 74"/>
          <p:cNvSpPr/>
          <p:nvPr/>
        </p:nvSpPr>
        <p:spPr>
          <a:xfrm>
            <a:off x="7333488" y="5387273"/>
            <a:ext cx="399592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Seeds now control row order, repeats, logging, and reproducibility metadata. For hosted models, reproducibility is documented through frozen prompts, hashes, raw responses, and repeated-trial stability rather than assuming perfect determinism.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548640" y="6437376"/>
            <a:ext cx="8961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Stability run used seeds 17, 43, 101, 211, and 307 on the provisional finalist.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1147572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E6673"/>
                </a:solidFill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384048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Majority vote became a tiered review signal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832104"/>
            <a:ext cx="10515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Instead of forcing a single label, provider disagreement is now converted into review priority.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68680" y="141732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E8F5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73152" cy="8686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88136" y="1521562"/>
            <a:ext cx="1545336" cy="3300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</a:rPr>
              <a:t>7 rows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88136" y="1938528"/>
            <a:ext cx="1545336" cy="24323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5E6673"/>
                </a:solidFill>
              </a:rPr>
              <a:t>Tier 1: 3 Yes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2971800" y="141732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EA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71800" y="1417320"/>
            <a:ext cx="73152" cy="86868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91256" y="1521562"/>
            <a:ext cx="1545336" cy="3300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</a:rPr>
              <a:t>3 rows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191256" y="1938528"/>
            <a:ext cx="1545336" cy="24323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5E6673"/>
                </a:solidFill>
              </a:rPr>
              <a:t>Tier 2: 2 Yes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868680" y="251460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FFF2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68680" y="2514600"/>
            <a:ext cx="73152" cy="868680"/>
          </a:xfrm>
          <a:prstGeom prst="rect">
            <a:avLst/>
          </a:prstGeom>
          <a:solidFill>
            <a:srgbClr val="E8842A"/>
          </a:solidFill>
          <a:ln w="12700">
            <a:solidFill>
              <a:srgbClr val="E88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88136" y="2618842"/>
            <a:ext cx="1545336" cy="3300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</a:rPr>
              <a:t>10 rows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088136" y="3035808"/>
            <a:ext cx="1545336" cy="24323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5E6673"/>
                </a:solidFill>
              </a:rPr>
              <a:t>Tier 3: 1 Yes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2971800" y="251460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F3F6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971800" y="2514600"/>
            <a:ext cx="73152" cy="868680"/>
          </a:xfrm>
          <a:prstGeom prst="rect">
            <a:avLst/>
          </a:prstGeom>
          <a:solidFill>
            <a:srgbClr val="5E6673"/>
          </a:solidFill>
          <a:ln w="12700">
            <a:solidFill>
              <a:srgbClr val="5E66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191256" y="2618842"/>
            <a:ext cx="1545336" cy="3300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</a:rPr>
              <a:t>22 rows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3191256" y="3035808"/>
            <a:ext cx="1545336" cy="24323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5E6673"/>
                </a:solidFill>
              </a:rPr>
              <a:t>Tier 4: 0 Yes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5806440" y="1417320"/>
            <a:ext cx="5394960" cy="0"/>
          </a:xfrm>
          <a:prstGeom prst="line">
            <a:avLst/>
          </a:prstGeom>
          <a:noFill/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833872" y="1463040"/>
            <a:ext cx="93268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B1F3A"/>
                </a:solidFill>
              </a:rPr>
              <a:t>Tier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6839712" y="1463040"/>
            <a:ext cx="175564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B1F3A"/>
                </a:solidFill>
              </a:rPr>
              <a:t>Rule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8668512" y="1463040"/>
            <a:ext cx="248716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B1F3A"/>
                </a:solidFill>
              </a:rPr>
              <a:t>Use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5806440" y="1901952"/>
            <a:ext cx="5394960" cy="0"/>
          </a:xfrm>
          <a:prstGeom prst="line">
            <a:avLst/>
          </a:prstGeom>
          <a:noFill/>
          <a:ln w="1524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833872" y="1947672"/>
            <a:ext cx="93268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Tier 1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6839712" y="1947672"/>
            <a:ext cx="175564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3 providers say Yes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8668512" y="1947672"/>
            <a:ext cx="248716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Strong unlearning candidate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5806440" y="2386584"/>
            <a:ext cx="539496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833872" y="2432304"/>
            <a:ext cx="93268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Tier 2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6839712" y="2432304"/>
            <a:ext cx="175564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2 providers say Yes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8668512" y="2432304"/>
            <a:ext cx="248716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Likely positive; review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5806440" y="2871216"/>
            <a:ext cx="539496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833872" y="2916936"/>
            <a:ext cx="93268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Tier 3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6839712" y="2916936"/>
            <a:ext cx="175564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1 provider says Yes</a:t>
            </a:r>
            <a:endParaRPr lang="en-US" sz="1020" dirty="0"/>
          </a:p>
        </p:txBody>
      </p:sp>
      <p:sp>
        <p:nvSpPr>
          <p:cNvPr id="36" name="Text 34"/>
          <p:cNvSpPr/>
          <p:nvPr/>
        </p:nvSpPr>
        <p:spPr>
          <a:xfrm>
            <a:off x="8668512" y="2916936"/>
            <a:ext cx="248716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Priority review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5806440" y="3355848"/>
            <a:ext cx="539496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833872" y="3401568"/>
            <a:ext cx="93268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Tier 4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6839712" y="3401568"/>
            <a:ext cx="175564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0 providers say Yes</a:t>
            </a:r>
            <a:endParaRPr lang="en-US" sz="1020" dirty="0"/>
          </a:p>
        </p:txBody>
      </p:sp>
      <p:sp>
        <p:nvSpPr>
          <p:cNvPr id="40" name="Text 38"/>
          <p:cNvSpPr/>
          <p:nvPr/>
        </p:nvSpPr>
        <p:spPr>
          <a:xfrm>
            <a:off x="8668512" y="3401568"/>
            <a:ext cx="248716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Likely negative; sample audit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5806440" y="3840480"/>
            <a:ext cx="539496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806440" y="4160519"/>
            <a:ext cx="5394960" cy="795527"/>
          </a:xfrm>
          <a:prstGeom prst="roundRect">
            <a:avLst>
              <a:gd name="adj" fmla="val 11111"/>
            </a:avLst>
          </a:prstGeom>
          <a:solidFill>
            <a:srgbClr val="F0EEFF"/>
          </a:solidFill>
          <a:ln w="12700">
            <a:solidFill>
              <a:srgbClr val="F0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806440" y="4160520"/>
            <a:ext cx="54864" cy="795526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007608" y="4288536"/>
            <a:ext cx="5074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Stability finding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007608" y="4599432"/>
            <a:ext cx="5047488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39 of 42 rows kept the same tier across repeated runs; 3 rows changed tier and should be reviewed before final claims.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48640" y="6437376"/>
            <a:ext cx="8961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 distribution from five-repeat stability analysis of the provisional finalist.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147572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E6673"/>
                </a:solidFill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384048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takeaways for this week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832104"/>
            <a:ext cx="10515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moved from isolated benchmark scores toward an auditable review workflow.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132588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E8F5F0"/>
          </a:solidFill>
          <a:ln w="12700">
            <a:solidFill>
              <a:srgbClr val="E8F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73152" cy="1143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78408" y="1453896"/>
            <a:ext cx="30632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1. Benchmark is cleaner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78408" y="1764792"/>
            <a:ext cx="3035808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11827"/>
                </a:solidFill>
              </a:rPr>
              <a:t>The evaluation set was reduced from 49 to 42 context-complete rows after duplicate/leakage controls.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4434840" y="132588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2E5"/>
          </a:solidFill>
          <a:ln w="12700">
            <a:solidFill>
              <a:srgbClr val="FFF2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34840" y="1325880"/>
            <a:ext cx="73152" cy="1143000"/>
          </a:xfrm>
          <a:prstGeom prst="rect">
            <a:avLst/>
          </a:prstGeom>
          <a:solidFill>
            <a:srgbClr val="E8842A"/>
          </a:solidFill>
          <a:ln w="12700">
            <a:solidFill>
              <a:srgbClr val="E88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36008" y="1453896"/>
            <a:ext cx="30632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2. EPA remains the key adjudication case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36008" y="1764792"/>
            <a:ext cx="3035808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11827"/>
                </a:solidFill>
              </a:rPr>
              <a:t>Corrected exact matching identifies 21 EPA rows; many are boundary cases under old/current definitions.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8092440" y="132588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92440" y="1325880"/>
            <a:ext cx="73152" cy="114300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93608" y="1453896"/>
            <a:ext cx="30632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3. Codebook wording matters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93608" y="1764792"/>
            <a:ext cx="3035808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11827"/>
                </a:solidFill>
              </a:rPr>
              <a:t>Old broad definition improves recall but lowers specificity; current strict definition is conservative.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777240" y="292608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0EEFF"/>
          </a:solidFill>
          <a:ln w="12700">
            <a:solidFill>
              <a:srgbClr val="F0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77240" y="2926080"/>
            <a:ext cx="73152" cy="114300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78408" y="3054096"/>
            <a:ext cx="30632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4. Reliability is now measurable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78408" y="3364992"/>
            <a:ext cx="3035808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11827"/>
                </a:solidFill>
              </a:rPr>
              <a:t>Cross-provider agreement, repeated-trial stability, Fleiss κ, Krippendorff α, and tiered review are in the workflow.</a:t>
            </a:r>
            <a:endParaRPr lang="en-US" sz="1280" dirty="0"/>
          </a:p>
        </p:txBody>
      </p:sp>
      <p:sp>
        <p:nvSpPr>
          <p:cNvPr id="21" name="Shape 19"/>
          <p:cNvSpPr/>
          <p:nvPr/>
        </p:nvSpPr>
        <p:spPr>
          <a:xfrm>
            <a:off x="4434840" y="292608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E8F5F0"/>
          </a:solidFill>
          <a:ln w="12700">
            <a:solidFill>
              <a:srgbClr val="E8F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434840" y="2926080"/>
            <a:ext cx="73152" cy="1143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36008" y="3054096"/>
            <a:ext cx="30632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5. Production pilot works as review triage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36008" y="3364992"/>
            <a:ext cx="3035808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11827"/>
                </a:solidFill>
              </a:rPr>
              <a:t>The new document pilot produced verified extraction, multi-provider coding, and reviewable annotation segments.</a:t>
            </a:r>
            <a:endParaRPr lang="en-US" sz="1280" dirty="0"/>
          </a:p>
        </p:txBody>
      </p:sp>
      <p:sp>
        <p:nvSpPr>
          <p:cNvPr id="25" name="Shape 23"/>
          <p:cNvSpPr/>
          <p:nvPr/>
        </p:nvSpPr>
        <p:spPr>
          <a:xfrm>
            <a:off x="8092440" y="292608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EEFE9"/>
          </a:solidFill>
          <a:ln w="12700">
            <a:solidFill>
              <a:srgbClr val="FEEF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092440" y="2926080"/>
            <a:ext cx="73152" cy="11430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293608" y="3054096"/>
            <a:ext cx="30632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6. Final claims still need human labels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93608" y="3364992"/>
            <a:ext cx="3035808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11827"/>
                </a:solidFill>
              </a:rPr>
              <a:t>Old/current/final definition-specific labels are not complete, so current rankings remain provisional.</a:t>
            </a:r>
            <a:endParaRPr lang="en-US" sz="1280" dirty="0"/>
          </a:p>
        </p:txBody>
      </p:sp>
      <p:sp>
        <p:nvSpPr>
          <p:cNvPr id="31" name="Shape 29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8640" y="6437376"/>
            <a:ext cx="8961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rankings are discovery-stage until definition-specific gold labels are complete.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47572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E6673"/>
                </a:solidFill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541A26-3747-CD6D-E56D-0F53DBC2EF74}"/>
              </a:ext>
            </a:extLst>
          </p:cNvPr>
          <p:cNvSpPr txBox="1"/>
          <p:nvPr/>
        </p:nvSpPr>
        <p:spPr>
          <a:xfrm>
            <a:off x="3992411" y="2828835"/>
            <a:ext cx="42071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481038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2364</Words>
  <Application>Microsoft Office PowerPoint</Application>
  <PresentationFormat>Widescreen</PresentationFormat>
  <Paragraphs>495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Unlearning Project — Weekly Update</dc:title>
  <dc:subject>Unlearning Project Weekly Team Meeting Update</dc:subject>
  <dc:creator>OpenAI</dc:creator>
  <cp:lastModifiedBy>User</cp:lastModifiedBy>
  <cp:revision>33</cp:revision>
  <dcterms:created xsi:type="dcterms:W3CDTF">2026-07-24T11:51:09Z</dcterms:created>
  <dcterms:modified xsi:type="dcterms:W3CDTF">2026-07-24T15:35:10Z</dcterms:modified>
</cp:coreProperties>
</file>
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notesSlides/notesSlide4.xml" ContentType="application/vnd.openxmlformats-officedocument.presentationml.notes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96" d="100"/>
          <a:sy n="96" d="100"/>
        </p:scale>
        <p:origin x="48" y="2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Correct Yes predictions</c:v>
                </c:pt>
              </c:strCache>
            </c:strRef>
          </c:tx>
          <c:spPr>
            <a:solidFill>
              <a:srgbClr val="0F766E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Direct only</c:v>
                </c:pt>
                <c:pt idx="1">
                  <c:v>Defs only</c:v>
                </c:pt>
                <c:pt idx="2">
                  <c:v>Defs + ex.</c:v>
                </c:pt>
                <c:pt idx="3">
                  <c:v>Defs + ex. + metadata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</c:v>
                </c:pt>
                <c:pt idx="1">
                  <c:v>3</c:v>
                </c:pt>
                <c:pt idx="2">
                  <c:v>4</c:v>
                </c:pt>
                <c:pt idx="3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2C3-47BD-8AFF-2096F6606F1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1"/>
          <c:min val="0"/>
        </c:scaling>
        <c:delete val="0"/>
        <c:axPos val="l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2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tokens per passage</c:v>
                </c:pt>
              </c:strCache>
            </c:strRef>
          </c:tx>
          <c:spPr>
            <a:solidFill>
              <a:srgbClr val="6D28D9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Direct only</c:v>
                </c:pt>
                <c:pt idx="1">
                  <c:v>Defs only</c:v>
                </c:pt>
                <c:pt idx="2">
                  <c:v>Defs + ex.</c:v>
                </c:pt>
                <c:pt idx="3">
                  <c:v>Defs + ex. + metadata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322</c:v>
                </c:pt>
                <c:pt idx="1">
                  <c:v>2050</c:v>
                </c:pt>
                <c:pt idx="2">
                  <c:v>3073</c:v>
                </c:pt>
                <c:pt idx="3">
                  <c:v>3656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11F-495D-9EA0-EDD58DCA192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cost (milli-USD)</c:v>
                </c:pt>
              </c:strCache>
            </c:strRef>
          </c:tx>
          <c:spPr>
            <a:solidFill>
              <a:srgbClr val="0F766E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Direct only</c:v>
                </c:pt>
                <c:pt idx="1">
                  <c:v>Defs only</c:v>
                </c:pt>
                <c:pt idx="2">
                  <c:v>Defs + ex.</c:v>
                </c:pt>
                <c:pt idx="3">
                  <c:v>Defs + ex. + metadata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1.262</c:v>
                </c:pt>
                <c:pt idx="1">
                  <c:v>5.19</c:v>
                </c:pt>
                <c:pt idx="2">
                  <c:v>7.4450000000000003</c:v>
                </c:pt>
                <c:pt idx="3">
                  <c:v>8.6999999999999993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2A3-4A39-9C94-5B3E0E6E588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373637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file contains OpenAI-only results, not Claude or Gemini. Treat this as an initial prompt-comparison presentation, not the full cross-LLM study.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frames the experiment. The no-context variant is deliberately short; the later variants progressively add codebook and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key message is that context helps, but the model is still conservative about labeling these passages as unlearning.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supports the cost-performance decision: metadata increased token usage but did not improve accuracy in this small run.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most useful slide for qualitative review with the research team. It shows that context did not uniformly solve the issue.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IN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02920" y="6446520"/>
            <a:ext cx="11155680" cy="0"/>
          </a:xfrm>
          <a:prstGeom prst="line">
            <a:avLst/>
          </a:prstGeom>
          <a:noFill/>
          <a:ln w="762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458200" y="502920"/>
            <a:ext cx="2971800" cy="2971800"/>
          </a:xfrm>
          <a:prstGeom prst="ellipse">
            <a:avLst/>
          </a:prstGeom>
          <a:solidFill>
            <a:srgbClr val="0B1220">
              <a:alpha val="0"/>
            </a:srgbClr>
          </a:solidFill>
          <a:ln w="21590">
            <a:solidFill>
              <a:srgbClr val="1E293B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001000" y="3794760"/>
            <a:ext cx="2423160" cy="2423160"/>
          </a:xfrm>
          <a:prstGeom prst="ellipse">
            <a:avLst/>
          </a:prstGeom>
          <a:solidFill>
            <a:srgbClr val="0B1220">
              <a:alpha val="0"/>
            </a:srgbClr>
          </a:solidFill>
          <a:ln w="16510">
            <a:solidFill>
              <a:srgbClr val="0F766E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77240" y="1325880"/>
            <a:ext cx="64008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Unlearning Prompt</a:t>
            </a:r>
            <a:endParaRPr lang="en-US" sz="4200" dirty="0"/>
          </a:p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A/B Test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804672" y="2816352"/>
            <a:ext cx="6492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BD5E1"/>
                </a:solidFill>
              </a:rPr>
              <a:t>Initial model-results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04672" y="3401568"/>
            <a:ext cx="3657600" cy="0"/>
          </a:xfrm>
          <a:prstGeom prst="line">
            <a:avLst/>
          </a:prstGeom>
          <a:noFill/>
          <a:ln w="381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04672" y="370332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CFBF1"/>
                </a:solidFill>
              </a:rPr>
              <a:t>OPENAI / gpt-5.4-nano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04672" y="4041648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</a:rPr>
              <a:t>11 test passages · 4 prompt variants · 44 model calls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2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this run tested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12648" y="84124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Four prompt variants were compared on the same 11 GPT Test passages.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685800" y="1417320"/>
            <a:ext cx="214884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50392" y="1563624"/>
            <a:ext cx="18196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F766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44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850392" y="1984248"/>
            <a:ext cx="18196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successful prediction rows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3063240" y="1417320"/>
            <a:ext cx="214884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227832" y="1563624"/>
            <a:ext cx="18196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6D28D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11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3227832" y="1984248"/>
            <a:ext cx="18196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unique test passages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440680" y="1417320"/>
            <a:ext cx="214884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605272" y="1563624"/>
            <a:ext cx="18196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B4530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5605272" y="1984248"/>
            <a:ext cx="18196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prompt variants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7818120" y="1417320"/>
            <a:ext cx="214884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982712" y="1563624"/>
            <a:ext cx="18196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33415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100.1k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7982712" y="1984248"/>
            <a:ext cx="18196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tokens consumed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10195560" y="1417320"/>
            <a:ext cx="141732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0360152" y="1563624"/>
            <a:ext cx="10881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F766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$0.0226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10360152" y="1984248"/>
            <a:ext cx="10881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total estimated cost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85800" y="2880360"/>
            <a:ext cx="20116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F766E"/>
                </a:solidFill>
              </a:rPr>
              <a:t>PROMPT LADDER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713232" y="3246120"/>
            <a:ext cx="233172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850392" y="3401568"/>
            <a:ext cx="347472" cy="329184"/>
          </a:xfrm>
          <a:prstGeom prst="rect">
            <a:avLst/>
          </a:prstGeom>
          <a:solidFill>
            <a:srgbClr val="0F766E"/>
          </a:solidFill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280160" y="33832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0B1220"/>
                </a:solidFill>
              </a:rPr>
              <a:t>Direct only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77824" y="3950208"/>
            <a:ext cx="1975104" cy="5029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No definitions or examples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502152" y="3246120"/>
            <a:ext cx="233172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639312" y="3401568"/>
            <a:ext cx="347472" cy="329184"/>
          </a:xfrm>
          <a:prstGeom prst="rect">
            <a:avLst/>
          </a:prstGeom>
          <a:solidFill>
            <a:srgbClr val="0F766E"/>
          </a:solidFill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4069080" y="33832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0B1220"/>
                </a:solidFill>
              </a:rPr>
              <a:t>Definitions only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666744" y="3950208"/>
            <a:ext cx="1975104" cy="5029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Codebook context added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291072" y="3246120"/>
            <a:ext cx="233172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6428232" y="3401568"/>
            <a:ext cx="347472" cy="329184"/>
          </a:xfrm>
          <a:prstGeom prst="rect">
            <a:avLst/>
          </a:prstGeom>
          <a:solidFill>
            <a:srgbClr val="0F766E"/>
          </a:solidFill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6858000" y="33832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0B1220"/>
                </a:solidFill>
              </a:rPr>
              <a:t>Definitions + examples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455664" y="3950208"/>
            <a:ext cx="1975104" cy="5029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Examples include only text + Unlearning label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9079992" y="3246120"/>
            <a:ext cx="233172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9217152" y="3401568"/>
            <a:ext cx="347472" cy="329184"/>
          </a:xfrm>
          <a:prstGeom prst="rect">
            <a:avLst/>
          </a:prstGeom>
          <a:solidFill>
            <a:srgbClr val="0F766E"/>
          </a:solidFill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4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9646920" y="33832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0B1220"/>
                </a:solidFill>
              </a:rPr>
              <a:t>Definitions + examples + metadata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9244584" y="3950208"/>
            <a:ext cx="1975104" cy="5029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Examples include rationale/source/codes metadata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685800" y="5486400"/>
            <a:ext cx="1069848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B91C1C"/>
                </a:solidFill>
              </a:rPr>
              <a:t>Important limitation: because every ground-truth label in this file is Yes, accuracy here should be read as recall on the Unlearning class.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594360" y="6510528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Useful for judging prompt sensitivity, but a balanced test set is still needed before reporting precision or specificity.</a:t>
            </a:r>
            <a:endParaRPr lang="en-US" sz="850" dirty="0"/>
          </a:p>
        </p:txBody>
      </p:sp>
      <p:sp>
        <p:nvSpPr>
          <p:cNvPr id="3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2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Examples improved Unlearning recall, but performance remained low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12648" y="84124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All 11 ground-truth labels are Yes, so accuracy equals the share of passages predicted Yes.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8595360" y="1417320"/>
            <a:ext cx="1371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F766E"/>
                </a:solidFill>
              </a:rPr>
              <a:t>KEY READING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8595360" y="1783080"/>
            <a:ext cx="274320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B1220"/>
                </a:solidFill>
              </a:rPr>
              <a:t>Direct prompt almost always missed Unlearning.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8595360" y="2423160"/>
            <a:ext cx="278892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334155"/>
                </a:solidFill>
              </a:rPr>
              <a:t>Adding definitions raised recall from 9.1% to 27.3%. Adding examples raised it to 36.4%. Metadata did not improve accuracy in this small file.</a:t>
            </a:r>
            <a:endParaRPr lang="en-US" sz="1320" dirty="0"/>
          </a:p>
        </p:txBody>
      </p:sp>
      <p:sp>
        <p:nvSpPr>
          <p:cNvPr id="8" name="Shape 5"/>
          <p:cNvSpPr/>
          <p:nvPr/>
        </p:nvSpPr>
        <p:spPr>
          <a:xfrm>
            <a:off x="8595360" y="3977640"/>
            <a:ext cx="26060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8595360" y="422452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4748B"/>
                </a:solidFill>
              </a:rPr>
              <a:t>Best observed variant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8595360" y="4507992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0F766E"/>
                </a:solidFill>
              </a:rPr>
              <a:t>Definitions + examples</a:t>
            </a:r>
            <a:endParaRPr lang="en-US" sz="1800" dirty="0"/>
          </a:p>
          <a:p>
            <a:pPr marL="0" indent="0">
              <a:buNone/>
            </a:pPr>
            <a:r>
              <a:rPr lang="en-US" sz="1800" b="1" dirty="0">
                <a:solidFill>
                  <a:srgbClr val="0F766E"/>
                </a:solidFill>
              </a:rPr>
              <a:t>with or without metadata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8595360" y="528523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220"/>
                </a:solidFill>
              </a:rPr>
              <a:t>4 / 11 correct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594360" y="6510528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Accuracy is constrained by the single-class ground truth in this file; future test sheets should include both Yes and No labels.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  <p:graphicFrame>
        <p:nvGraphicFramePr>
          <p:cNvPr id="14" name="Chart 0">
            <a:extLst>
              <a:ext uri="{FF2B5EF4-FFF2-40B4-BE49-F238E27FC236}">
                <a16:creationId xmlns:a16="http://schemas.microsoft.com/office/drawing/2014/main" id="{7A5A3B4C-EDBA-3C5E-BCF5-7B1D145F494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1954018"/>
              </p:ext>
            </p:extLst>
          </p:nvPr>
        </p:nvGraphicFramePr>
        <p:xfrm>
          <a:off x="594359" y="1115103"/>
          <a:ext cx="7429831" cy="446273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2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More context cost more tokens, with limited marginal gain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12648" y="84124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metadata prompt was the most expensive but tied the no-metadata examples prompt on accuracy.</a:t>
            </a:r>
            <a:endParaRPr lang="en-US" sz="105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640080" y="1417320"/>
          <a:ext cx="5166360" cy="411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" name="Chart 1"/>
          <p:cNvGraphicFramePr/>
          <p:nvPr/>
        </p:nvGraphicFramePr>
        <p:xfrm>
          <a:off x="6263640" y="1417320"/>
          <a:ext cx="5166360" cy="411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6" name="Text 2"/>
          <p:cNvSpPr/>
          <p:nvPr/>
        </p:nvSpPr>
        <p:spPr>
          <a:xfrm>
            <a:off x="713232" y="5596128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220"/>
                </a:solidFill>
              </a:rPr>
              <a:t>Avg tokens per passage</a:t>
            </a:r>
            <a:endParaRPr lang="en-US" sz="1100" dirty="0"/>
          </a:p>
        </p:txBody>
      </p:sp>
      <p:sp>
        <p:nvSpPr>
          <p:cNvPr id="7" name="Text 3"/>
          <p:cNvSpPr/>
          <p:nvPr/>
        </p:nvSpPr>
        <p:spPr>
          <a:xfrm>
            <a:off x="6336792" y="559612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220"/>
                </a:solidFill>
              </a:rPr>
              <a:t>Total cost by variant, shown in milli-dollars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594360" y="6510528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Total run: 100,100 tokens and $0.0226 estimated OpenAI cost.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2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Which passages were recovered by each prompt?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12648" y="84124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Green cells are predicted Yes and therefore correct in this file; red cells are missed Unlearning labels.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66928" y="1335024"/>
            <a:ext cx="694944" cy="310896"/>
          </a:xfrm>
          <a:prstGeom prst="rect">
            <a:avLst/>
          </a:prstGeom>
          <a:solidFill>
            <a:srgbClr val="0B1220"/>
          </a:solidFill>
          <a:ln w="762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94360" y="1389888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FFFFFF"/>
                </a:solidFill>
              </a:rPr>
              <a:t>Row</a:t>
            </a:r>
            <a:endParaRPr lang="en-US" sz="730" dirty="0"/>
          </a:p>
        </p:txBody>
      </p:sp>
      <p:sp>
        <p:nvSpPr>
          <p:cNvPr id="6" name="Shape 4"/>
          <p:cNvSpPr/>
          <p:nvPr/>
        </p:nvSpPr>
        <p:spPr>
          <a:xfrm>
            <a:off x="1261872" y="1335024"/>
            <a:ext cx="676656" cy="310896"/>
          </a:xfrm>
          <a:prstGeom prst="rect">
            <a:avLst/>
          </a:prstGeom>
          <a:solidFill>
            <a:srgbClr val="0B1220"/>
          </a:solidFill>
          <a:ln w="762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289304" y="1389888"/>
            <a:ext cx="6217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FFFFFF"/>
                </a:solidFill>
              </a:rPr>
              <a:t>Direct</a:t>
            </a:r>
            <a:endParaRPr lang="en-US" sz="730" dirty="0"/>
          </a:p>
        </p:txBody>
      </p:sp>
      <p:sp>
        <p:nvSpPr>
          <p:cNvPr id="8" name="Shape 6"/>
          <p:cNvSpPr/>
          <p:nvPr/>
        </p:nvSpPr>
        <p:spPr>
          <a:xfrm>
            <a:off x="1938528" y="1335024"/>
            <a:ext cx="676656" cy="310896"/>
          </a:xfrm>
          <a:prstGeom prst="rect">
            <a:avLst/>
          </a:prstGeom>
          <a:solidFill>
            <a:srgbClr val="0B1220"/>
          </a:solidFill>
          <a:ln w="762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965960" y="1389888"/>
            <a:ext cx="6217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FFFFFF"/>
                </a:solidFill>
              </a:rPr>
              <a:t>Defs</a:t>
            </a:r>
            <a:endParaRPr lang="en-US" sz="730" dirty="0"/>
          </a:p>
        </p:txBody>
      </p:sp>
      <p:sp>
        <p:nvSpPr>
          <p:cNvPr id="10" name="Shape 8"/>
          <p:cNvSpPr/>
          <p:nvPr/>
        </p:nvSpPr>
        <p:spPr>
          <a:xfrm>
            <a:off x="2615184" y="1335024"/>
            <a:ext cx="932688" cy="310896"/>
          </a:xfrm>
          <a:prstGeom prst="rect">
            <a:avLst/>
          </a:prstGeom>
          <a:solidFill>
            <a:srgbClr val="0B1220"/>
          </a:solidFill>
          <a:ln w="762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642616" y="1389888"/>
            <a:ext cx="8778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FFFFFF"/>
                </a:solidFill>
              </a:rPr>
              <a:t>Defs + ex.</a:t>
            </a:r>
            <a:endParaRPr lang="en-US" sz="730" dirty="0"/>
          </a:p>
        </p:txBody>
      </p:sp>
      <p:sp>
        <p:nvSpPr>
          <p:cNvPr id="12" name="Shape 10"/>
          <p:cNvSpPr/>
          <p:nvPr/>
        </p:nvSpPr>
        <p:spPr>
          <a:xfrm>
            <a:off x="3547872" y="1335024"/>
            <a:ext cx="1225296" cy="310896"/>
          </a:xfrm>
          <a:prstGeom prst="rect">
            <a:avLst/>
          </a:prstGeom>
          <a:solidFill>
            <a:srgbClr val="0B1220"/>
          </a:solidFill>
          <a:ln w="762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575304" y="1389888"/>
            <a:ext cx="11704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FFFFFF"/>
                </a:solidFill>
              </a:rPr>
              <a:t>Defs + ex. + meta</a:t>
            </a:r>
            <a:endParaRPr lang="en-US" sz="730" dirty="0"/>
          </a:p>
        </p:txBody>
      </p:sp>
      <p:sp>
        <p:nvSpPr>
          <p:cNvPr id="14" name="Shape 12"/>
          <p:cNvSpPr/>
          <p:nvPr/>
        </p:nvSpPr>
        <p:spPr>
          <a:xfrm>
            <a:off x="4773168" y="1335024"/>
            <a:ext cx="6812280" cy="310896"/>
          </a:xfrm>
          <a:prstGeom prst="rect">
            <a:avLst/>
          </a:prstGeom>
          <a:solidFill>
            <a:srgbClr val="0B1220"/>
          </a:solidFill>
          <a:ln w="762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800600" y="1389888"/>
            <a:ext cx="67574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30" b="1" dirty="0">
                <a:solidFill>
                  <a:srgbClr val="FFFFFF"/>
                </a:solidFill>
              </a:rPr>
              <a:t>Snippet</a:t>
            </a:r>
            <a:endParaRPr lang="en-US" sz="730" dirty="0"/>
          </a:p>
        </p:txBody>
      </p:sp>
      <p:sp>
        <p:nvSpPr>
          <p:cNvPr id="16" name="Shape 14"/>
          <p:cNvSpPr/>
          <p:nvPr/>
        </p:nvSpPr>
        <p:spPr>
          <a:xfrm>
            <a:off x="566928" y="1645920"/>
            <a:ext cx="694944" cy="347472"/>
          </a:xfrm>
          <a:prstGeom prst="rect">
            <a:avLst/>
          </a:prstGeom>
          <a:solidFill>
            <a:srgbClr val="F1F5F9"/>
          </a:solidFill>
          <a:ln w="762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94360" y="1719072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10" b="1" dirty="0">
                <a:solidFill>
                  <a:srgbClr val="0B1220"/>
                </a:solidFill>
              </a:rPr>
              <a:t>14:2</a:t>
            </a:r>
            <a:endParaRPr lang="en-US" sz="710" dirty="0"/>
          </a:p>
        </p:txBody>
      </p:sp>
      <p:sp>
        <p:nvSpPr>
          <p:cNvPr id="18" name="Shape 16"/>
          <p:cNvSpPr/>
          <p:nvPr/>
        </p:nvSpPr>
        <p:spPr>
          <a:xfrm>
            <a:off x="1261872" y="1645920"/>
            <a:ext cx="676656" cy="347472"/>
          </a:xfrm>
          <a:prstGeom prst="rect">
            <a:avLst/>
          </a:prstGeom>
          <a:solidFill>
            <a:srgbClr val="FEE2E2"/>
          </a:solidFill>
          <a:ln w="762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1289304" y="1719072"/>
            <a:ext cx="6217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10" b="1" dirty="0">
                <a:solidFill>
                  <a:srgbClr val="B91C1C"/>
                </a:solidFill>
              </a:rPr>
              <a:t>No</a:t>
            </a:r>
            <a:endParaRPr lang="en-US" sz="710" dirty="0"/>
          </a:p>
        </p:txBody>
      </p:sp>
      <p:sp>
        <p:nvSpPr>
          <p:cNvPr id="20" name="Shape 18"/>
          <p:cNvSpPr/>
          <p:nvPr/>
        </p:nvSpPr>
        <p:spPr>
          <a:xfrm>
            <a:off x="1938528" y="1645920"/>
            <a:ext cx="676656" cy="347472"/>
          </a:xfrm>
          <a:prstGeom prst="rect">
            <a:avLst/>
          </a:prstGeom>
          <a:solidFill>
            <a:srgbClr val="CCFBF1"/>
          </a:solidFill>
          <a:ln w="762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1965960" y="1719072"/>
            <a:ext cx="6217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10" b="1" dirty="0">
                <a:solidFill>
                  <a:srgbClr val="0F766E"/>
                </a:solidFill>
              </a:rPr>
              <a:t>Yes</a:t>
            </a:r>
            <a:endParaRPr lang="en-US" sz="710" dirty="0"/>
          </a:p>
        </p:txBody>
      </p:sp>
      <p:sp>
        <p:nvSpPr>
          <p:cNvPr id="22" name="Shape 20"/>
          <p:cNvSpPr/>
          <p:nvPr/>
        </p:nvSpPr>
        <p:spPr>
          <a:xfrm>
            <a:off x="2615184" y="1645920"/>
            <a:ext cx="932688" cy="347472"/>
          </a:xfrm>
          <a:prstGeom prst="rect">
            <a:avLst/>
          </a:prstGeom>
          <a:solidFill>
            <a:srgbClr val="CCFBF1"/>
          </a:solidFill>
          <a:ln w="762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2642616" y="1719072"/>
            <a:ext cx="8778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10" b="1" dirty="0">
                <a:solidFill>
                  <a:srgbClr val="0F766E"/>
                </a:solidFill>
              </a:rPr>
              <a:t>Yes</a:t>
            </a:r>
            <a:endParaRPr lang="en-US" sz="710" dirty="0"/>
          </a:p>
        </p:txBody>
      </p:sp>
      <p:sp>
        <p:nvSpPr>
          <p:cNvPr id="24" name="Shape 22"/>
          <p:cNvSpPr/>
          <p:nvPr/>
        </p:nvSpPr>
        <p:spPr>
          <a:xfrm>
            <a:off x="3547872" y="1645920"/>
            <a:ext cx="1225296" cy="347472"/>
          </a:xfrm>
          <a:prstGeom prst="rect">
            <a:avLst/>
          </a:prstGeom>
          <a:solidFill>
            <a:srgbClr val="CCFBF1"/>
          </a:solidFill>
          <a:ln w="762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575304" y="1719072"/>
            <a:ext cx="11704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10" b="1" dirty="0">
                <a:solidFill>
                  <a:srgbClr val="0F766E"/>
                </a:solidFill>
              </a:rPr>
              <a:t>Yes</a:t>
            </a:r>
            <a:endParaRPr lang="en-US" sz="710" dirty="0"/>
          </a:p>
        </p:txBody>
      </p:sp>
      <p:sp>
        <p:nvSpPr>
          <p:cNvPr id="26" name="Shape 24"/>
          <p:cNvSpPr/>
          <p:nvPr/>
        </p:nvSpPr>
        <p:spPr>
          <a:xfrm>
            <a:off x="4773168" y="1645920"/>
            <a:ext cx="6812280" cy="347472"/>
          </a:xfrm>
          <a:prstGeom prst="rect">
            <a:avLst/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818888" y="1691640"/>
            <a:ext cx="6720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60" dirty="0">
                <a:solidFill>
                  <a:srgbClr val="334155"/>
                </a:solidFill>
              </a:rPr>
              <a:t>Because of FEMA’s mission performance during Hurricane Katrina, concerns have been raised ...</a:t>
            </a:r>
            <a:endParaRPr lang="en-US" sz="660" dirty="0"/>
          </a:p>
        </p:txBody>
      </p:sp>
      <p:sp>
        <p:nvSpPr>
          <p:cNvPr id="28" name="Shape 26"/>
          <p:cNvSpPr/>
          <p:nvPr/>
        </p:nvSpPr>
        <p:spPr>
          <a:xfrm>
            <a:off x="566928" y="1993392"/>
            <a:ext cx="694944" cy="347472"/>
          </a:xfrm>
          <a:prstGeom prst="rect">
            <a:avLst/>
          </a:prstGeom>
          <a:solidFill>
            <a:srgbClr val="F1F5F9"/>
          </a:solidFill>
          <a:ln w="762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594360" y="2066544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10" b="1" dirty="0">
                <a:solidFill>
                  <a:srgbClr val="0B1220"/>
                </a:solidFill>
              </a:rPr>
              <a:t>14:3</a:t>
            </a:r>
            <a:endParaRPr lang="en-US" sz="710" dirty="0"/>
          </a:p>
        </p:txBody>
      </p:sp>
      <p:sp>
        <p:nvSpPr>
          <p:cNvPr id="30" name="Shape 28"/>
          <p:cNvSpPr/>
          <p:nvPr/>
        </p:nvSpPr>
        <p:spPr>
          <a:xfrm>
            <a:off x="1261872" y="1993392"/>
            <a:ext cx="676656" cy="347472"/>
          </a:xfrm>
          <a:prstGeom prst="rect">
            <a:avLst/>
          </a:prstGeom>
          <a:solidFill>
            <a:srgbClr val="FEE2E2"/>
          </a:solidFill>
          <a:ln w="762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1289304" y="2066544"/>
            <a:ext cx="6217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10" b="1" dirty="0">
                <a:solidFill>
                  <a:srgbClr val="B91C1C"/>
                </a:solidFill>
              </a:rPr>
              <a:t>No</a:t>
            </a:r>
            <a:endParaRPr lang="en-US" sz="710" dirty="0"/>
          </a:p>
        </p:txBody>
      </p:sp>
      <p:sp>
        <p:nvSpPr>
          <p:cNvPr id="32" name="Shape 30"/>
          <p:cNvSpPr/>
          <p:nvPr/>
        </p:nvSpPr>
        <p:spPr>
          <a:xfrm>
            <a:off x="1938528" y="1993392"/>
            <a:ext cx="676656" cy="347472"/>
          </a:xfrm>
          <a:prstGeom prst="rect">
            <a:avLst/>
          </a:prstGeom>
          <a:solidFill>
            <a:srgbClr val="FEE2E2"/>
          </a:solidFill>
          <a:ln w="762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1965960" y="2066544"/>
            <a:ext cx="6217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10" b="1" dirty="0">
                <a:solidFill>
                  <a:srgbClr val="B91C1C"/>
                </a:solidFill>
              </a:rPr>
              <a:t>No</a:t>
            </a:r>
            <a:endParaRPr lang="en-US" sz="710" dirty="0"/>
          </a:p>
        </p:txBody>
      </p:sp>
      <p:sp>
        <p:nvSpPr>
          <p:cNvPr id="34" name="Shape 32"/>
          <p:cNvSpPr/>
          <p:nvPr/>
        </p:nvSpPr>
        <p:spPr>
          <a:xfrm>
            <a:off x="2615184" y="1993392"/>
            <a:ext cx="932688" cy="347472"/>
          </a:xfrm>
          <a:prstGeom prst="rect">
            <a:avLst/>
          </a:prstGeom>
          <a:solidFill>
            <a:srgbClr val="FEE2E2"/>
          </a:solidFill>
          <a:ln w="762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2642616" y="2066544"/>
            <a:ext cx="8778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10" b="1" dirty="0">
                <a:solidFill>
                  <a:srgbClr val="B91C1C"/>
                </a:solidFill>
              </a:rPr>
              <a:t>No</a:t>
            </a:r>
            <a:endParaRPr lang="en-US" sz="710" dirty="0"/>
          </a:p>
        </p:txBody>
      </p:sp>
      <p:sp>
        <p:nvSpPr>
          <p:cNvPr id="36" name="Shape 34"/>
          <p:cNvSpPr/>
          <p:nvPr/>
        </p:nvSpPr>
        <p:spPr>
          <a:xfrm>
            <a:off x="3547872" y="1993392"/>
            <a:ext cx="1225296" cy="347472"/>
          </a:xfrm>
          <a:prstGeom prst="rect">
            <a:avLst/>
          </a:prstGeom>
          <a:solidFill>
            <a:srgbClr val="FEE2E2"/>
          </a:solidFill>
          <a:ln w="762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3575304" y="2066544"/>
            <a:ext cx="11704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10" b="1" dirty="0">
                <a:solidFill>
                  <a:srgbClr val="B91C1C"/>
                </a:solidFill>
              </a:rPr>
              <a:t>No</a:t>
            </a:r>
            <a:endParaRPr lang="en-US" sz="710" dirty="0"/>
          </a:p>
        </p:txBody>
      </p:sp>
      <p:sp>
        <p:nvSpPr>
          <p:cNvPr id="38" name="Shape 36"/>
          <p:cNvSpPr/>
          <p:nvPr/>
        </p:nvSpPr>
        <p:spPr>
          <a:xfrm>
            <a:off x="4773168" y="1993392"/>
            <a:ext cx="6812280" cy="347472"/>
          </a:xfrm>
          <a:prstGeom prst="rect">
            <a:avLst/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4818888" y="2039112"/>
            <a:ext cx="6720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60" dirty="0">
                <a:solidFill>
                  <a:srgbClr val="334155"/>
                </a:solidFill>
              </a:rPr>
              <a:t>In addition, we have done a great deal of work on prior disasters. In 1993, we conducted s...</a:t>
            </a:r>
            <a:endParaRPr lang="en-US" sz="660" dirty="0"/>
          </a:p>
        </p:txBody>
      </p:sp>
      <p:sp>
        <p:nvSpPr>
          <p:cNvPr id="40" name="Shape 38"/>
          <p:cNvSpPr/>
          <p:nvPr/>
        </p:nvSpPr>
        <p:spPr>
          <a:xfrm>
            <a:off x="566928" y="2340864"/>
            <a:ext cx="694944" cy="347472"/>
          </a:xfrm>
          <a:prstGeom prst="rect">
            <a:avLst/>
          </a:prstGeom>
          <a:solidFill>
            <a:srgbClr val="F1F5F9"/>
          </a:solidFill>
          <a:ln w="762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594360" y="2414016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10" b="1" dirty="0">
                <a:solidFill>
                  <a:srgbClr val="0B1220"/>
                </a:solidFill>
              </a:rPr>
              <a:t>14:4</a:t>
            </a:r>
            <a:endParaRPr lang="en-US" sz="710" dirty="0"/>
          </a:p>
        </p:txBody>
      </p:sp>
      <p:sp>
        <p:nvSpPr>
          <p:cNvPr id="42" name="Shape 40"/>
          <p:cNvSpPr/>
          <p:nvPr/>
        </p:nvSpPr>
        <p:spPr>
          <a:xfrm>
            <a:off x="1261872" y="2340864"/>
            <a:ext cx="676656" cy="347472"/>
          </a:xfrm>
          <a:prstGeom prst="rect">
            <a:avLst/>
          </a:prstGeom>
          <a:solidFill>
            <a:srgbClr val="FEE2E2"/>
          </a:solidFill>
          <a:ln w="762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1289304" y="2414016"/>
            <a:ext cx="6217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10" b="1" dirty="0">
                <a:solidFill>
                  <a:srgbClr val="B91C1C"/>
                </a:solidFill>
              </a:rPr>
              <a:t>No</a:t>
            </a:r>
            <a:endParaRPr lang="en-US" sz="710" dirty="0"/>
          </a:p>
        </p:txBody>
      </p:sp>
      <p:sp>
        <p:nvSpPr>
          <p:cNvPr id="44" name="Shape 42"/>
          <p:cNvSpPr/>
          <p:nvPr/>
        </p:nvSpPr>
        <p:spPr>
          <a:xfrm>
            <a:off x="1938528" y="2340864"/>
            <a:ext cx="676656" cy="347472"/>
          </a:xfrm>
          <a:prstGeom prst="rect">
            <a:avLst/>
          </a:prstGeom>
          <a:solidFill>
            <a:srgbClr val="CCFBF1"/>
          </a:solidFill>
          <a:ln w="762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1965960" y="2414016"/>
            <a:ext cx="6217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10" b="1" dirty="0">
                <a:solidFill>
                  <a:srgbClr val="0F766E"/>
                </a:solidFill>
              </a:rPr>
              <a:t>Yes</a:t>
            </a:r>
            <a:endParaRPr lang="en-US" sz="710" dirty="0"/>
          </a:p>
        </p:txBody>
      </p:sp>
      <p:sp>
        <p:nvSpPr>
          <p:cNvPr id="46" name="Shape 44"/>
          <p:cNvSpPr/>
          <p:nvPr/>
        </p:nvSpPr>
        <p:spPr>
          <a:xfrm>
            <a:off x="2615184" y="2340864"/>
            <a:ext cx="932688" cy="347472"/>
          </a:xfrm>
          <a:prstGeom prst="rect">
            <a:avLst/>
          </a:prstGeom>
          <a:solidFill>
            <a:srgbClr val="CCFBF1"/>
          </a:solidFill>
          <a:ln w="762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2642616" y="2414016"/>
            <a:ext cx="8778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10" b="1" dirty="0">
                <a:solidFill>
                  <a:srgbClr val="0F766E"/>
                </a:solidFill>
              </a:rPr>
              <a:t>Yes</a:t>
            </a:r>
            <a:endParaRPr lang="en-US" sz="710" dirty="0"/>
          </a:p>
        </p:txBody>
      </p:sp>
      <p:sp>
        <p:nvSpPr>
          <p:cNvPr id="48" name="Shape 46"/>
          <p:cNvSpPr/>
          <p:nvPr/>
        </p:nvSpPr>
        <p:spPr>
          <a:xfrm>
            <a:off x="3547872" y="2340864"/>
            <a:ext cx="1225296" cy="347472"/>
          </a:xfrm>
          <a:prstGeom prst="rect">
            <a:avLst/>
          </a:prstGeom>
          <a:solidFill>
            <a:srgbClr val="CCFBF1"/>
          </a:solidFill>
          <a:ln w="762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3575304" y="2414016"/>
            <a:ext cx="11704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10" b="1" dirty="0">
                <a:solidFill>
                  <a:srgbClr val="0F766E"/>
                </a:solidFill>
              </a:rPr>
              <a:t>Yes</a:t>
            </a:r>
            <a:endParaRPr lang="en-US" sz="710" dirty="0"/>
          </a:p>
        </p:txBody>
      </p:sp>
      <p:sp>
        <p:nvSpPr>
          <p:cNvPr id="50" name="Shape 48"/>
          <p:cNvSpPr/>
          <p:nvPr/>
        </p:nvSpPr>
        <p:spPr>
          <a:xfrm>
            <a:off x="4773168" y="2340864"/>
            <a:ext cx="6812280" cy="347472"/>
          </a:xfrm>
          <a:prstGeom prst="rect">
            <a:avLst/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4818888" y="2386584"/>
            <a:ext cx="6720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60" dirty="0">
                <a:solidFill>
                  <a:srgbClr val="334155"/>
                </a:solidFill>
              </a:rPr>
              <a:t>Because of FEMA’s mission performance during Hurricane Katrina, concerns have been raised ...</a:t>
            </a:r>
            <a:endParaRPr lang="en-US" sz="660" dirty="0"/>
          </a:p>
        </p:txBody>
      </p:sp>
      <p:sp>
        <p:nvSpPr>
          <p:cNvPr id="52" name="Shape 50"/>
          <p:cNvSpPr/>
          <p:nvPr/>
        </p:nvSpPr>
        <p:spPr>
          <a:xfrm>
            <a:off x="566928" y="2688336"/>
            <a:ext cx="694944" cy="347472"/>
          </a:xfrm>
          <a:prstGeom prst="rect">
            <a:avLst/>
          </a:prstGeom>
          <a:solidFill>
            <a:srgbClr val="F1F5F9"/>
          </a:solidFill>
          <a:ln w="762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594360" y="2761488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10" b="1" dirty="0">
                <a:solidFill>
                  <a:srgbClr val="0B1220"/>
                </a:solidFill>
              </a:rPr>
              <a:t>14:5</a:t>
            </a:r>
            <a:endParaRPr lang="en-US" sz="710" dirty="0"/>
          </a:p>
        </p:txBody>
      </p:sp>
      <p:sp>
        <p:nvSpPr>
          <p:cNvPr id="54" name="Shape 52"/>
          <p:cNvSpPr/>
          <p:nvPr/>
        </p:nvSpPr>
        <p:spPr>
          <a:xfrm>
            <a:off x="1261872" y="2688336"/>
            <a:ext cx="676656" cy="347472"/>
          </a:xfrm>
          <a:prstGeom prst="rect">
            <a:avLst/>
          </a:prstGeom>
          <a:solidFill>
            <a:srgbClr val="FEE2E2"/>
          </a:solidFill>
          <a:ln w="762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1289304" y="2761488"/>
            <a:ext cx="6217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10" b="1" dirty="0">
                <a:solidFill>
                  <a:srgbClr val="B91C1C"/>
                </a:solidFill>
              </a:rPr>
              <a:t>No</a:t>
            </a:r>
            <a:endParaRPr lang="en-US" sz="710" dirty="0"/>
          </a:p>
        </p:txBody>
      </p:sp>
      <p:sp>
        <p:nvSpPr>
          <p:cNvPr id="56" name="Shape 54"/>
          <p:cNvSpPr/>
          <p:nvPr/>
        </p:nvSpPr>
        <p:spPr>
          <a:xfrm>
            <a:off x="1938528" y="2688336"/>
            <a:ext cx="676656" cy="347472"/>
          </a:xfrm>
          <a:prstGeom prst="rect">
            <a:avLst/>
          </a:prstGeom>
          <a:solidFill>
            <a:srgbClr val="FEE2E2"/>
          </a:solidFill>
          <a:ln w="762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1965960" y="2761488"/>
            <a:ext cx="6217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10" b="1" dirty="0">
                <a:solidFill>
                  <a:srgbClr val="B91C1C"/>
                </a:solidFill>
              </a:rPr>
              <a:t>No</a:t>
            </a:r>
            <a:endParaRPr lang="en-US" sz="710" dirty="0"/>
          </a:p>
        </p:txBody>
      </p:sp>
      <p:sp>
        <p:nvSpPr>
          <p:cNvPr id="58" name="Shape 56"/>
          <p:cNvSpPr/>
          <p:nvPr/>
        </p:nvSpPr>
        <p:spPr>
          <a:xfrm>
            <a:off x="2615184" y="2688336"/>
            <a:ext cx="932688" cy="347472"/>
          </a:xfrm>
          <a:prstGeom prst="rect">
            <a:avLst/>
          </a:prstGeom>
          <a:solidFill>
            <a:srgbClr val="FEE2E2"/>
          </a:solidFill>
          <a:ln w="762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2642616" y="2761488"/>
            <a:ext cx="8778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10" b="1" dirty="0">
                <a:solidFill>
                  <a:srgbClr val="B91C1C"/>
                </a:solidFill>
              </a:rPr>
              <a:t>No</a:t>
            </a:r>
            <a:endParaRPr lang="en-US" sz="710" dirty="0"/>
          </a:p>
        </p:txBody>
      </p:sp>
      <p:sp>
        <p:nvSpPr>
          <p:cNvPr id="60" name="Shape 58"/>
          <p:cNvSpPr/>
          <p:nvPr/>
        </p:nvSpPr>
        <p:spPr>
          <a:xfrm>
            <a:off x="3547872" y="2688336"/>
            <a:ext cx="1225296" cy="347472"/>
          </a:xfrm>
          <a:prstGeom prst="rect">
            <a:avLst/>
          </a:prstGeom>
          <a:solidFill>
            <a:srgbClr val="FEE2E2"/>
          </a:solidFill>
          <a:ln w="762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/>
          <p:nvPr/>
        </p:nvSpPr>
        <p:spPr>
          <a:xfrm>
            <a:off x="3575304" y="2761488"/>
            <a:ext cx="11704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10" b="1" dirty="0">
                <a:solidFill>
                  <a:srgbClr val="B91C1C"/>
                </a:solidFill>
              </a:rPr>
              <a:t>No</a:t>
            </a:r>
            <a:endParaRPr lang="en-US" sz="710" dirty="0"/>
          </a:p>
        </p:txBody>
      </p:sp>
      <p:sp>
        <p:nvSpPr>
          <p:cNvPr id="62" name="Shape 60"/>
          <p:cNvSpPr/>
          <p:nvPr/>
        </p:nvSpPr>
        <p:spPr>
          <a:xfrm>
            <a:off x="4773168" y="2688336"/>
            <a:ext cx="6812280" cy="347472"/>
          </a:xfrm>
          <a:prstGeom prst="rect">
            <a:avLst/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Text 61"/>
          <p:cNvSpPr/>
          <p:nvPr/>
        </p:nvSpPr>
        <p:spPr>
          <a:xfrm>
            <a:off x="4818888" y="2734056"/>
            <a:ext cx="6720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60" dirty="0">
                <a:solidFill>
                  <a:srgbClr val="334155"/>
                </a:solidFill>
              </a:rPr>
              <a:t>Because it is possible to respond to incidents maturing to catastrophic magnitude in a mor...</a:t>
            </a:r>
            <a:endParaRPr lang="en-US" sz="660" dirty="0"/>
          </a:p>
        </p:txBody>
      </p:sp>
      <p:sp>
        <p:nvSpPr>
          <p:cNvPr id="64" name="Shape 62"/>
          <p:cNvSpPr/>
          <p:nvPr/>
        </p:nvSpPr>
        <p:spPr>
          <a:xfrm>
            <a:off x="566928" y="3035808"/>
            <a:ext cx="694944" cy="347472"/>
          </a:xfrm>
          <a:prstGeom prst="rect">
            <a:avLst/>
          </a:prstGeom>
          <a:solidFill>
            <a:srgbClr val="F1F5F9"/>
          </a:solidFill>
          <a:ln w="762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Text 63"/>
          <p:cNvSpPr/>
          <p:nvPr/>
        </p:nvSpPr>
        <p:spPr>
          <a:xfrm>
            <a:off x="594360" y="3108960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10" b="1" dirty="0">
                <a:solidFill>
                  <a:srgbClr val="0B1220"/>
                </a:solidFill>
              </a:rPr>
              <a:t>14:6</a:t>
            </a:r>
            <a:endParaRPr lang="en-US" sz="710" dirty="0"/>
          </a:p>
        </p:txBody>
      </p:sp>
      <p:sp>
        <p:nvSpPr>
          <p:cNvPr id="66" name="Shape 64"/>
          <p:cNvSpPr/>
          <p:nvPr/>
        </p:nvSpPr>
        <p:spPr>
          <a:xfrm>
            <a:off x="1261872" y="3035808"/>
            <a:ext cx="676656" cy="347472"/>
          </a:xfrm>
          <a:prstGeom prst="rect">
            <a:avLst/>
          </a:prstGeom>
          <a:solidFill>
            <a:srgbClr val="FEE2E2"/>
          </a:solidFill>
          <a:ln w="762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Text 65"/>
          <p:cNvSpPr/>
          <p:nvPr/>
        </p:nvSpPr>
        <p:spPr>
          <a:xfrm>
            <a:off x="1289304" y="3108960"/>
            <a:ext cx="6217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10" b="1" dirty="0">
                <a:solidFill>
                  <a:srgbClr val="B91C1C"/>
                </a:solidFill>
              </a:rPr>
              <a:t>No</a:t>
            </a:r>
            <a:endParaRPr lang="en-US" sz="710" dirty="0"/>
          </a:p>
        </p:txBody>
      </p:sp>
      <p:sp>
        <p:nvSpPr>
          <p:cNvPr id="68" name="Shape 66"/>
          <p:cNvSpPr/>
          <p:nvPr/>
        </p:nvSpPr>
        <p:spPr>
          <a:xfrm>
            <a:off x="1938528" y="3035808"/>
            <a:ext cx="676656" cy="347472"/>
          </a:xfrm>
          <a:prstGeom prst="rect">
            <a:avLst/>
          </a:prstGeom>
          <a:solidFill>
            <a:srgbClr val="FEE2E2"/>
          </a:solidFill>
          <a:ln w="762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Text 67"/>
          <p:cNvSpPr/>
          <p:nvPr/>
        </p:nvSpPr>
        <p:spPr>
          <a:xfrm>
            <a:off x="1965960" y="3108960"/>
            <a:ext cx="6217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10" b="1" dirty="0">
                <a:solidFill>
                  <a:srgbClr val="B91C1C"/>
                </a:solidFill>
              </a:rPr>
              <a:t>No</a:t>
            </a:r>
            <a:endParaRPr lang="en-US" sz="710" dirty="0"/>
          </a:p>
        </p:txBody>
      </p:sp>
      <p:sp>
        <p:nvSpPr>
          <p:cNvPr id="70" name="Shape 68"/>
          <p:cNvSpPr/>
          <p:nvPr/>
        </p:nvSpPr>
        <p:spPr>
          <a:xfrm>
            <a:off x="2615184" y="3035808"/>
            <a:ext cx="932688" cy="347472"/>
          </a:xfrm>
          <a:prstGeom prst="rect">
            <a:avLst/>
          </a:prstGeom>
          <a:solidFill>
            <a:srgbClr val="FEE2E2"/>
          </a:solidFill>
          <a:ln w="762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Text 69"/>
          <p:cNvSpPr/>
          <p:nvPr/>
        </p:nvSpPr>
        <p:spPr>
          <a:xfrm>
            <a:off x="2642616" y="3108960"/>
            <a:ext cx="8778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10" b="1" dirty="0">
                <a:solidFill>
                  <a:srgbClr val="B91C1C"/>
                </a:solidFill>
              </a:rPr>
              <a:t>No</a:t>
            </a:r>
            <a:endParaRPr lang="en-US" sz="710" dirty="0"/>
          </a:p>
        </p:txBody>
      </p:sp>
      <p:sp>
        <p:nvSpPr>
          <p:cNvPr id="72" name="Shape 70"/>
          <p:cNvSpPr/>
          <p:nvPr/>
        </p:nvSpPr>
        <p:spPr>
          <a:xfrm>
            <a:off x="3547872" y="3035808"/>
            <a:ext cx="1225296" cy="347472"/>
          </a:xfrm>
          <a:prstGeom prst="rect">
            <a:avLst/>
          </a:prstGeom>
          <a:solidFill>
            <a:srgbClr val="FEE2E2"/>
          </a:solidFill>
          <a:ln w="762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Text 71"/>
          <p:cNvSpPr/>
          <p:nvPr/>
        </p:nvSpPr>
        <p:spPr>
          <a:xfrm>
            <a:off x="3575304" y="3108960"/>
            <a:ext cx="11704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10" b="1" dirty="0">
                <a:solidFill>
                  <a:srgbClr val="B91C1C"/>
                </a:solidFill>
              </a:rPr>
              <a:t>No</a:t>
            </a:r>
            <a:endParaRPr lang="en-US" sz="710" dirty="0"/>
          </a:p>
        </p:txBody>
      </p:sp>
      <p:sp>
        <p:nvSpPr>
          <p:cNvPr id="74" name="Shape 72"/>
          <p:cNvSpPr/>
          <p:nvPr/>
        </p:nvSpPr>
        <p:spPr>
          <a:xfrm>
            <a:off x="4773168" y="3035808"/>
            <a:ext cx="6812280" cy="347472"/>
          </a:xfrm>
          <a:prstGeom prst="rect">
            <a:avLst/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5" name="Text 73"/>
          <p:cNvSpPr/>
          <p:nvPr/>
        </p:nvSpPr>
        <p:spPr>
          <a:xfrm>
            <a:off x="4818888" y="3081528"/>
            <a:ext cx="6720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60" dirty="0">
                <a:solidFill>
                  <a:srgbClr val="334155"/>
                </a:solidFill>
              </a:rPr>
              <a:t>A proactive approach to catastrophic disasters when there is warning is also in keeping wi...</a:t>
            </a:r>
            <a:endParaRPr lang="en-US" sz="660" dirty="0"/>
          </a:p>
        </p:txBody>
      </p:sp>
      <p:sp>
        <p:nvSpPr>
          <p:cNvPr id="76" name="Shape 74"/>
          <p:cNvSpPr/>
          <p:nvPr/>
        </p:nvSpPr>
        <p:spPr>
          <a:xfrm>
            <a:off x="566928" y="3383280"/>
            <a:ext cx="694944" cy="347472"/>
          </a:xfrm>
          <a:prstGeom prst="rect">
            <a:avLst/>
          </a:prstGeom>
          <a:solidFill>
            <a:srgbClr val="F1F5F9"/>
          </a:solidFill>
          <a:ln w="762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7" name="Text 75"/>
          <p:cNvSpPr/>
          <p:nvPr/>
        </p:nvSpPr>
        <p:spPr>
          <a:xfrm>
            <a:off x="594360" y="3456432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10" b="1" dirty="0">
                <a:solidFill>
                  <a:srgbClr val="0B1220"/>
                </a:solidFill>
              </a:rPr>
              <a:t>14:7</a:t>
            </a:r>
            <a:endParaRPr lang="en-US" sz="710" dirty="0"/>
          </a:p>
        </p:txBody>
      </p:sp>
      <p:sp>
        <p:nvSpPr>
          <p:cNvPr id="78" name="Shape 76"/>
          <p:cNvSpPr/>
          <p:nvPr/>
        </p:nvSpPr>
        <p:spPr>
          <a:xfrm>
            <a:off x="1261872" y="3383280"/>
            <a:ext cx="676656" cy="347472"/>
          </a:xfrm>
          <a:prstGeom prst="rect">
            <a:avLst/>
          </a:prstGeom>
          <a:solidFill>
            <a:srgbClr val="CCFBF1"/>
          </a:solidFill>
          <a:ln w="762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9" name="Text 77"/>
          <p:cNvSpPr/>
          <p:nvPr/>
        </p:nvSpPr>
        <p:spPr>
          <a:xfrm>
            <a:off x="1289304" y="3456432"/>
            <a:ext cx="6217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10" b="1" dirty="0">
                <a:solidFill>
                  <a:srgbClr val="0F766E"/>
                </a:solidFill>
              </a:rPr>
              <a:t>Yes</a:t>
            </a:r>
            <a:endParaRPr lang="en-US" sz="710" dirty="0"/>
          </a:p>
        </p:txBody>
      </p:sp>
      <p:sp>
        <p:nvSpPr>
          <p:cNvPr id="80" name="Shape 78"/>
          <p:cNvSpPr/>
          <p:nvPr/>
        </p:nvSpPr>
        <p:spPr>
          <a:xfrm>
            <a:off x="1938528" y="3383280"/>
            <a:ext cx="676656" cy="347472"/>
          </a:xfrm>
          <a:prstGeom prst="rect">
            <a:avLst/>
          </a:prstGeom>
          <a:solidFill>
            <a:srgbClr val="FEE2E2"/>
          </a:solidFill>
          <a:ln w="762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1" name="Text 79"/>
          <p:cNvSpPr/>
          <p:nvPr/>
        </p:nvSpPr>
        <p:spPr>
          <a:xfrm>
            <a:off x="1965960" y="3456432"/>
            <a:ext cx="6217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10" b="1" dirty="0">
                <a:solidFill>
                  <a:srgbClr val="B91C1C"/>
                </a:solidFill>
              </a:rPr>
              <a:t>No</a:t>
            </a:r>
            <a:endParaRPr lang="en-US" sz="710" dirty="0"/>
          </a:p>
        </p:txBody>
      </p:sp>
      <p:sp>
        <p:nvSpPr>
          <p:cNvPr id="82" name="Shape 80"/>
          <p:cNvSpPr/>
          <p:nvPr/>
        </p:nvSpPr>
        <p:spPr>
          <a:xfrm>
            <a:off x="2615184" y="3383280"/>
            <a:ext cx="932688" cy="347472"/>
          </a:xfrm>
          <a:prstGeom prst="rect">
            <a:avLst/>
          </a:prstGeom>
          <a:solidFill>
            <a:srgbClr val="CCFBF1"/>
          </a:solidFill>
          <a:ln w="762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3" name="Text 81"/>
          <p:cNvSpPr/>
          <p:nvPr/>
        </p:nvSpPr>
        <p:spPr>
          <a:xfrm>
            <a:off x="2642616" y="3456432"/>
            <a:ext cx="8778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10" b="1" dirty="0">
                <a:solidFill>
                  <a:srgbClr val="0F766E"/>
                </a:solidFill>
              </a:rPr>
              <a:t>Yes</a:t>
            </a:r>
            <a:endParaRPr lang="en-US" sz="710" dirty="0"/>
          </a:p>
        </p:txBody>
      </p:sp>
      <p:sp>
        <p:nvSpPr>
          <p:cNvPr id="84" name="Shape 82"/>
          <p:cNvSpPr/>
          <p:nvPr/>
        </p:nvSpPr>
        <p:spPr>
          <a:xfrm>
            <a:off x="3547872" y="3383280"/>
            <a:ext cx="1225296" cy="347472"/>
          </a:xfrm>
          <a:prstGeom prst="rect">
            <a:avLst/>
          </a:prstGeom>
          <a:solidFill>
            <a:srgbClr val="CCFBF1"/>
          </a:solidFill>
          <a:ln w="762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5" name="Text 83"/>
          <p:cNvSpPr/>
          <p:nvPr/>
        </p:nvSpPr>
        <p:spPr>
          <a:xfrm>
            <a:off x="3575304" y="3456432"/>
            <a:ext cx="11704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10" b="1" dirty="0">
                <a:solidFill>
                  <a:srgbClr val="0F766E"/>
                </a:solidFill>
              </a:rPr>
              <a:t>Yes</a:t>
            </a:r>
            <a:endParaRPr lang="en-US" sz="710" dirty="0"/>
          </a:p>
        </p:txBody>
      </p:sp>
      <p:sp>
        <p:nvSpPr>
          <p:cNvPr id="86" name="Shape 84"/>
          <p:cNvSpPr/>
          <p:nvPr/>
        </p:nvSpPr>
        <p:spPr>
          <a:xfrm>
            <a:off x="4773168" y="3383280"/>
            <a:ext cx="6812280" cy="347472"/>
          </a:xfrm>
          <a:prstGeom prst="rect">
            <a:avLst/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7" name="Text 85"/>
          <p:cNvSpPr/>
          <p:nvPr/>
        </p:nvSpPr>
        <p:spPr>
          <a:xfrm>
            <a:off x="4818888" y="3429000"/>
            <a:ext cx="6720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60" dirty="0">
                <a:solidFill>
                  <a:srgbClr val="334155"/>
                </a:solidFill>
              </a:rPr>
              <a:t>I want to emphasize that across these capabilities, streamlining, simplifying, and expedit...</a:t>
            </a:r>
            <a:endParaRPr lang="en-US" sz="660" dirty="0"/>
          </a:p>
        </p:txBody>
      </p:sp>
      <p:sp>
        <p:nvSpPr>
          <p:cNvPr id="88" name="Shape 86"/>
          <p:cNvSpPr/>
          <p:nvPr/>
        </p:nvSpPr>
        <p:spPr>
          <a:xfrm>
            <a:off x="566928" y="3730752"/>
            <a:ext cx="694944" cy="347472"/>
          </a:xfrm>
          <a:prstGeom prst="rect">
            <a:avLst/>
          </a:prstGeom>
          <a:solidFill>
            <a:srgbClr val="F1F5F9"/>
          </a:solidFill>
          <a:ln w="762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9" name="Text 87"/>
          <p:cNvSpPr/>
          <p:nvPr/>
        </p:nvSpPr>
        <p:spPr>
          <a:xfrm>
            <a:off x="594360" y="3803904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10" b="1" dirty="0">
                <a:solidFill>
                  <a:srgbClr val="0B1220"/>
                </a:solidFill>
              </a:rPr>
              <a:t>14:8</a:t>
            </a:r>
            <a:endParaRPr lang="en-US" sz="710" dirty="0"/>
          </a:p>
        </p:txBody>
      </p:sp>
      <p:sp>
        <p:nvSpPr>
          <p:cNvPr id="90" name="Shape 88"/>
          <p:cNvSpPr/>
          <p:nvPr/>
        </p:nvSpPr>
        <p:spPr>
          <a:xfrm>
            <a:off x="1261872" y="3730752"/>
            <a:ext cx="676656" cy="347472"/>
          </a:xfrm>
          <a:prstGeom prst="rect">
            <a:avLst/>
          </a:prstGeom>
          <a:solidFill>
            <a:srgbClr val="FEE2E2"/>
          </a:solidFill>
          <a:ln w="762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1" name="Text 89"/>
          <p:cNvSpPr/>
          <p:nvPr/>
        </p:nvSpPr>
        <p:spPr>
          <a:xfrm>
            <a:off x="1289304" y="3803904"/>
            <a:ext cx="6217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10" b="1" dirty="0">
                <a:solidFill>
                  <a:srgbClr val="B91C1C"/>
                </a:solidFill>
              </a:rPr>
              <a:t>No</a:t>
            </a:r>
            <a:endParaRPr lang="en-US" sz="710" dirty="0"/>
          </a:p>
        </p:txBody>
      </p:sp>
      <p:sp>
        <p:nvSpPr>
          <p:cNvPr id="92" name="Shape 90"/>
          <p:cNvSpPr/>
          <p:nvPr/>
        </p:nvSpPr>
        <p:spPr>
          <a:xfrm>
            <a:off x="1938528" y="3730752"/>
            <a:ext cx="676656" cy="347472"/>
          </a:xfrm>
          <a:prstGeom prst="rect">
            <a:avLst/>
          </a:prstGeom>
          <a:solidFill>
            <a:srgbClr val="FEE2E2"/>
          </a:solidFill>
          <a:ln w="762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3" name="Text 91"/>
          <p:cNvSpPr/>
          <p:nvPr/>
        </p:nvSpPr>
        <p:spPr>
          <a:xfrm>
            <a:off x="1965960" y="3803904"/>
            <a:ext cx="6217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10" b="1" dirty="0">
                <a:solidFill>
                  <a:srgbClr val="B91C1C"/>
                </a:solidFill>
              </a:rPr>
              <a:t>No</a:t>
            </a:r>
            <a:endParaRPr lang="en-US" sz="710" dirty="0"/>
          </a:p>
        </p:txBody>
      </p:sp>
      <p:sp>
        <p:nvSpPr>
          <p:cNvPr id="94" name="Shape 92"/>
          <p:cNvSpPr/>
          <p:nvPr/>
        </p:nvSpPr>
        <p:spPr>
          <a:xfrm>
            <a:off x="2615184" y="3730752"/>
            <a:ext cx="932688" cy="347472"/>
          </a:xfrm>
          <a:prstGeom prst="rect">
            <a:avLst/>
          </a:prstGeom>
          <a:solidFill>
            <a:srgbClr val="FEE2E2"/>
          </a:solidFill>
          <a:ln w="762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5" name="Text 93"/>
          <p:cNvSpPr/>
          <p:nvPr/>
        </p:nvSpPr>
        <p:spPr>
          <a:xfrm>
            <a:off x="2642616" y="3803904"/>
            <a:ext cx="8778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10" b="1" dirty="0">
                <a:solidFill>
                  <a:srgbClr val="B91C1C"/>
                </a:solidFill>
              </a:rPr>
              <a:t>No</a:t>
            </a:r>
            <a:endParaRPr lang="en-US" sz="710" dirty="0"/>
          </a:p>
        </p:txBody>
      </p:sp>
      <p:sp>
        <p:nvSpPr>
          <p:cNvPr id="96" name="Shape 94"/>
          <p:cNvSpPr/>
          <p:nvPr/>
        </p:nvSpPr>
        <p:spPr>
          <a:xfrm>
            <a:off x="3547872" y="3730752"/>
            <a:ext cx="1225296" cy="347472"/>
          </a:xfrm>
          <a:prstGeom prst="rect">
            <a:avLst/>
          </a:prstGeom>
          <a:solidFill>
            <a:srgbClr val="FEE2E2"/>
          </a:solidFill>
          <a:ln w="762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7" name="Text 95"/>
          <p:cNvSpPr/>
          <p:nvPr/>
        </p:nvSpPr>
        <p:spPr>
          <a:xfrm>
            <a:off x="3575304" y="3803904"/>
            <a:ext cx="11704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10" b="1" dirty="0">
                <a:solidFill>
                  <a:srgbClr val="B91C1C"/>
                </a:solidFill>
              </a:rPr>
              <a:t>No</a:t>
            </a:r>
            <a:endParaRPr lang="en-US" sz="710" dirty="0"/>
          </a:p>
        </p:txBody>
      </p:sp>
      <p:sp>
        <p:nvSpPr>
          <p:cNvPr id="98" name="Shape 96"/>
          <p:cNvSpPr/>
          <p:nvPr/>
        </p:nvSpPr>
        <p:spPr>
          <a:xfrm>
            <a:off x="4773168" y="3730752"/>
            <a:ext cx="6812280" cy="347472"/>
          </a:xfrm>
          <a:prstGeom prst="rect">
            <a:avLst/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9" name="Text 97"/>
          <p:cNvSpPr/>
          <p:nvPr/>
        </p:nvSpPr>
        <p:spPr>
          <a:xfrm>
            <a:off x="4818888" y="3776472"/>
            <a:ext cx="6720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60" dirty="0">
                <a:solidFill>
                  <a:srgbClr val="334155"/>
                </a:solidFill>
              </a:rPr>
              <a:t>Our work on interoperable communications identified problem definition, performance goals ...</a:t>
            </a:r>
            <a:endParaRPr lang="en-US" sz="660" dirty="0"/>
          </a:p>
        </p:txBody>
      </p:sp>
      <p:sp>
        <p:nvSpPr>
          <p:cNvPr id="100" name="Shape 98"/>
          <p:cNvSpPr/>
          <p:nvPr/>
        </p:nvSpPr>
        <p:spPr>
          <a:xfrm>
            <a:off x="566928" y="4078224"/>
            <a:ext cx="694944" cy="347472"/>
          </a:xfrm>
          <a:prstGeom prst="rect">
            <a:avLst/>
          </a:prstGeom>
          <a:solidFill>
            <a:srgbClr val="F1F5F9"/>
          </a:solidFill>
          <a:ln w="762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1" name="Text 99"/>
          <p:cNvSpPr/>
          <p:nvPr/>
        </p:nvSpPr>
        <p:spPr>
          <a:xfrm>
            <a:off x="594360" y="4151376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10" b="1" dirty="0">
                <a:solidFill>
                  <a:srgbClr val="0B1220"/>
                </a:solidFill>
              </a:rPr>
              <a:t>14:9</a:t>
            </a:r>
            <a:endParaRPr lang="en-US" sz="710" dirty="0"/>
          </a:p>
        </p:txBody>
      </p:sp>
      <p:sp>
        <p:nvSpPr>
          <p:cNvPr id="102" name="Shape 100"/>
          <p:cNvSpPr/>
          <p:nvPr/>
        </p:nvSpPr>
        <p:spPr>
          <a:xfrm>
            <a:off x="1261872" y="4078224"/>
            <a:ext cx="676656" cy="347472"/>
          </a:xfrm>
          <a:prstGeom prst="rect">
            <a:avLst/>
          </a:prstGeom>
          <a:solidFill>
            <a:srgbClr val="FEE2E2"/>
          </a:solidFill>
          <a:ln w="762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3" name="Text 101"/>
          <p:cNvSpPr/>
          <p:nvPr/>
        </p:nvSpPr>
        <p:spPr>
          <a:xfrm>
            <a:off x="1289304" y="4151376"/>
            <a:ext cx="6217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10" b="1" dirty="0">
                <a:solidFill>
                  <a:srgbClr val="B91C1C"/>
                </a:solidFill>
              </a:rPr>
              <a:t>No</a:t>
            </a:r>
            <a:endParaRPr lang="en-US" sz="710" dirty="0"/>
          </a:p>
        </p:txBody>
      </p:sp>
      <p:sp>
        <p:nvSpPr>
          <p:cNvPr id="104" name="Shape 102"/>
          <p:cNvSpPr/>
          <p:nvPr/>
        </p:nvSpPr>
        <p:spPr>
          <a:xfrm>
            <a:off x="1938528" y="4078224"/>
            <a:ext cx="676656" cy="347472"/>
          </a:xfrm>
          <a:prstGeom prst="rect">
            <a:avLst/>
          </a:prstGeom>
          <a:solidFill>
            <a:srgbClr val="FEE2E2"/>
          </a:solidFill>
          <a:ln w="762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5" name="Text 103"/>
          <p:cNvSpPr/>
          <p:nvPr/>
        </p:nvSpPr>
        <p:spPr>
          <a:xfrm>
            <a:off x="1965960" y="4151376"/>
            <a:ext cx="6217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10" b="1" dirty="0">
                <a:solidFill>
                  <a:srgbClr val="B91C1C"/>
                </a:solidFill>
              </a:rPr>
              <a:t>No</a:t>
            </a:r>
            <a:endParaRPr lang="en-US" sz="710" dirty="0"/>
          </a:p>
        </p:txBody>
      </p:sp>
      <p:sp>
        <p:nvSpPr>
          <p:cNvPr id="106" name="Shape 104"/>
          <p:cNvSpPr/>
          <p:nvPr/>
        </p:nvSpPr>
        <p:spPr>
          <a:xfrm>
            <a:off x="2615184" y="4078224"/>
            <a:ext cx="932688" cy="347472"/>
          </a:xfrm>
          <a:prstGeom prst="rect">
            <a:avLst/>
          </a:prstGeom>
          <a:solidFill>
            <a:srgbClr val="FEE2E2"/>
          </a:solidFill>
          <a:ln w="762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7" name="Text 105"/>
          <p:cNvSpPr/>
          <p:nvPr/>
        </p:nvSpPr>
        <p:spPr>
          <a:xfrm>
            <a:off x="2642616" y="4151376"/>
            <a:ext cx="8778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10" b="1" dirty="0">
                <a:solidFill>
                  <a:srgbClr val="B91C1C"/>
                </a:solidFill>
              </a:rPr>
              <a:t>No</a:t>
            </a:r>
            <a:endParaRPr lang="en-US" sz="710" dirty="0"/>
          </a:p>
        </p:txBody>
      </p:sp>
      <p:sp>
        <p:nvSpPr>
          <p:cNvPr id="108" name="Shape 106"/>
          <p:cNvSpPr/>
          <p:nvPr/>
        </p:nvSpPr>
        <p:spPr>
          <a:xfrm>
            <a:off x="3547872" y="4078224"/>
            <a:ext cx="1225296" cy="347472"/>
          </a:xfrm>
          <a:prstGeom prst="rect">
            <a:avLst/>
          </a:prstGeom>
          <a:solidFill>
            <a:srgbClr val="FEE2E2"/>
          </a:solidFill>
          <a:ln w="762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9" name="Text 107"/>
          <p:cNvSpPr/>
          <p:nvPr/>
        </p:nvSpPr>
        <p:spPr>
          <a:xfrm>
            <a:off x="3575304" y="4151376"/>
            <a:ext cx="11704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10" b="1" dirty="0">
                <a:solidFill>
                  <a:srgbClr val="B91C1C"/>
                </a:solidFill>
              </a:rPr>
              <a:t>No</a:t>
            </a:r>
            <a:endParaRPr lang="en-US" sz="710" dirty="0"/>
          </a:p>
        </p:txBody>
      </p:sp>
      <p:sp>
        <p:nvSpPr>
          <p:cNvPr id="110" name="Shape 108"/>
          <p:cNvSpPr/>
          <p:nvPr/>
        </p:nvSpPr>
        <p:spPr>
          <a:xfrm>
            <a:off x="4773168" y="4078224"/>
            <a:ext cx="6812280" cy="347472"/>
          </a:xfrm>
          <a:prstGeom prst="rect">
            <a:avLst/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1" name="Text 109"/>
          <p:cNvSpPr/>
          <p:nvPr/>
        </p:nvSpPr>
        <p:spPr>
          <a:xfrm>
            <a:off x="4818888" y="4123944"/>
            <a:ext cx="6720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60" dirty="0">
                <a:solidFill>
                  <a:srgbClr val="334155"/>
                </a:solidFill>
              </a:rPr>
              <a:t>Damage and needs assessment: Damage and needs assessment is the capability to immediately ...</a:t>
            </a:r>
            <a:endParaRPr lang="en-US" sz="660" dirty="0"/>
          </a:p>
        </p:txBody>
      </p:sp>
      <p:sp>
        <p:nvSpPr>
          <p:cNvPr id="112" name="Shape 110"/>
          <p:cNvSpPr/>
          <p:nvPr/>
        </p:nvSpPr>
        <p:spPr>
          <a:xfrm>
            <a:off x="566928" y="4425696"/>
            <a:ext cx="694944" cy="347472"/>
          </a:xfrm>
          <a:prstGeom prst="rect">
            <a:avLst/>
          </a:prstGeom>
          <a:solidFill>
            <a:srgbClr val="F1F5F9"/>
          </a:solidFill>
          <a:ln w="762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3" name="Text 111"/>
          <p:cNvSpPr/>
          <p:nvPr/>
        </p:nvSpPr>
        <p:spPr>
          <a:xfrm>
            <a:off x="594360" y="4498848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10" b="1" dirty="0">
                <a:solidFill>
                  <a:srgbClr val="0B1220"/>
                </a:solidFill>
              </a:rPr>
              <a:t>14:12</a:t>
            </a:r>
            <a:endParaRPr lang="en-US" sz="710" dirty="0"/>
          </a:p>
        </p:txBody>
      </p:sp>
      <p:sp>
        <p:nvSpPr>
          <p:cNvPr id="114" name="Shape 112"/>
          <p:cNvSpPr/>
          <p:nvPr/>
        </p:nvSpPr>
        <p:spPr>
          <a:xfrm>
            <a:off x="1261872" y="4425696"/>
            <a:ext cx="676656" cy="347472"/>
          </a:xfrm>
          <a:prstGeom prst="rect">
            <a:avLst/>
          </a:prstGeom>
          <a:solidFill>
            <a:srgbClr val="FEE2E2"/>
          </a:solidFill>
          <a:ln w="762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5" name="Text 113"/>
          <p:cNvSpPr/>
          <p:nvPr/>
        </p:nvSpPr>
        <p:spPr>
          <a:xfrm>
            <a:off x="1289304" y="4498848"/>
            <a:ext cx="6217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10" b="1" dirty="0">
                <a:solidFill>
                  <a:srgbClr val="B91C1C"/>
                </a:solidFill>
              </a:rPr>
              <a:t>No</a:t>
            </a:r>
            <a:endParaRPr lang="en-US" sz="710" dirty="0"/>
          </a:p>
        </p:txBody>
      </p:sp>
      <p:sp>
        <p:nvSpPr>
          <p:cNvPr id="116" name="Shape 114"/>
          <p:cNvSpPr/>
          <p:nvPr/>
        </p:nvSpPr>
        <p:spPr>
          <a:xfrm>
            <a:off x="1938528" y="4425696"/>
            <a:ext cx="676656" cy="347472"/>
          </a:xfrm>
          <a:prstGeom prst="rect">
            <a:avLst/>
          </a:prstGeom>
          <a:solidFill>
            <a:srgbClr val="CCFBF1"/>
          </a:solidFill>
          <a:ln w="762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7" name="Text 115"/>
          <p:cNvSpPr/>
          <p:nvPr/>
        </p:nvSpPr>
        <p:spPr>
          <a:xfrm>
            <a:off x="1965960" y="4498848"/>
            <a:ext cx="6217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10" b="1" dirty="0">
                <a:solidFill>
                  <a:srgbClr val="0F766E"/>
                </a:solidFill>
              </a:rPr>
              <a:t>Yes</a:t>
            </a:r>
            <a:endParaRPr lang="en-US" sz="710" dirty="0"/>
          </a:p>
        </p:txBody>
      </p:sp>
      <p:sp>
        <p:nvSpPr>
          <p:cNvPr id="118" name="Shape 116"/>
          <p:cNvSpPr/>
          <p:nvPr/>
        </p:nvSpPr>
        <p:spPr>
          <a:xfrm>
            <a:off x="2615184" y="4425696"/>
            <a:ext cx="932688" cy="347472"/>
          </a:xfrm>
          <a:prstGeom prst="rect">
            <a:avLst/>
          </a:prstGeom>
          <a:solidFill>
            <a:srgbClr val="CCFBF1"/>
          </a:solidFill>
          <a:ln w="762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9" name="Text 117"/>
          <p:cNvSpPr/>
          <p:nvPr/>
        </p:nvSpPr>
        <p:spPr>
          <a:xfrm>
            <a:off x="2642616" y="4498848"/>
            <a:ext cx="8778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10" b="1" dirty="0">
                <a:solidFill>
                  <a:srgbClr val="0F766E"/>
                </a:solidFill>
              </a:rPr>
              <a:t>Yes</a:t>
            </a:r>
            <a:endParaRPr lang="en-US" sz="710" dirty="0"/>
          </a:p>
        </p:txBody>
      </p:sp>
      <p:sp>
        <p:nvSpPr>
          <p:cNvPr id="120" name="Shape 118"/>
          <p:cNvSpPr/>
          <p:nvPr/>
        </p:nvSpPr>
        <p:spPr>
          <a:xfrm>
            <a:off x="3547872" y="4425696"/>
            <a:ext cx="1225296" cy="347472"/>
          </a:xfrm>
          <a:prstGeom prst="rect">
            <a:avLst/>
          </a:prstGeom>
          <a:solidFill>
            <a:srgbClr val="CCFBF1"/>
          </a:solidFill>
          <a:ln w="762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1" name="Text 119"/>
          <p:cNvSpPr/>
          <p:nvPr/>
        </p:nvSpPr>
        <p:spPr>
          <a:xfrm>
            <a:off x="3575304" y="4498848"/>
            <a:ext cx="11704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10" b="1" dirty="0">
                <a:solidFill>
                  <a:srgbClr val="0F766E"/>
                </a:solidFill>
              </a:rPr>
              <a:t>Yes</a:t>
            </a:r>
            <a:endParaRPr lang="en-US" sz="710" dirty="0"/>
          </a:p>
        </p:txBody>
      </p:sp>
      <p:sp>
        <p:nvSpPr>
          <p:cNvPr id="122" name="Shape 120"/>
          <p:cNvSpPr/>
          <p:nvPr/>
        </p:nvSpPr>
        <p:spPr>
          <a:xfrm>
            <a:off x="4773168" y="4425696"/>
            <a:ext cx="6812280" cy="347472"/>
          </a:xfrm>
          <a:prstGeom prst="rect">
            <a:avLst/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3" name="Text 121"/>
          <p:cNvSpPr/>
          <p:nvPr/>
        </p:nvSpPr>
        <p:spPr>
          <a:xfrm>
            <a:off x="4818888" y="4471416"/>
            <a:ext cx="6720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60" dirty="0">
                <a:solidFill>
                  <a:srgbClr val="334155"/>
                </a:solidFill>
              </a:rPr>
              <a:t>Because of FEMA’s mission performance during Hurricane Katrina, concerns have been raised ...</a:t>
            </a:r>
            <a:endParaRPr lang="en-US" sz="660" dirty="0"/>
          </a:p>
        </p:txBody>
      </p:sp>
      <p:sp>
        <p:nvSpPr>
          <p:cNvPr id="124" name="Shape 122"/>
          <p:cNvSpPr/>
          <p:nvPr/>
        </p:nvSpPr>
        <p:spPr>
          <a:xfrm>
            <a:off x="566928" y="4773168"/>
            <a:ext cx="694944" cy="347472"/>
          </a:xfrm>
          <a:prstGeom prst="rect">
            <a:avLst/>
          </a:prstGeom>
          <a:solidFill>
            <a:srgbClr val="F1F5F9"/>
          </a:solidFill>
          <a:ln w="762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5" name="Text 123"/>
          <p:cNvSpPr/>
          <p:nvPr/>
        </p:nvSpPr>
        <p:spPr>
          <a:xfrm>
            <a:off x="594360" y="4846320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10" b="1" dirty="0">
                <a:solidFill>
                  <a:srgbClr val="0B1220"/>
                </a:solidFill>
              </a:rPr>
              <a:t>14:13</a:t>
            </a:r>
            <a:endParaRPr lang="en-US" sz="710" dirty="0"/>
          </a:p>
        </p:txBody>
      </p:sp>
      <p:sp>
        <p:nvSpPr>
          <p:cNvPr id="126" name="Shape 124"/>
          <p:cNvSpPr/>
          <p:nvPr/>
        </p:nvSpPr>
        <p:spPr>
          <a:xfrm>
            <a:off x="1261872" y="4773168"/>
            <a:ext cx="676656" cy="347472"/>
          </a:xfrm>
          <a:prstGeom prst="rect">
            <a:avLst/>
          </a:prstGeom>
          <a:solidFill>
            <a:srgbClr val="FEE2E2"/>
          </a:solidFill>
          <a:ln w="762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7" name="Text 125"/>
          <p:cNvSpPr/>
          <p:nvPr/>
        </p:nvSpPr>
        <p:spPr>
          <a:xfrm>
            <a:off x="1289304" y="4846320"/>
            <a:ext cx="6217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10" b="1" dirty="0">
                <a:solidFill>
                  <a:srgbClr val="B91C1C"/>
                </a:solidFill>
              </a:rPr>
              <a:t>No</a:t>
            </a:r>
            <a:endParaRPr lang="en-US" sz="710" dirty="0"/>
          </a:p>
        </p:txBody>
      </p:sp>
      <p:sp>
        <p:nvSpPr>
          <p:cNvPr id="128" name="Shape 126"/>
          <p:cNvSpPr/>
          <p:nvPr/>
        </p:nvSpPr>
        <p:spPr>
          <a:xfrm>
            <a:off x="1938528" y="4773168"/>
            <a:ext cx="676656" cy="347472"/>
          </a:xfrm>
          <a:prstGeom prst="rect">
            <a:avLst/>
          </a:prstGeom>
          <a:solidFill>
            <a:srgbClr val="FEE2E2"/>
          </a:solidFill>
          <a:ln w="762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9" name="Text 127"/>
          <p:cNvSpPr/>
          <p:nvPr/>
        </p:nvSpPr>
        <p:spPr>
          <a:xfrm>
            <a:off x="1965960" y="4846320"/>
            <a:ext cx="6217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10" b="1" dirty="0">
                <a:solidFill>
                  <a:srgbClr val="B91C1C"/>
                </a:solidFill>
              </a:rPr>
              <a:t>No</a:t>
            </a:r>
            <a:endParaRPr lang="en-US" sz="710" dirty="0"/>
          </a:p>
        </p:txBody>
      </p:sp>
      <p:sp>
        <p:nvSpPr>
          <p:cNvPr id="130" name="Shape 128"/>
          <p:cNvSpPr/>
          <p:nvPr/>
        </p:nvSpPr>
        <p:spPr>
          <a:xfrm>
            <a:off x="2615184" y="4773168"/>
            <a:ext cx="932688" cy="347472"/>
          </a:xfrm>
          <a:prstGeom prst="rect">
            <a:avLst/>
          </a:prstGeom>
          <a:solidFill>
            <a:srgbClr val="FEE2E2"/>
          </a:solidFill>
          <a:ln w="762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1" name="Text 129"/>
          <p:cNvSpPr/>
          <p:nvPr/>
        </p:nvSpPr>
        <p:spPr>
          <a:xfrm>
            <a:off x="2642616" y="4846320"/>
            <a:ext cx="8778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10" b="1" dirty="0">
                <a:solidFill>
                  <a:srgbClr val="B91C1C"/>
                </a:solidFill>
              </a:rPr>
              <a:t>No</a:t>
            </a:r>
            <a:endParaRPr lang="en-US" sz="710" dirty="0"/>
          </a:p>
        </p:txBody>
      </p:sp>
      <p:sp>
        <p:nvSpPr>
          <p:cNvPr id="132" name="Shape 130"/>
          <p:cNvSpPr/>
          <p:nvPr/>
        </p:nvSpPr>
        <p:spPr>
          <a:xfrm>
            <a:off x="3547872" y="4773168"/>
            <a:ext cx="1225296" cy="347472"/>
          </a:xfrm>
          <a:prstGeom prst="rect">
            <a:avLst/>
          </a:prstGeom>
          <a:solidFill>
            <a:srgbClr val="FEE2E2"/>
          </a:solidFill>
          <a:ln w="762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3" name="Text 131"/>
          <p:cNvSpPr/>
          <p:nvPr/>
        </p:nvSpPr>
        <p:spPr>
          <a:xfrm>
            <a:off x="3575304" y="4846320"/>
            <a:ext cx="11704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10" b="1" dirty="0">
                <a:solidFill>
                  <a:srgbClr val="B91C1C"/>
                </a:solidFill>
              </a:rPr>
              <a:t>No</a:t>
            </a:r>
            <a:endParaRPr lang="en-US" sz="710" dirty="0"/>
          </a:p>
        </p:txBody>
      </p:sp>
      <p:sp>
        <p:nvSpPr>
          <p:cNvPr id="134" name="Shape 132"/>
          <p:cNvSpPr/>
          <p:nvPr/>
        </p:nvSpPr>
        <p:spPr>
          <a:xfrm>
            <a:off x="4773168" y="4773168"/>
            <a:ext cx="6812280" cy="347472"/>
          </a:xfrm>
          <a:prstGeom prst="rect">
            <a:avLst/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5" name="Text 133"/>
          <p:cNvSpPr/>
          <p:nvPr/>
        </p:nvSpPr>
        <p:spPr>
          <a:xfrm>
            <a:off x="4818888" y="4818888"/>
            <a:ext cx="6720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60" dirty="0">
                <a:solidFill>
                  <a:srgbClr val="334155"/>
                </a:solidFill>
              </a:rPr>
              <a:t>The health care infrastructure in the New Orleans area, including emergency, hospital and ...</a:t>
            </a:r>
            <a:endParaRPr lang="en-US" sz="660" dirty="0"/>
          </a:p>
        </p:txBody>
      </p:sp>
      <p:sp>
        <p:nvSpPr>
          <p:cNvPr id="136" name="Shape 134"/>
          <p:cNvSpPr/>
          <p:nvPr/>
        </p:nvSpPr>
        <p:spPr>
          <a:xfrm>
            <a:off x="566928" y="5120640"/>
            <a:ext cx="694944" cy="347472"/>
          </a:xfrm>
          <a:prstGeom prst="rect">
            <a:avLst/>
          </a:prstGeom>
          <a:solidFill>
            <a:srgbClr val="F1F5F9"/>
          </a:solidFill>
          <a:ln w="762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7" name="Text 135"/>
          <p:cNvSpPr/>
          <p:nvPr/>
        </p:nvSpPr>
        <p:spPr>
          <a:xfrm>
            <a:off x="594360" y="5193792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10" b="1" dirty="0">
                <a:solidFill>
                  <a:srgbClr val="0B1220"/>
                </a:solidFill>
              </a:rPr>
              <a:t>14:14</a:t>
            </a:r>
            <a:endParaRPr lang="en-US" sz="710" dirty="0"/>
          </a:p>
        </p:txBody>
      </p:sp>
      <p:sp>
        <p:nvSpPr>
          <p:cNvPr id="138" name="Shape 136"/>
          <p:cNvSpPr/>
          <p:nvPr/>
        </p:nvSpPr>
        <p:spPr>
          <a:xfrm>
            <a:off x="1261872" y="5120640"/>
            <a:ext cx="676656" cy="347472"/>
          </a:xfrm>
          <a:prstGeom prst="rect">
            <a:avLst/>
          </a:prstGeom>
          <a:solidFill>
            <a:srgbClr val="FEE2E2"/>
          </a:solidFill>
          <a:ln w="762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9" name="Text 137"/>
          <p:cNvSpPr/>
          <p:nvPr/>
        </p:nvSpPr>
        <p:spPr>
          <a:xfrm>
            <a:off x="1289304" y="5193792"/>
            <a:ext cx="6217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10" b="1" dirty="0">
                <a:solidFill>
                  <a:srgbClr val="B91C1C"/>
                </a:solidFill>
              </a:rPr>
              <a:t>No</a:t>
            </a:r>
            <a:endParaRPr lang="en-US" sz="710" dirty="0"/>
          </a:p>
        </p:txBody>
      </p:sp>
      <p:sp>
        <p:nvSpPr>
          <p:cNvPr id="140" name="Shape 138"/>
          <p:cNvSpPr/>
          <p:nvPr/>
        </p:nvSpPr>
        <p:spPr>
          <a:xfrm>
            <a:off x="1938528" y="5120640"/>
            <a:ext cx="676656" cy="347472"/>
          </a:xfrm>
          <a:prstGeom prst="rect">
            <a:avLst/>
          </a:prstGeom>
          <a:solidFill>
            <a:srgbClr val="FEE2E2"/>
          </a:solidFill>
          <a:ln w="762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1" name="Text 139"/>
          <p:cNvSpPr/>
          <p:nvPr/>
        </p:nvSpPr>
        <p:spPr>
          <a:xfrm>
            <a:off x="1965960" y="5193792"/>
            <a:ext cx="6217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10" b="1" dirty="0">
                <a:solidFill>
                  <a:srgbClr val="B91C1C"/>
                </a:solidFill>
              </a:rPr>
              <a:t>No</a:t>
            </a:r>
            <a:endParaRPr lang="en-US" sz="710" dirty="0"/>
          </a:p>
        </p:txBody>
      </p:sp>
      <p:sp>
        <p:nvSpPr>
          <p:cNvPr id="142" name="Shape 140"/>
          <p:cNvSpPr/>
          <p:nvPr/>
        </p:nvSpPr>
        <p:spPr>
          <a:xfrm>
            <a:off x="2615184" y="5120640"/>
            <a:ext cx="932688" cy="347472"/>
          </a:xfrm>
          <a:prstGeom prst="rect">
            <a:avLst/>
          </a:prstGeom>
          <a:solidFill>
            <a:srgbClr val="FEE2E2"/>
          </a:solidFill>
          <a:ln w="762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3" name="Text 141"/>
          <p:cNvSpPr/>
          <p:nvPr/>
        </p:nvSpPr>
        <p:spPr>
          <a:xfrm>
            <a:off x="2642616" y="5193792"/>
            <a:ext cx="8778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10" b="1" dirty="0">
                <a:solidFill>
                  <a:srgbClr val="B91C1C"/>
                </a:solidFill>
              </a:rPr>
              <a:t>No</a:t>
            </a:r>
            <a:endParaRPr lang="en-US" sz="710" dirty="0"/>
          </a:p>
        </p:txBody>
      </p:sp>
      <p:sp>
        <p:nvSpPr>
          <p:cNvPr id="144" name="Shape 142"/>
          <p:cNvSpPr/>
          <p:nvPr/>
        </p:nvSpPr>
        <p:spPr>
          <a:xfrm>
            <a:off x="3547872" y="5120640"/>
            <a:ext cx="1225296" cy="347472"/>
          </a:xfrm>
          <a:prstGeom prst="rect">
            <a:avLst/>
          </a:prstGeom>
          <a:solidFill>
            <a:srgbClr val="FEE2E2"/>
          </a:solidFill>
          <a:ln w="762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5" name="Text 143"/>
          <p:cNvSpPr/>
          <p:nvPr/>
        </p:nvSpPr>
        <p:spPr>
          <a:xfrm>
            <a:off x="3575304" y="5193792"/>
            <a:ext cx="11704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10" b="1" dirty="0">
                <a:solidFill>
                  <a:srgbClr val="B91C1C"/>
                </a:solidFill>
              </a:rPr>
              <a:t>No</a:t>
            </a:r>
            <a:endParaRPr lang="en-US" sz="710" dirty="0"/>
          </a:p>
        </p:txBody>
      </p:sp>
      <p:sp>
        <p:nvSpPr>
          <p:cNvPr id="146" name="Shape 144"/>
          <p:cNvSpPr/>
          <p:nvPr/>
        </p:nvSpPr>
        <p:spPr>
          <a:xfrm>
            <a:off x="4773168" y="5120640"/>
            <a:ext cx="6812280" cy="347472"/>
          </a:xfrm>
          <a:prstGeom prst="rect">
            <a:avLst/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7" name="Text 145"/>
          <p:cNvSpPr/>
          <p:nvPr/>
        </p:nvSpPr>
        <p:spPr>
          <a:xfrm>
            <a:off x="4818888" y="5166360"/>
            <a:ext cx="6720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60" dirty="0">
                <a:solidFill>
                  <a:srgbClr val="334155"/>
                </a:solidFill>
              </a:rPr>
              <a:t>Over the long term, building a new health care system will be vital to attract people back...</a:t>
            </a:r>
            <a:endParaRPr lang="en-US" sz="660" dirty="0"/>
          </a:p>
        </p:txBody>
      </p:sp>
      <p:sp>
        <p:nvSpPr>
          <p:cNvPr id="148" name="Text 146"/>
          <p:cNvSpPr/>
          <p:nvPr/>
        </p:nvSpPr>
        <p:spPr>
          <a:xfrm>
            <a:off x="594360" y="5989320"/>
            <a:ext cx="10744200" cy="3291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</a:rPr>
              <a:t>Pattern: the examples prompts recover rows 14:2, 14:4, 14:7, and 14:12; most other passages are still classified as No despite Yes ground truth.</a:t>
            </a:r>
            <a:endParaRPr lang="en-US" sz="1150" dirty="0"/>
          </a:p>
        </p:txBody>
      </p:sp>
      <p:sp>
        <p:nvSpPr>
          <p:cNvPr id="149" name="Text 147"/>
          <p:cNvSpPr/>
          <p:nvPr/>
        </p:nvSpPr>
        <p:spPr>
          <a:xfrm>
            <a:off x="594360" y="6510528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Row-level view is useful for auditing exactly where the prompt variants diverge.</a:t>
            </a:r>
            <a:endParaRPr lang="en-US" sz="850" dirty="0"/>
          </a:p>
        </p:txBody>
      </p:sp>
      <p:sp>
        <p:nvSpPr>
          <p:cNvPr id="15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728</Words>
  <Application>Microsoft Office PowerPoint</Application>
  <PresentationFormat>Widescreen</PresentationFormat>
  <Paragraphs>138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Unlearning Prompt A/B Test - Initial Results</dc:title>
  <dc:subject>Unlearning prompt A/B test results</dc:subject>
  <dc:creator>OpenAI</dc:creator>
  <cp:lastModifiedBy>User</cp:lastModifiedBy>
  <cp:revision>5</cp:revision>
  <dcterms:created xsi:type="dcterms:W3CDTF">2026-07-03T13:12:39Z</dcterms:created>
  <dcterms:modified xsi:type="dcterms:W3CDTF">2026-07-03T13:42:18Z</dcterms:modified>
</cp:coreProperties>
</file>
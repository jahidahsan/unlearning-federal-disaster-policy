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Unlearning project · model benchmarking and annotation pipeline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Project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5361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Benchmark results, model selection, insights, and production document-labeling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084832"/>
            <a:ext cx="6309360" cy="0"/>
          </a:xfrm>
          <a:prstGeom prst="line">
            <a:avLst/>
          </a:prstGeom>
          <a:noFill/>
          <a:ln w="2794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68880"/>
            <a:ext cx="7772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Main takeaway: GPT-5.6 Terra with leakage-safe examples is the strongest single-model choice by cleaned accuracy and false-positive control; Gemini direct has the highest cleaned F1. For production coding, use the three-provider consensus pipeline and review disagreements.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0" y="1115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72.5%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69680" y="1591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best cleaned accuracy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8696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AD47"/>
                </a:solidFill>
              </a:rPr>
              <a:t>81.2%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869680" y="2532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best cleaned F1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8869680" y="29992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30A0"/>
                </a:solidFill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69680" y="3474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providers in pipeline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13232" y="6053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July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completed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From exploratory prompt testing to a reproducible, multi-document labeling workflow.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1719072"/>
            <a:ext cx="2286000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554480"/>
            <a:ext cx="292608" cy="29260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933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v2–v3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82880" y="22494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Prompt A/B tests and provider fixes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611880" y="1719072"/>
            <a:ext cx="2286000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554480"/>
            <a:ext cx="292608" cy="2926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9933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v4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834640" y="22494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Expanded GPT Test and 3-provider grid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263640" y="1719072"/>
            <a:ext cx="2286000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34456" y="1554480"/>
            <a:ext cx="292608" cy="29260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933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v5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486400" y="22494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Definitions-only benchmark and error analysis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8915400" y="1719072"/>
            <a:ext cx="2286000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1554480"/>
            <a:ext cx="292608" cy="29260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9933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Audit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138160" y="22494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Duplicate + leakage-adjusted scores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11237976" y="1554480"/>
            <a:ext cx="292608" cy="29260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0" y="19933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Pipeline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789920" y="22494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Multi-PDF labels, reliability, annotated PDFs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731520" y="324612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246120"/>
            <a:ext cx="64008" cy="1143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36499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Benchmarking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896112" y="3666744"/>
            <a:ext cx="30906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Compared OpenAI, Anthropic, and Google across direct, definitions, examples, and metadata strategies.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24612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246120"/>
            <a:ext cx="6400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336499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Data quality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599432" y="3666744"/>
            <a:ext cx="30906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Identified early positive-only scoring, exact test/example leakage, and near-duplicate test rows.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3246120"/>
            <a:ext cx="3383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246120"/>
            <a:ext cx="64008" cy="11430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336499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Production use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8302752" y="3666744"/>
            <a:ext cx="30906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Built a pipeline to label new PDFs by paragraph, calculate model reliability, and create editable highlighted PDFs.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v2–v5 notebooks, cleaned metrics workbook, local-context notebook, production annotation notebook.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task is evaluated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Each paragraph receives a binary unlearning label plus target, agency, rationale, and confidence.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03120" y="1947672"/>
            <a:ext cx="640080" cy="0"/>
          </a:xfrm>
          <a:prstGeom prst="line">
            <a:avLst/>
          </a:prstGeom>
          <a:noFill/>
          <a:ln w="2032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1444752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556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PDFs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47672"/>
            <a:ext cx="640080" cy="0"/>
          </a:xfrm>
          <a:prstGeom prst="line">
            <a:avLst/>
          </a:prstGeom>
          <a:noFill/>
          <a:ln w="2032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508760"/>
            <a:ext cx="1444752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7556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Paragraph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947672"/>
            <a:ext cx="640080" cy="0"/>
          </a:xfrm>
          <a:prstGeom prst="line">
            <a:avLst/>
          </a:prstGeom>
          <a:noFill/>
          <a:ln w="2032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1508760"/>
            <a:ext cx="1444752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7556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labeling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23960" y="1947672"/>
            <a:ext cx="640080" cy="0"/>
          </a:xfrm>
          <a:prstGeom prst="line">
            <a:avLst/>
          </a:prstGeom>
          <a:noFill/>
          <a:ln w="2032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508760"/>
            <a:ext cx="1444752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17556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Consensus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46920" y="1508760"/>
            <a:ext cx="1444752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5792" y="17556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Annotated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PDFs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108960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163824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OUTPUTS PER PARAGRAPH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356616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566160"/>
            <a:ext cx="64008" cy="9144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68503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Binary label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941832" y="3986784"/>
            <a:ext cx="22677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Unlearning present: Yes/No.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1880" y="3566160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3566160"/>
            <a:ext cx="64008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36850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Target type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3776472" y="3986784"/>
            <a:ext cx="30449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Leadership; laws/plans/policies; capabilities; funds/resources; misc organizational; none.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23760" y="3566160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566160"/>
            <a:ext cx="64008" cy="9144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36850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Model explanation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7388352" y="3986784"/>
            <a:ext cx="30449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Agency, rationale, confidence, and evidence-oriented notes for human review.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4892040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946904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KEY SCORING METRICS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29000" y="4855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Accuracy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882896"/>
            <a:ext cx="242316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882896"/>
            <a:ext cx="1756791" cy="1645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8417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72.5%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51145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F1 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5141976"/>
            <a:ext cx="242316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5141976"/>
            <a:ext cx="1955490" cy="1645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51008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80.7%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29000" y="5373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Specificity proxy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5401056"/>
            <a:ext cx="242316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5401056"/>
            <a:ext cx="2076648" cy="16459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53599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85.7%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Accuracy is useful, but F1 and false positives matter because the test set is positive-heavy. Production should also inspect model disagreement, not only final score.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Metrics shown: GPT-5.6 Terra, examples without metadata, duplicate/leakage-adjusted clean set.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Data-quality corrections changed how results should be read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Post-hoc scoring removed duplicate rows and exact few-shot leakage before comparing strategies.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7D31"/>
                </a:solidFill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near-duplicate test rows removed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61188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</a:rPr>
              <a:t>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11880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test/example overlaps removed from few-shot scoring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69494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40–46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49440" y="18928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cleaned rows in updated-v4 scoring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964692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AD47"/>
                </a:solidFill>
              </a:rPr>
              <a:t>42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46920" y="18928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66666"/>
                </a:solidFill>
              </a:rPr>
              <a:t>local-context rows unchanged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08960"/>
            <a:ext cx="6400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22783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What was removed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941832" y="3529584"/>
            <a:ext cx="47823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Three highly similar positive test rows were removed from all updated-v4 conditions. Six exact test/example overlaps were removed only from example-based scores.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31089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108960"/>
            <a:ext cx="64008" cy="1143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22783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Why it matters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336792" y="3529584"/>
            <a:ext cx="47823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Few-shot results are still diagnostic, because models saw leaked examples while answering other rows. A fresh leakage-free rerun is needed for final confirmation.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846320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90118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CLEAN SCORING DENOMINATORS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4846320"/>
            <a:ext cx="6492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Direct / definitions: 46 rows · example-based prompts: 40 rows · local-context benchmark: 42 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cleaned metrics audit workbook and updated v4 notebooks.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Cleaned benchmark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Best strategy by provider after removing duplicate rows and direct test/example overlaps.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5577840" cy="411480"/>
          </a:xfrm>
          <a:prstGeom prst="rect">
            <a:avLst/>
          </a:prstGeom>
          <a:solidFill>
            <a:srgbClr val="EEF5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389888"/>
            <a:ext cx="2325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Model / strategy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12287" y="1389888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04742" y="1389888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Accuracy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97196" y="1389888"/>
            <a:ext cx="6519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F1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22315" y="1389888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FP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794510"/>
            <a:ext cx="5577840" cy="411480"/>
          </a:xfrm>
          <a:prstGeom prst="rect">
            <a:avLst/>
          </a:prstGeom>
          <a:solidFill>
            <a:srgbClr val="F8FBFE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885950"/>
            <a:ext cx="2325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GPT-5.6 Terra · examples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212287" y="188595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40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104742" y="188595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72.5%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997196" y="1885950"/>
            <a:ext cx="6519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80.7%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722315" y="1885950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1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77240" y="2308860"/>
            <a:ext cx="5577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400300"/>
            <a:ext cx="2325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Gemini 3.1 Flash Lite · direct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212287" y="240030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46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104742" y="240030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71.7%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997196" y="2400300"/>
            <a:ext cx="6519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81.2%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722315" y="2400300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5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77240" y="2823210"/>
            <a:ext cx="5577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2914650"/>
            <a:ext cx="2325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Claude Sonnet 5 · examples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3212287" y="291465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40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4104742" y="2914650"/>
            <a:ext cx="819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70.0%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997196" y="2914650"/>
            <a:ext cx="6519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80.6%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5722315" y="2914650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4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812280" y="1234440"/>
            <a:ext cx="54864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28930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5B5"/>
                </a:solidFill>
              </a:rPr>
              <a:t>ACCURACY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20840" y="1700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GPT-5.6 Terra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172821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1728216"/>
            <a:ext cx="1624203" cy="1645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69880" y="16870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72.5%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2036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Gemini direct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206349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063496"/>
            <a:ext cx="1606281" cy="1645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20223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71.7%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2371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Claude examples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38160" y="239877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2398776"/>
            <a:ext cx="1568196" cy="1645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69880" y="23576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70.0%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12280" y="3063240"/>
            <a:ext cx="54864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11810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0AD47"/>
                </a:solidFill>
              </a:rPr>
              <a:t>F1 SCORE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20840" y="3529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Gemini direct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38160" y="355701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3557016"/>
            <a:ext cx="1819107" cy="1645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69880" y="35158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81.2%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20840" y="3864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GPT-5.6 Terra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38160" y="389229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892296"/>
            <a:ext cx="1807906" cy="1645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69880" y="38511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80.7%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4200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Claude examples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138160" y="4227576"/>
            <a:ext cx="22402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38160" y="4227576"/>
            <a:ext cx="1805666" cy="1645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69880" y="41864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80.6%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77240" y="397764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3977640"/>
            <a:ext cx="64008" cy="9601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1832" y="4096512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Best single-model recommendation</a:t>
            </a:r>
            <a:endParaRPr lang="en-US" sz="1180" dirty="0"/>
          </a:p>
        </p:txBody>
      </p:sp>
      <p:sp>
        <p:nvSpPr>
          <p:cNvPr id="60" name="Text 58"/>
          <p:cNvSpPr/>
          <p:nvPr/>
        </p:nvSpPr>
        <p:spPr>
          <a:xfrm>
            <a:off x="941832" y="4398264"/>
            <a:ext cx="5285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GPT-5.6 Terra with leakage-safe examples when false positives are costly. It has the best cleaned accuracy and only one false positive in this comparison.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720840" y="4663440"/>
            <a:ext cx="4434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20840" y="4663440"/>
            <a:ext cx="64008" cy="8229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85432" y="4782312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Best F1 / low-cost signal</a:t>
            </a:r>
            <a:endParaRPr lang="en-US" sz="1180" dirty="0"/>
          </a:p>
        </p:txBody>
      </p:sp>
      <p:sp>
        <p:nvSpPr>
          <p:cNvPr id="64" name="Text 62"/>
          <p:cNvSpPr/>
          <p:nvPr/>
        </p:nvSpPr>
        <p:spPr>
          <a:xfrm>
            <a:off x="6885432" y="5084064"/>
            <a:ext cx="41422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Gemini direct has the highest cleaned F1, but it also has five false positives, so it is best used as one coder in the consensus pipeline.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duplicate/leakage-adjusted cleaned metrics. F1 = Yes-class F1.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matrices: best strategy per provider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models have similar F1, but they fail in different ways.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GPT-5.6 Terra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</a:rPr>
              <a:t>Examples · N=40 · Acc 72.5% · F1 80.7%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1143000" y="2093976"/>
            <a:ext cx="1403604" cy="11201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AD47"/>
                </a:solidFill>
              </a:rPr>
              <a:t>TN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1188720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6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574036" y="2093976"/>
            <a:ext cx="1403604" cy="1120140"/>
          </a:xfrm>
          <a:prstGeom prst="rect">
            <a:avLst/>
          </a:prstGeom>
          <a:solidFill>
            <a:srgbClr val="FC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9756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00000"/>
                </a:solidFill>
              </a:rPr>
              <a:t>FP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619756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1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143000" y="3241548"/>
            <a:ext cx="1403604" cy="11201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7D31"/>
                </a:solidFill>
              </a:rPr>
              <a:t>FN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188720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10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574036" y="3241548"/>
            <a:ext cx="1403604" cy="1120140"/>
          </a:xfrm>
          <a:prstGeom prst="rect">
            <a:avLst/>
          </a:prstGeom>
          <a:solidFill>
            <a:srgbClr val="D9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9756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F75B5"/>
                </a:solidFill>
              </a:rPr>
              <a:t>TP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2619756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23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43000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No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2574036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Yes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 rot="16200000">
            <a:off x="685800" y="2276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No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 rot="16200000">
            <a:off x="685800" y="338785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Yes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4434840" y="13258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Gemini 3.1 Flash 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16002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</a:rPr>
              <a:t>Direct · N=46 · Acc 71.7% · F1 81.2%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892040" y="2093976"/>
            <a:ext cx="1403604" cy="11201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AD47"/>
                </a:solidFill>
              </a:rPr>
              <a:t>TN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4937760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5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23076" y="2093976"/>
            <a:ext cx="1403604" cy="1120140"/>
          </a:xfrm>
          <a:prstGeom prst="rect">
            <a:avLst/>
          </a:prstGeom>
          <a:solidFill>
            <a:srgbClr val="FC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8796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00000"/>
                </a:solidFill>
              </a:rPr>
              <a:t>FP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368796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5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892040" y="3241548"/>
            <a:ext cx="1403604" cy="11201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7D31"/>
                </a:solidFill>
              </a:rPr>
              <a:t>FN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4937760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8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323076" y="3241548"/>
            <a:ext cx="1403604" cy="1120140"/>
          </a:xfrm>
          <a:prstGeom prst="rect">
            <a:avLst/>
          </a:prstGeom>
          <a:solidFill>
            <a:srgbClr val="D9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AD47"/>
                </a:solidFill>
              </a:rPr>
              <a:t>TP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6368796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28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892040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No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6323076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Yes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 rot="16200000">
            <a:off x="4434840" y="2276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No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 rot="16200000">
            <a:off x="4434840" y="338785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Yes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8183880" y="13258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Claude Sonnet 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83880" y="16002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</a:rPr>
              <a:t>Examples · N=40 · Acc 70.0% · F1 80.6%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641080" y="2093976"/>
            <a:ext cx="1403604" cy="11201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AD47"/>
                </a:solidFill>
              </a:rPr>
              <a:t>TN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8686800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3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10072116" y="2093976"/>
            <a:ext cx="1403604" cy="1120140"/>
          </a:xfrm>
          <a:prstGeom prst="rect">
            <a:avLst/>
          </a:prstGeom>
          <a:solidFill>
            <a:srgbClr val="FC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17836" y="2167128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00000"/>
                </a:solidFill>
              </a:rPr>
              <a:t>FP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10117836" y="2368296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4</a:t>
            </a:r>
            <a:endParaRPr lang="en-US" sz="1900" dirty="0"/>
          </a:p>
        </p:txBody>
      </p:sp>
      <p:sp>
        <p:nvSpPr>
          <p:cNvPr id="49" name="Shape 47"/>
          <p:cNvSpPr/>
          <p:nvPr/>
        </p:nvSpPr>
        <p:spPr>
          <a:xfrm>
            <a:off x="8641080" y="3241548"/>
            <a:ext cx="1403604" cy="11201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7D31"/>
                </a:solidFill>
              </a:rPr>
              <a:t>FN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686800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8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10072116" y="3241548"/>
            <a:ext cx="1403604" cy="1120140"/>
          </a:xfrm>
          <a:prstGeom prst="rect">
            <a:avLst/>
          </a:prstGeom>
          <a:solidFill>
            <a:srgbClr val="D9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17836" y="3314700"/>
            <a:ext cx="1339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30A0"/>
                </a:solidFill>
              </a:rPr>
              <a:t>TP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10117836" y="3515868"/>
            <a:ext cx="1339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25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8641080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No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10072116" y="1883664"/>
            <a:ext cx="1403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66666"/>
                </a:solidFill>
              </a:rPr>
              <a:t>Predicted Yes</a:t>
            </a:r>
            <a:endParaRPr lang="en-US" sz="770" dirty="0"/>
          </a:p>
        </p:txBody>
      </p:sp>
      <p:sp>
        <p:nvSpPr>
          <p:cNvPr id="57" name="Text 55"/>
          <p:cNvSpPr/>
          <p:nvPr/>
        </p:nvSpPr>
        <p:spPr>
          <a:xfrm rot="16200000">
            <a:off x="8183880" y="2276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No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 rot="16200000">
            <a:off x="8183880" y="338785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6666"/>
                </a:solidFill>
              </a:rPr>
              <a:t>Actual Yes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868680" y="5029200"/>
            <a:ext cx="10561320" cy="82296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5029200"/>
            <a:ext cx="64008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3272" y="5148072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Insight</a:t>
            </a:r>
            <a:endParaRPr lang="en-US" sz="1180" dirty="0"/>
          </a:p>
        </p:txBody>
      </p:sp>
      <p:sp>
        <p:nvSpPr>
          <p:cNvPr id="62" name="Text 60"/>
          <p:cNvSpPr/>
          <p:nvPr/>
        </p:nvSpPr>
        <p:spPr>
          <a:xfrm>
            <a:off x="1033272" y="5449824"/>
            <a:ext cx="10268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OpenAI is more conservative with false positives; Gemini and Claude recover more positives but introduce more false positives. This supports a consensus + review workflow instead of relying on one model blindly.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cleaned confusion counts after duplicate/leakage adjustment.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context exposed a codebook/label boundary issue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Context did not simply improve scores; it showed that EPA positives are interpreted differently by the models.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1673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LOCAL-CONTEXT F1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746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Gemini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3080" y="1773936"/>
            <a:ext cx="24688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773936"/>
            <a:ext cx="1471452" cy="1645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7327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59.6%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87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Claude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83080" y="2115312"/>
            <a:ext cx="24688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115312"/>
            <a:ext cx="1083838" cy="1645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0741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43.9%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429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OpenAI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83080" y="2456688"/>
            <a:ext cx="2468880" cy="164592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2456688"/>
            <a:ext cx="886328" cy="16459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4155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35.9%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261872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8152" y="1316736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POSITIVE RECALL BY SOURCE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4663440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039112"/>
            <a:ext cx="0" cy="129844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337560"/>
            <a:ext cx="4663440" cy="0"/>
          </a:xfrm>
          <a:prstGeom prst="line">
            <a:avLst/>
          </a:prstGeom>
          <a:noFill/>
          <a:ln w="7620">
            <a:solidFill>
              <a:srgbClr val="EDF2F7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2644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66666"/>
                </a:solidFill>
              </a:rPr>
              <a:t>0%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126480" y="2688336"/>
            <a:ext cx="4663440" cy="0"/>
          </a:xfrm>
          <a:prstGeom prst="line">
            <a:avLst/>
          </a:prstGeom>
          <a:noFill/>
          <a:ln w="7620">
            <a:solidFill>
              <a:srgbClr val="EDF2F7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61518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66666"/>
                </a:solidFill>
              </a:rPr>
              <a:t>50%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6126480" y="2039112"/>
            <a:ext cx="4663440" cy="0"/>
          </a:xfrm>
          <a:prstGeom prst="line">
            <a:avLst/>
          </a:prstGeom>
          <a:noFill/>
          <a:ln w="7620">
            <a:solidFill>
              <a:srgbClr val="EDF2F7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965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66666"/>
                </a:solidFill>
              </a:rPr>
              <a:t>100%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6373784" y="3337560"/>
            <a:ext cx="264968" cy="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7075" y="3337560"/>
            <a:ext cx="264968" cy="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0365" y="3337560"/>
            <a:ext cx="264968" cy="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41071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EPA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928264" y="2688336"/>
            <a:ext cx="264968" cy="64922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81555" y="2298802"/>
            <a:ext cx="264968" cy="103875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34845" y="2818181"/>
            <a:ext cx="264968" cy="519379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41071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GAO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482744" y="2471495"/>
            <a:ext cx="264968" cy="866065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36035" y="2039112"/>
            <a:ext cx="264968" cy="12984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89325" y="2688336"/>
            <a:ext cx="264968" cy="64922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53728" y="341071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Post-Katrina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217920" y="1645920"/>
            <a:ext cx="146304" cy="14630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16230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Claude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35240" y="1645920"/>
            <a:ext cx="146304" cy="14630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16230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Gemini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052560" y="1645920"/>
            <a:ext cx="146304" cy="14630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16230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OpenAI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77240" y="397764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3977640"/>
            <a:ext cx="6400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1832" y="4096512"/>
            <a:ext cx="4645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What the EPA pattern means</a:t>
            </a:r>
            <a:endParaRPr lang="en-US" sz="1180" dirty="0"/>
          </a:p>
        </p:txBody>
      </p:sp>
      <p:sp>
        <p:nvSpPr>
          <p:cNvPr id="50" name="Text 48"/>
          <p:cNvSpPr/>
          <p:nvPr/>
        </p:nvSpPr>
        <p:spPr>
          <a:xfrm>
            <a:off x="941832" y="4398264"/>
            <a:ext cx="464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All three models predicted No for all human-positive EPA passages in the local-context set. That suggests a definition-label mismatch, not random model failure.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80760" y="397764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3977640"/>
            <a:ext cx="64008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4096512"/>
            <a:ext cx="4645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Interpretation</a:t>
            </a:r>
            <a:endParaRPr lang="en-US" sz="1180" dirty="0"/>
          </a:p>
        </p:txBody>
      </p:sp>
      <p:sp>
        <p:nvSpPr>
          <p:cNvPr id="54" name="Text 52"/>
          <p:cNvSpPr/>
          <p:nvPr/>
        </p:nvSpPr>
        <p:spPr>
          <a:xfrm>
            <a:off x="6245352" y="4398264"/>
            <a:ext cx="46451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current stricter codebook treats many coordination, training, and capacity-building passages as learning/improvement unless they clearly reject or replace a prior approach.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local-context notebook and current codebook interpretation.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 and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best answer depends on whether the goal is benchmark score, recall, false-positive control, or production robustness.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657600" cy="132588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64008" cy="13258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4475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Recommended single model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941832" y="1746504"/>
            <a:ext cx="33649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GPT-5.6 Terra + leakage-safe examples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Rationale: best cleaned accuracy, near-top F1, and lowest false-positive count among best-provider strategies.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291840" cy="132588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325880"/>
            <a:ext cx="64008" cy="13258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44475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Best F1 signal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690872" y="1746504"/>
            <a:ext cx="29992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Gemini 3.1 Flash Lite + direct prompt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029968"/>
            <a:ext cx="2880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Rationale: highest Yes-class F1 after cleanup, but more false positives than OpenAI.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1325880"/>
            <a:ext cx="3337560" cy="132588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325880"/>
            <a:ext cx="64008" cy="1325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144475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Production recommendation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8074152" y="1746504"/>
            <a:ext cx="30449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all three providers as independent coders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2029968"/>
            <a:ext cx="2880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Rationale: consensus labels and disagreement review are safer than choosing a single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30098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DECISION RULE FOR PRODUCTION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3694176"/>
            <a:ext cx="182880" cy="1828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Unanimous Yes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3063240" y="36576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Auto-highlight as strongest candidate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914400" y="4105656"/>
            <a:ext cx="182880" cy="1828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2-of-3 Yes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063240" y="40690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Highlight for review as likely candidate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14400" y="4517136"/>
            <a:ext cx="182880" cy="1828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4480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1-of-3 Yes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3063240" y="44805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Send to review queue; do not treat as final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914400" y="4928616"/>
            <a:ext cx="182880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Unanimous No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3063240" y="48920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Do not highlight by default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Best model decision uses cleaned post-hoc results and considers false-positive risk.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pipeline for new documents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final notebook labels every paragraph, calculates reliability, and outputs annotated PDFs.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41248" y="1298448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0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14984" y="1664208"/>
            <a:ext cx="0" cy="4572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801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Upload PDFs + codebook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937"/>
                </a:solidFill>
              </a:rPr>
              <a:t>One document now; multiple documents supported later.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347472" cy="3474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14984" y="2468880"/>
            <a:ext cx="0" cy="4572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084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Extract paragraphs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210312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937"/>
                </a:solidFill>
              </a:rPr>
              <a:t>Preserves page numbers and coordinates for annotation.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41248" y="2907792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9900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14984" y="3273552"/>
            <a:ext cx="0" cy="4572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8895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Run providers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2907792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937"/>
                </a:solidFill>
              </a:rPr>
              <a:t>OpenAI, Anthropic, and Google with configured best strategies.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41248" y="3712464"/>
            <a:ext cx="347472" cy="34747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7947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14984" y="4078224"/>
            <a:ext cx="0" cy="4572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69417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Calculate reliability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12464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937"/>
                </a:solidFill>
              </a:rPr>
              <a:t>Percent agreement, Cohen/Fleiss kappa, Krippendorff alpha.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41248" y="4517136"/>
            <a:ext cx="347472" cy="34747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5994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25880" y="44988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Export outputs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517136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937"/>
                </a:solidFill>
              </a:rPr>
              <a:t>CSV/Excel results, disagreement queue, highlighted PDFs, ZIP bundle.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68680" y="5230368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230368"/>
            <a:ext cx="64008" cy="6858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349240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Annotation behavior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1033272" y="5650992"/>
            <a:ext cx="4919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PDF comments include consensus label, each model’s label, target, confidence, and rationale. Highlights remain editable.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5230368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230368"/>
            <a:ext cx="64008" cy="6858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5349240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Reliability output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6611112" y="5650992"/>
            <a:ext cx="44622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Model agreement is treated like intercoder reliability so disagreement becomes a review signal rather than noise.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Source: production multi-document annotation pipeline notebook.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and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5039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Use current results to guide production, but validate with a clean adjudicated benchmark.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3520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61872"/>
            <a:ext cx="6400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80744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1. Finalize codebook boundary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941832" y="1682496"/>
            <a:ext cx="3227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Resolve whether EPA coordination/training/capacity additions count as unlearning under the current definition.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261872"/>
            <a:ext cx="3520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261872"/>
            <a:ext cx="64008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380744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2. Build clean few-shot pool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690872" y="1682496"/>
            <a:ext cx="3227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a small adjudicated set of examples that does not overlap with evaluation or target documents.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261872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261872"/>
            <a:ext cx="64008" cy="11430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38074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F4E79"/>
                </a:solidFill>
              </a:rPr>
              <a:t>3. Run production pilot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439912" y="1682496"/>
            <a:ext cx="26791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Apply the pipeline to one new document; review unanimous positives and 2-of-3 positives first.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063240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1810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SUGGESTED MEETING TAKEAWAY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3474720"/>
            <a:ext cx="10287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project has moved from “can LLMs detect unlearning?” to a stronger workflow: benchmarked models, cleaned scoring, identified label-definition tensions, and a working document annotation pipeline.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645152"/>
            <a:ext cx="54864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700016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PROPOSED FINAL BENCHMARK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5010912"/>
            <a:ext cx="96926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</a:rPr>
              <a:t>Freeze the latest codebook and adjudicate disputed EPA rows.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Run target-only vs local-context under the same model, prompt, and schema.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Report accuracy, F1, specificity, source-level recall, and model reliability.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94360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A7A7A"/>
                </a:solidFill>
              </a:rPr>
              <a:t>Recommendation based on cleaned metrics and local-context error analysis.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Update</dc:title>
  <dc:subject>Unlearning model benchmark and annotation workflow</dc:subject>
  <dc:creator>OpenAI</dc:creator>
  <cp:lastModifiedBy>OpenAI</cp:lastModifiedBy>
  <cp:revision>1</cp:revision>
  <dcterms:created xsi:type="dcterms:W3CDTF">2026-07-17T13:12:21Z</dcterms:created>
  <dcterms:modified xsi:type="dcterms:W3CDTF">2026-07-17T13:12:21Z</dcterms:modified>
</cp:coreProperties>
</file>
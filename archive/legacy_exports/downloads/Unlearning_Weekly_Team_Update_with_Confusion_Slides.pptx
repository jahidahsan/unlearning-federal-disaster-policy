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context: last meeting focused on 49-label results and the EPA document problem. This update is about cleaning the benchmark, testing local context, adding reliability/reproducibility, running a codebook sensitivity test, and piloting production annotation.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shift: the goal is not just to increase accuracy; it is to make the evaluation trustworthy and adjudication-ready.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make the data cleanup easy for the team to understand: 42 rows is not arbitrary; it is the leakage-controlled and context-complete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overclaiming: the local context run gave us better infrastructure and diagnostics, not a definitive fix for EPA.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detailed controlled-test result to include this week. The rest of the controlled experiment phases can be covered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this establishes the path for applying the model workflow to new documents while preserving human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that repeated seeds were actually run. Emphasize that this is not the full controlled experiment report; it is a reproducibility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how majority vote and disagreement are operationalized.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summary slide for the meeting: the work is more defensible, but the next step is adjudication rather than another broad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team input on adjudication strategy and which rows should be reviewed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restate the last-meeting result in confusion-matrix form. The high TN/low FP pattern should not be overread as good performance because recall is 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context is an infrastructure and diagnostic improvement, not a magic score boost.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the document-level numbers the team is likely to ask for. Make clear that row counts differ because the 42-row set is cleaned/context-complete.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codebook-specific confusion matrix slide. State the caveat clearly: this tells us how definition wording changes model behavior, not which definition is theoretically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focus the team on the practical adjudication decision. Exact source-level numeric D1/D2 rescoring for all documents should follow after human definition-specific labels are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83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6CCE9"/>
                </a:solidFill>
              </a:rPr>
              <a:t>Unlearning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" y="132588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Team Update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2057400"/>
            <a:ext cx="7498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DE8F7"/>
                </a:solidFill>
              </a:rPr>
              <a:t>From the 49-label benchmark to a cleaned, reproducible, review-ready workflow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" y="39776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3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977640"/>
            <a:ext cx="73152" cy="114300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4114800"/>
            <a:ext cx="1682496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42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9264" y="4663440"/>
            <a:ext cx="168249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cleaned benchmark rows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971800" y="39776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3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3977640"/>
            <a:ext cx="73152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1256" y="4114800"/>
            <a:ext cx="1682496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91256" y="4663440"/>
            <a:ext cx="168249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model-coder providers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193792" y="39776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3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93792" y="3977640"/>
            <a:ext cx="73152" cy="114300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4114800"/>
            <a:ext cx="1682496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630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13248" y="4663440"/>
            <a:ext cx="168249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stability predictions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406640" y="39776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3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3977640"/>
            <a:ext cx="73152" cy="11430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6096" y="4114800"/>
            <a:ext cx="1682496" cy="4343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96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26096" y="4663440"/>
            <a:ext cx="168249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production pilot outputs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749808" y="6309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CE9"/>
                </a:solidFill>
              </a:rPr>
              <a:t>Team meeting •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Starting point from last meeting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problem was not random model noise; it was concentrated disagreement around EPA passages and the codebook boundary.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0789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546799"/>
            <a:ext cx="172821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49 rows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05256" y="2064715"/>
            <a:ext cx="172821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mixed-label benchmark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971800" y="1417320"/>
            <a:ext cx="2423160" cy="1078992"/>
          </a:xfrm>
          <a:prstGeom prst="roundRect">
            <a:avLst>
              <a:gd name="adj" fmla="val 6780"/>
            </a:avLst>
          </a:prstGeom>
          <a:solidFill>
            <a:srgbClr val="E8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1417320"/>
            <a:ext cx="73152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1256" y="1546799"/>
            <a:ext cx="209397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39 / 10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91256" y="2064715"/>
            <a:ext cx="209397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human-positive / human-negative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623560" y="141732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0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23560" y="1417320"/>
            <a:ext cx="73152" cy="107899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43016" y="1546799"/>
            <a:ext cx="181965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245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843016" y="2064715"/>
            <a:ext cx="181965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completed model calls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001000" y="141732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EEF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417320"/>
            <a:ext cx="73152" cy="10789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0456" y="1546799"/>
            <a:ext cx="172821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14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20456" y="2064715"/>
            <a:ext cx="172821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unanimous FN rows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77240" y="28803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2880360"/>
            <a:ext cx="73152" cy="182880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008376"/>
            <a:ext cx="4800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What this implied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" y="3319272"/>
            <a:ext cx="4773168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EPA document repeatedly looked like the hardest source. The immediate need became: clean the evaluation set, separate leakage/duplicates, add source-level diagnostics, and prepare for human adjudication.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309360" y="288036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880360"/>
            <a:ext cx="73152" cy="18288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3008376"/>
            <a:ext cx="4754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This week’s update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10528" y="3319272"/>
            <a:ext cx="4727448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I moved from “which model scored best?” toward a more defensible workflow: cleaned data, local context, codebook sensitivity, model-coder agreement, seeded/repeated stability checks, and a production pilot.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point from prior 49-row definitions-only benchmark and weekly review workbook.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DATA CLEANUP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Cleaned the evaluation set: 49 → 42 rows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rows that could distort model evaluation and made the benchmark context-complete.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194560" cy="1078992"/>
          </a:xfrm>
          <a:prstGeom prst="roundRect">
            <a:avLst>
              <a:gd name="adj" fmla="val 6780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34440"/>
            <a:ext cx="73152" cy="10789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363919"/>
            <a:ext cx="186537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49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0976" y="1881835"/>
            <a:ext cx="186537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original mixed-label rows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154680" y="1773936"/>
            <a:ext cx="1005840" cy="0"/>
          </a:xfrm>
          <a:prstGeom prst="line">
            <a:avLst/>
          </a:prstGeom>
          <a:noFill/>
          <a:ln w="25400">
            <a:solidFill>
              <a:srgbClr val="5E667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1234440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E8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234440"/>
            <a:ext cx="73152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363919"/>
            <a:ext cx="213969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42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08576" y="1881835"/>
            <a:ext cx="213969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cleaned context-complete rows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178040" y="1773936"/>
            <a:ext cx="1005840" cy="0"/>
          </a:xfrm>
          <a:prstGeom prst="line">
            <a:avLst/>
          </a:prstGeom>
          <a:noFill/>
          <a:ln w="25400">
            <a:solidFill>
              <a:srgbClr val="5E667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12480" y="1234440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0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234440"/>
            <a:ext cx="73152" cy="107899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31936" y="1363919"/>
            <a:ext cx="213969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32 / 10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631936" y="1881835"/>
            <a:ext cx="213969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final class balance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31520" y="2788920"/>
            <a:ext cx="525780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834640"/>
            <a:ext cx="225856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What changed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090672" y="2834640"/>
            <a:ext cx="28529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Why it mattered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31520" y="3255264"/>
            <a:ext cx="525780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300984"/>
            <a:ext cx="225856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Parent/child duplicates removed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090672" y="3300984"/>
            <a:ext cx="28529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Avoids overweighting related passages.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31520" y="3721608"/>
            <a:ext cx="52578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67328"/>
            <a:ext cx="225856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Codebook/example overlap removed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3090672" y="3767328"/>
            <a:ext cx="28529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Reduces leakage and protects validity.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31520" y="4187952"/>
            <a:ext cx="52578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233672"/>
            <a:ext cx="225856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Context-complete fields built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3090672" y="4233672"/>
            <a:ext cx="28529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Allows matched target-only vs local-context testing.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31520" y="4654296"/>
            <a:ext cx="52578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4700016"/>
            <a:ext cx="225856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Document-level IDs standardized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3090672" y="4700016"/>
            <a:ext cx="28529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Supports EPA/GAO/Katrina source diagnostics.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31520" y="5120640"/>
            <a:ext cx="52578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880360"/>
            <a:ext cx="4800600" cy="1691640"/>
          </a:xfrm>
          <a:prstGeom prst="roundRect">
            <a:avLst>
              <a:gd name="adj" fmla="val 4324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2880360"/>
            <a:ext cx="73152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Cleaned benchmark became the new foundation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01968" y="3319272"/>
            <a:ext cx="445312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42-row set is now the consistent base for local-context testing, codebook comparison, reliability metrics, and later rescoring after human adjudication.</a:t>
            </a:r>
            <a:endParaRPr lang="en-US" sz="1280" dirty="0"/>
          </a:p>
        </p:txBody>
      </p:sp>
      <p:sp>
        <p:nvSpPr>
          <p:cNvPr id="39" name="Shape 37"/>
          <p:cNvSpPr/>
          <p:nvPr/>
        </p:nvSpPr>
        <p:spPr>
          <a:xfrm>
            <a:off x="6400800" y="480060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4800600"/>
            <a:ext cx="73152" cy="77724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4928616"/>
            <a:ext cx="4480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EPA rows remain central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01968" y="5239512"/>
            <a:ext cx="445312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corrected audit identifies 21 rows from “Lessons Learned: EPA’s Response to Hurricane Katrina” for priority review.</a:t>
            </a:r>
            <a:endParaRPr lang="en-US" sz="1280" dirty="0"/>
          </a:p>
        </p:txBody>
      </p:sp>
      <p:sp>
        <p:nvSpPr>
          <p:cNvPr id="43" name="Shape 4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benchmark: 42 passages; 32 Yes / 10 No; EPA exact matching corrected in follow-up audit.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LOCAL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context version: useful, but not a cure-all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tested whether nearby source context helped models classify difficult passages under the current codebook.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E8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34440"/>
            <a:ext cx="73152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363919"/>
            <a:ext cx="191109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42 rows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0976" y="1881835"/>
            <a:ext cx="191109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local-context benchmark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34440"/>
            <a:ext cx="73152" cy="10789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363919"/>
            <a:ext cx="191109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126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65576" y="1881835"/>
            <a:ext cx="191109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provider calls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760720" y="1234440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F0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1234440"/>
            <a:ext cx="73152" cy="107899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0176" y="1363919"/>
            <a:ext cx="191109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980176" y="1881835"/>
            <a:ext cx="191109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providers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275320" y="1234440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FFF2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234440"/>
            <a:ext cx="73152" cy="1078992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94776" y="1363919"/>
            <a:ext cx="191109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21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94776" y="1881835"/>
            <a:ext cx="191109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EPA rows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22960" y="283464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2834640"/>
            <a:ext cx="73152" cy="14630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2962656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Design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3273552"/>
            <a:ext cx="294436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Target paragraph plus bounded local source context. This created a cleaner test of whether models needed neighboring text to interpret institutional change.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4480560" y="283464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2834640"/>
            <a:ext cx="73152" cy="146304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962656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Main finding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81728" y="3273552"/>
            <a:ext cx="294436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Context improved the diagnostic workflow, but it did not automatically resolve the EPA false-negative pattern.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8138160" y="283464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2834640"/>
            <a:ext cx="73152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2962656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What changed afterward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39328" y="3273552"/>
            <a:ext cx="294436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local-context sheet became the basis for a cleaner 42-row benchmark and source-level model-coder agreement analysis.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2423160" y="4983480"/>
            <a:ext cx="740664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3000" y="480060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48737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6673"/>
                </a:solidFill>
              </a:rPr>
              <a:t>target only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46120" y="48006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48737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6673"/>
                </a:solidFill>
              </a:rPr>
              <a:t>title + section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32120" y="480060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48737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6673"/>
                </a:solidFill>
              </a:rPr>
              <a:t>±1 paragraph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35240" y="480060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48737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6673"/>
                </a:solidFill>
              </a:rPr>
              <a:t>±2 paragraphs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738360" y="480060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29800" y="48737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review signal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Local-context run: 42 passages, 32 Yes / 10 No, 126 completed calls.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CODEBOOK TEST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Old vs current codebook: matched test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definition wording itself changes the recall/specificity tradeoff.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389888"/>
            <a:ext cx="672084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35608"/>
            <a:ext cx="13441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Condition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2130552" y="1435608"/>
            <a:ext cx="6583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Recall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862072" y="1435608"/>
            <a:ext cx="7498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Specificity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685032" y="1435608"/>
            <a:ext cx="521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F1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279392" y="1435608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Interpretation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85800" y="2048256"/>
            <a:ext cx="672084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93976"/>
            <a:ext cx="13441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Old — simple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130552" y="2093976"/>
            <a:ext cx="6583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54.2%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862072" y="2093976"/>
            <a:ext cx="7498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66.7%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685032" y="2093976"/>
            <a:ext cx="521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65.3%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279392" y="2093976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Highest recall; more false positives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85800" y="2706624"/>
            <a:ext cx="67208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752344"/>
            <a:ext cx="13441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Old — checklist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130552" y="2752344"/>
            <a:ext cx="6583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51.0%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2862072" y="2752344"/>
            <a:ext cx="7498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70.0%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3685032" y="2752344"/>
            <a:ext cx="521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63.5%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4279392" y="2752344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Slightly more conservative than old-simple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85800" y="3364992"/>
            <a:ext cx="67208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410712"/>
            <a:ext cx="13441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Current — simple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2130552" y="3410712"/>
            <a:ext cx="6583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26.0%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2862072" y="3410712"/>
            <a:ext cx="7498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96.7%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3685032" y="3410712"/>
            <a:ext cx="521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40.8%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4279392" y="3410712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Very conservative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85800" y="4023360"/>
            <a:ext cx="67208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069080"/>
            <a:ext cx="13441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Current — checklist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2130552" y="4069080"/>
            <a:ext cx="6583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36.5%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2862072" y="4069080"/>
            <a:ext cx="7498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96.7%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3685032" y="4069080"/>
            <a:ext cx="52120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52.6%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279392" y="4069080"/>
            <a:ext cx="308152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Best current-definition balance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85800" y="4681728"/>
            <a:ext cx="67208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48920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FF2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" y="4892040"/>
            <a:ext cx="73152" cy="713232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" y="4977628"/>
            <a:ext cx="1682496" cy="271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51–54%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69264" y="5319979"/>
            <a:ext cx="1682496" cy="1997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673"/>
                </a:solidFill>
              </a:rPr>
              <a:t>old definition recall range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2999232" y="48920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99232" y="4892040"/>
            <a:ext cx="73152" cy="71323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18688" y="4977628"/>
            <a:ext cx="1682496" cy="271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96.7%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3218688" y="5319979"/>
            <a:ext cx="1682496" cy="1997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673"/>
                </a:solidFill>
              </a:rPr>
              <a:t>current specificity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248656" y="48920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8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48656" y="4892040"/>
            <a:ext cx="73152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68112" y="4977628"/>
            <a:ext cx="1682496" cy="2710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52.6%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5468112" y="5319979"/>
            <a:ext cx="1682496" cy="1997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673"/>
                </a:solidFill>
              </a:rPr>
              <a:t>best current F1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7635240" y="1325880"/>
            <a:ext cx="3794760" cy="1600200"/>
          </a:xfrm>
          <a:prstGeom prst="roundRect">
            <a:avLst>
              <a:gd name="adj" fmla="val 457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35240" y="1325880"/>
            <a:ext cx="73152" cy="16002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36408" y="1453896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836408" y="1764792"/>
            <a:ext cx="3447288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Old broad definition recovered more historical positives, but at the cost of lower specificity. Current strict definition was more conservative and had much higher specificity.</a:t>
            </a:r>
            <a:endParaRPr lang="en-US" sz="1280" dirty="0"/>
          </a:p>
        </p:txBody>
      </p:sp>
      <p:sp>
        <p:nvSpPr>
          <p:cNvPr id="52" name="Shape 50"/>
          <p:cNvSpPr/>
          <p:nvPr/>
        </p:nvSpPr>
        <p:spPr>
          <a:xfrm>
            <a:off x="7635240" y="315468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35240" y="3154680"/>
            <a:ext cx="73152" cy="141732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36408" y="3282696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Important caveat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836408" y="3593592"/>
            <a:ext cx="344728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This was scored against historical labels, not definition-specific human labels. It is an operational sensitivity test, not the final codebook validation.</a:t>
            </a:r>
            <a:endParaRPr lang="en-US" sz="1280" dirty="0"/>
          </a:p>
        </p:txBody>
      </p:sp>
      <p:sp>
        <p:nvSpPr>
          <p:cNvPr id="56" name="Shape 54"/>
          <p:cNvSpPr/>
          <p:nvPr/>
        </p:nvSpPr>
        <p:spPr>
          <a:xfrm>
            <a:off x="7635240" y="4800600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35240" y="4800600"/>
            <a:ext cx="73152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6408" y="4928616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Action for team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836408" y="5239512"/>
            <a:ext cx="344728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Adjudicate old/current/final labels on the cleaned 42-row set, then rescore the frozen predictions without rerunning models.</a:t>
            </a:r>
            <a:endParaRPr lang="en-US" sz="1280" dirty="0"/>
          </a:p>
        </p:txBody>
      </p:sp>
      <p:sp>
        <p:nvSpPr>
          <p:cNvPr id="60" name="Shape 58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target-only conditions: old broad vs current strict definitions, simple vs structured evidence-checklist prompts.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PRODUCTION PILOT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pilot on Katrina 2020 scenario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the pipeline to “What if Hurricane Katrina Hit in 2020?” to test extraction, multi-provider coding, review tiers, and annotation.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25880"/>
            <a:ext cx="73152" cy="107899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455359"/>
            <a:ext cx="200253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32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0976" y="1973275"/>
            <a:ext cx="200253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logical paragraphs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401568" y="132588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0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325880"/>
            <a:ext cx="73152" cy="1078992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1455359"/>
            <a:ext cx="200253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96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21024" y="1973275"/>
            <a:ext cx="200253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provider predictions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071616" y="132588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E8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1325880"/>
            <a:ext cx="73152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455359"/>
            <a:ext cx="232257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18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91072" y="1973275"/>
            <a:ext cx="232257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verified annotation segments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052560" y="132588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2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25880"/>
            <a:ext cx="73152" cy="1078992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2016" y="1455359"/>
            <a:ext cx="2002536" cy="4100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68.75%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72016" y="1973275"/>
            <a:ext cx="2002536" cy="3021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binary unanimous agreement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1097280" y="3703320"/>
            <a:ext cx="9966960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3364992"/>
            <a:ext cx="658368" cy="658368"/>
          </a:xfrm>
          <a:prstGeom prst="ellipse">
            <a:avLst/>
          </a:prstGeom>
          <a:solidFill>
            <a:srgbClr val="2F6FE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5478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187952"/>
            <a:ext cx="1280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F3A"/>
                </a:solidFill>
              </a:rPr>
              <a:t>Verified extraction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576072" y="4617720"/>
            <a:ext cx="1417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6673"/>
                </a:solidFill>
              </a:rPr>
              <a:t>logical paragraphs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3657600" y="3364992"/>
            <a:ext cx="658368" cy="658368"/>
          </a:xfrm>
          <a:prstGeom prst="ellipse">
            <a:avLst/>
          </a:prstGeom>
          <a:solidFill>
            <a:srgbClr val="6D5BD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5478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4187952"/>
            <a:ext cx="1280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F3A"/>
                </a:solidFill>
              </a:rPr>
              <a:t>Three provider coders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3364992" y="4617720"/>
            <a:ext cx="1417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6673"/>
                </a:solidFill>
              </a:rPr>
              <a:t>parallel outputs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446520" y="3364992"/>
            <a:ext cx="658368" cy="658368"/>
          </a:xfrm>
          <a:prstGeom prst="ellipse">
            <a:avLst/>
          </a:prstGeom>
          <a:solidFill>
            <a:srgbClr val="E8842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5478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4187952"/>
            <a:ext cx="1280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F3A"/>
                </a:solidFill>
              </a:rPr>
              <a:t>Agreement + review tiers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6153912" y="4617720"/>
            <a:ext cx="1417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6673"/>
                </a:solidFill>
              </a:rPr>
              <a:t>triage signal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9235440" y="3364992"/>
            <a:ext cx="658368" cy="658368"/>
          </a:xfrm>
          <a:prstGeom prst="ellipse">
            <a:avLst/>
          </a:prstGeom>
          <a:solidFill>
            <a:srgbClr val="2E7D3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35478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06840" y="4187952"/>
            <a:ext cx="1280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F3A"/>
                </a:solidFill>
              </a:rPr>
              <a:t>PDF annotation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8942832" y="4617720"/>
            <a:ext cx="1417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E6673"/>
                </a:solidFill>
              </a:rPr>
              <a:t>reviewable evidence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914400" y="5257800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5257800"/>
            <a:ext cx="73152" cy="566928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5568" y="5385816"/>
            <a:ext cx="10058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How to interpret it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15568" y="5696712"/>
            <a:ext cx="10030968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production pilot had no human gold labels, so it should be presented as review-triage and annotation infrastructure—not as an accuracy benchmark.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verification targets: 32 logical paragraphs; 96 predictions; 18 verified annotation segments; binary agreement 0.6875.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REPRODUCIBILITY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Reproducibility and model-coder agreement were added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Confirmed: the completed run includes five repeated stability trials with fixed experiment seeds.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965960" cy="1060704"/>
          </a:xfrm>
          <a:prstGeom prst="roundRect">
            <a:avLst>
              <a:gd name="adj" fmla="val 6897"/>
            </a:avLst>
          </a:prstGeom>
          <a:solidFill>
            <a:srgbClr val="E8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73152" cy="10607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361724"/>
            <a:ext cx="1636776" cy="4030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05256" y="1870862"/>
            <a:ext cx="1636776" cy="2969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seeds / repeated trials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880360" y="1234440"/>
            <a:ext cx="2148840" cy="1060704"/>
          </a:xfrm>
          <a:prstGeom prst="roundRect">
            <a:avLst>
              <a:gd name="adj" fmla="val 6897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1234440"/>
            <a:ext cx="73152" cy="1060704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816" y="1361724"/>
            <a:ext cx="1819656" cy="4030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630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99816" y="1870862"/>
            <a:ext cx="1819656" cy="2969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stability predictions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257800" y="1234440"/>
            <a:ext cx="2468880" cy="1060704"/>
          </a:xfrm>
          <a:prstGeom prst="roundRect">
            <a:avLst>
              <a:gd name="adj" fmla="val 6897"/>
            </a:avLst>
          </a:prstGeom>
          <a:solidFill>
            <a:srgbClr val="F0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1234440"/>
            <a:ext cx="73152" cy="1060704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7256" y="1361724"/>
            <a:ext cx="2139696" cy="4030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69–74%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77256" y="1870862"/>
            <a:ext cx="2139696" cy="2969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unanimous agreement range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955280" y="1234440"/>
            <a:ext cx="2514600" cy="1060704"/>
          </a:xfrm>
          <a:prstGeom prst="roundRect">
            <a:avLst>
              <a:gd name="adj" fmla="val 6897"/>
            </a:avLst>
          </a:prstGeom>
          <a:solidFill>
            <a:srgbClr val="FFF2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234440"/>
            <a:ext cx="73152" cy="1060704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4736" y="1361724"/>
            <a:ext cx="2185416" cy="4030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0.50–0.57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74736" y="1870862"/>
            <a:ext cx="2185416" cy="2969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E6673"/>
                </a:solidFill>
              </a:rPr>
              <a:t>Fleiss κ range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77240" y="2852928"/>
            <a:ext cx="603504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8986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Seed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1719072" y="28986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Unanimous agreement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593592" y="28986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Fleiss κ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56632" y="28986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Krippendorff α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77240" y="3195828"/>
            <a:ext cx="603504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2415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17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1719072" y="32415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69.0%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3593592" y="32415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0.503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056632" y="32415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0.507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77240" y="3538728"/>
            <a:ext cx="60350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35844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43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1719072" y="35844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69.0%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3593592" y="35844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0.503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5056632" y="35844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0.507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77240" y="3881628"/>
            <a:ext cx="60350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39273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101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1719072" y="39273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73.8%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3593592" y="39273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0.572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5056632" y="39273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0.576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777240" y="4224528"/>
            <a:ext cx="60350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42702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211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1719072" y="42702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73.8%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3593592" y="42702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0.565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5056632" y="42702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0.568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777240" y="4567428"/>
            <a:ext cx="60350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4672" y="4613148"/>
            <a:ext cx="84124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307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1719072" y="4613148"/>
            <a:ext cx="180136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69.0%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3593592" y="4613148"/>
            <a:ext cx="138988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0.503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5056632" y="4613148"/>
            <a:ext cx="1709928" cy="2788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0.507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777240" y="4910328"/>
            <a:ext cx="60350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" y="5166360"/>
            <a:ext cx="6035040" cy="530352"/>
          </a:xfrm>
          <a:prstGeom prst="roundRect">
            <a:avLst>
              <a:gd name="adj" fmla="val 13793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166360"/>
            <a:ext cx="73152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8408" y="5294376"/>
            <a:ext cx="5715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Confirmed repeated-run stability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78408" y="5605272"/>
            <a:ext cx="5687568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full repeated-trial run completed: 5 seeds × 42 rows × 3 providers = 630 predictions.</a:t>
            </a:r>
            <a:endParaRPr lang="en-US" sz="1280" dirty="0"/>
          </a:p>
        </p:txBody>
      </p:sp>
      <p:sp>
        <p:nvSpPr>
          <p:cNvPr id="56" name="Shape 54"/>
          <p:cNvSpPr/>
          <p:nvPr/>
        </p:nvSpPr>
        <p:spPr>
          <a:xfrm>
            <a:off x="7132320" y="2834640"/>
            <a:ext cx="434340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59752" y="2880360"/>
            <a:ext cx="106984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Provider</a:t>
            </a:r>
            <a:endParaRPr lang="en-US" sz="1080" dirty="0"/>
          </a:p>
        </p:txBody>
      </p:sp>
      <p:sp>
        <p:nvSpPr>
          <p:cNvPr id="58" name="Text 56"/>
          <p:cNvSpPr/>
          <p:nvPr/>
        </p:nvSpPr>
        <p:spPr>
          <a:xfrm>
            <a:off x="8302752" y="2880360"/>
            <a:ext cx="143560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Mean repeat agreement</a:t>
            </a:r>
            <a:endParaRPr lang="en-US" sz="1080" dirty="0"/>
          </a:p>
        </p:txBody>
      </p:sp>
      <p:sp>
        <p:nvSpPr>
          <p:cNvPr id="59" name="Text 57"/>
          <p:cNvSpPr/>
          <p:nvPr/>
        </p:nvSpPr>
        <p:spPr>
          <a:xfrm>
            <a:off x="9811512" y="2880360"/>
            <a:ext cx="161848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Interpretation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7132320" y="3257550"/>
            <a:ext cx="434340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59752" y="3303270"/>
            <a:ext cx="106984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Anthropic</a:t>
            </a:r>
            <a:endParaRPr lang="en-US" sz="1020" dirty="0"/>
          </a:p>
        </p:txBody>
      </p:sp>
      <p:sp>
        <p:nvSpPr>
          <p:cNvPr id="62" name="Text 60"/>
          <p:cNvSpPr/>
          <p:nvPr/>
        </p:nvSpPr>
        <p:spPr>
          <a:xfrm>
            <a:off x="8302752" y="3303270"/>
            <a:ext cx="143560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100%</a:t>
            </a:r>
            <a:endParaRPr lang="en-US" sz="1020" dirty="0"/>
          </a:p>
        </p:txBody>
      </p:sp>
      <p:sp>
        <p:nvSpPr>
          <p:cNvPr id="63" name="Text 61"/>
          <p:cNvSpPr/>
          <p:nvPr/>
        </p:nvSpPr>
        <p:spPr>
          <a:xfrm>
            <a:off x="9811512" y="3303270"/>
            <a:ext cx="161848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No label variation across five repeats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7132320" y="3680460"/>
            <a:ext cx="4343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59752" y="3726180"/>
            <a:ext cx="106984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Gemini</a:t>
            </a:r>
            <a:endParaRPr lang="en-US" sz="1020" dirty="0"/>
          </a:p>
        </p:txBody>
      </p:sp>
      <p:sp>
        <p:nvSpPr>
          <p:cNvPr id="66" name="Text 64"/>
          <p:cNvSpPr/>
          <p:nvPr/>
        </p:nvSpPr>
        <p:spPr>
          <a:xfrm>
            <a:off x="8302752" y="3726180"/>
            <a:ext cx="143560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100%</a:t>
            </a:r>
            <a:endParaRPr lang="en-US" sz="1020" dirty="0"/>
          </a:p>
        </p:txBody>
      </p:sp>
      <p:sp>
        <p:nvSpPr>
          <p:cNvPr id="67" name="Text 65"/>
          <p:cNvSpPr/>
          <p:nvPr/>
        </p:nvSpPr>
        <p:spPr>
          <a:xfrm>
            <a:off x="9811512" y="3726180"/>
            <a:ext cx="161848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No label variation across five repeats</a:t>
            </a:r>
            <a:endParaRPr lang="en-US" sz="1020" dirty="0"/>
          </a:p>
        </p:txBody>
      </p:sp>
      <p:sp>
        <p:nvSpPr>
          <p:cNvPr id="68" name="Shape 66"/>
          <p:cNvSpPr/>
          <p:nvPr/>
        </p:nvSpPr>
        <p:spPr>
          <a:xfrm>
            <a:off x="7132320" y="4103370"/>
            <a:ext cx="4343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59752" y="4149090"/>
            <a:ext cx="106984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OpenAI</a:t>
            </a:r>
            <a:endParaRPr lang="en-US" sz="1020" dirty="0"/>
          </a:p>
        </p:txBody>
      </p:sp>
      <p:sp>
        <p:nvSpPr>
          <p:cNvPr id="70" name="Text 68"/>
          <p:cNvSpPr/>
          <p:nvPr/>
        </p:nvSpPr>
        <p:spPr>
          <a:xfrm>
            <a:off x="8302752" y="4149090"/>
            <a:ext cx="143560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96.2%</a:t>
            </a:r>
            <a:endParaRPr lang="en-US" sz="1020" dirty="0"/>
          </a:p>
        </p:txBody>
      </p:sp>
      <p:sp>
        <p:nvSpPr>
          <p:cNvPr id="71" name="Text 69"/>
          <p:cNvSpPr/>
          <p:nvPr/>
        </p:nvSpPr>
        <p:spPr>
          <a:xfrm>
            <a:off x="9811512" y="4149090"/>
            <a:ext cx="1618488" cy="3589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Small run-to-run variation</a:t>
            </a:r>
            <a:endParaRPr lang="en-US" sz="1020" dirty="0"/>
          </a:p>
        </p:txBody>
      </p:sp>
      <p:sp>
        <p:nvSpPr>
          <p:cNvPr id="72" name="Shape 70"/>
          <p:cNvSpPr/>
          <p:nvPr/>
        </p:nvSpPr>
        <p:spPr>
          <a:xfrm>
            <a:off x="7132320" y="4526280"/>
            <a:ext cx="4343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32320" y="4773168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32320" y="4773168"/>
            <a:ext cx="73152" cy="71323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33488" y="4901184"/>
            <a:ext cx="4023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What changed methodologically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7333488" y="5212080"/>
            <a:ext cx="39959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Seeds now control row order, repeats, logging, and reproducibility metadata. For hosted models, reproducibility is documented through frozen prompts, hashes, raw responses, and repeated-trial stability rather than assuming perfect determinism.</a:t>
            </a:r>
            <a:endParaRPr lang="en-US" sz="1280" dirty="0"/>
          </a:p>
        </p:txBody>
      </p:sp>
      <p:sp>
        <p:nvSpPr>
          <p:cNvPr id="77" name="Shape 75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 run used seeds 17, 43, 101, 211, and 307 on the provisional finalist.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REVIEW POLICY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Majority vote became a tiered review signal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forcing a single label, provider disagreement is now converted into review priority.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E8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17320"/>
            <a:ext cx="73152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1521562"/>
            <a:ext cx="1545336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7 rows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88136" y="1938528"/>
            <a:ext cx="1545336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673"/>
                </a:solidFill>
              </a:rPr>
              <a:t>Tier 1: 3 Yes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971800" y="14173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1417320"/>
            <a:ext cx="73152" cy="8686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1256" y="1521562"/>
            <a:ext cx="1545336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3 rows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191256" y="1938528"/>
            <a:ext cx="1545336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673"/>
                </a:solidFill>
              </a:rPr>
              <a:t>Tier 2: 2 Yes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68680" y="251460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2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514600"/>
            <a:ext cx="73152" cy="86868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" y="2618842"/>
            <a:ext cx="1545336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10 rows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88136" y="3035808"/>
            <a:ext cx="1545336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673"/>
                </a:solidFill>
              </a:rPr>
              <a:t>Tier 3: 1 Yes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2971800" y="251460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3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2514600"/>
            <a:ext cx="73152" cy="868680"/>
          </a:xfrm>
          <a:prstGeom prst="rect">
            <a:avLst/>
          </a:prstGeom>
          <a:solidFill>
            <a:srgbClr val="5E6673"/>
          </a:solidFill>
          <a:ln w="12700">
            <a:solidFill>
              <a:srgbClr val="5E66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91256" y="2618842"/>
            <a:ext cx="1545336" cy="3300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22 rows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191256" y="3035808"/>
            <a:ext cx="1545336" cy="2432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E6673"/>
                </a:solidFill>
              </a:rPr>
              <a:t>Tier 4: 0 Yes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806440" y="1417320"/>
            <a:ext cx="539496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1463040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Tier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839712" y="1463040"/>
            <a:ext cx="1755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Rule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668512" y="1463040"/>
            <a:ext cx="2487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Use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806440" y="1901952"/>
            <a:ext cx="539496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33872" y="1947672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Tier 1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839712" y="1947672"/>
            <a:ext cx="1755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3 providers say Yes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668512" y="1947672"/>
            <a:ext cx="2487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Strong unlearning candidate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806440" y="2386584"/>
            <a:ext cx="53949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2432304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Tier 2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839712" y="2432304"/>
            <a:ext cx="1755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2 providers say Yes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8668512" y="2432304"/>
            <a:ext cx="2487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Likely positive; review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5806440" y="2871216"/>
            <a:ext cx="53949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2916936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Tier 3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839712" y="2916936"/>
            <a:ext cx="1755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 provider says Yes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8668512" y="2916936"/>
            <a:ext cx="2487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Priority review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5806440" y="3355848"/>
            <a:ext cx="53949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33872" y="3401568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Tier 4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6839712" y="3401568"/>
            <a:ext cx="17556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 providers say Yes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8668512" y="3401568"/>
            <a:ext cx="248716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Likely negative; sample audit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5806440" y="3840480"/>
            <a:ext cx="53949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06440" y="416052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06440" y="4160520"/>
            <a:ext cx="73152" cy="65836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07608" y="4288536"/>
            <a:ext cx="5074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Stability finding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007608" y="4599432"/>
            <a:ext cx="504748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39 of 42 rows kept the same tier across repeated runs; 3 rows changed tier and should be reviewed before final claims.</a:t>
            </a:r>
            <a:endParaRPr lang="en-US" sz="1280" dirty="0"/>
          </a:p>
        </p:txBody>
      </p:sp>
      <p:sp>
        <p:nvSpPr>
          <p:cNvPr id="46" name="Shape 44"/>
          <p:cNvSpPr/>
          <p:nvPr/>
        </p:nvSpPr>
        <p:spPr>
          <a:xfrm>
            <a:off x="5806440" y="498348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06440" y="4983480"/>
            <a:ext cx="73152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07608" y="5111496"/>
            <a:ext cx="5074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Why this helps the team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007608" y="5422392"/>
            <a:ext cx="504748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output is no longer just accuracy. It creates a human-review queue, highlights disagreement, and prioritizes EPA/boundary cases.</a:t>
            </a:r>
            <a:endParaRPr lang="en-US" sz="1280" dirty="0"/>
          </a:p>
        </p:txBody>
      </p:sp>
      <p:sp>
        <p:nvSpPr>
          <p:cNvPr id="50" name="Shape 48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distribution from five-repeat stability analysis of the provisional finalist.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INTERPRETATION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takeaways for this week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moved from isolated benchmark scores toward an auditable review workflow.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73152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4538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1. Benchmark is cleaner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7647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evaluation set was reduced from 49 to 42 context-complete rows after duplicate/leakage controls.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25880"/>
            <a:ext cx="73152" cy="114300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4538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2. EPA remains the key adjudication case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17647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Corrected exact matching identifies 21 EPA rows; many are boundary cases under old/current definitions.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73152" cy="11430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4538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3. Codebook wording matters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3608" y="17647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Old broad definition improves recall but lowers specificity; current strict definition is conservative.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77240" y="29260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0EEFF"/>
          </a:solidFill>
          <a:ln w="12700">
            <a:solidFill>
              <a:srgbClr val="F0E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926080"/>
            <a:ext cx="73152" cy="114300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0540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4. Reliability is now measurable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" y="33649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Cross-provider agreement, repeated-trial stability, Fleiss κ, Krippendorff α, and tiered review are in the workflow.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4434840" y="29260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E8F5F0"/>
          </a:solidFill>
          <a:ln w="12700">
            <a:solidFill>
              <a:srgbClr val="E8F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2926080"/>
            <a:ext cx="73152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0540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5. Production pilot works as review triage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36008" y="33649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new document pilot produced verified extraction, multi-provider coding, and reviewable annotation segments.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8092440" y="29260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EEFE9"/>
          </a:solidFill>
          <a:ln w="12700">
            <a:solidFill>
              <a:srgbClr val="FEEF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2926080"/>
            <a:ext cx="73152" cy="1143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054096"/>
            <a:ext cx="3063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6. Final claims still need human labels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93608" y="3364992"/>
            <a:ext cx="303580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Old/current/final definition-specific labels are not complete, so current rankings remain provisional.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822960" y="47091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Team discussion question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20440" y="4645152"/>
            <a:ext cx="7680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Which EPA/boundary rows should be prioritized for definition-specific adjudication first?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rankings are discovery-stage until definition-specific gold labels are complete.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NEXT STEPS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 before locking the final protocol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broad rerun is needed right now; the next step is adjudication and analysis-only rescoring.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261872"/>
            <a:ext cx="438912" cy="438912"/>
          </a:xfrm>
          <a:prstGeom prst="ellipse">
            <a:avLst/>
          </a:prstGeom>
          <a:solidFill>
            <a:srgbClr val="2F6F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074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81328" y="1234440"/>
            <a:ext cx="2834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F3A"/>
                </a:solidFill>
              </a:rPr>
              <a:t>Adjudicate labels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4526280" y="1234440"/>
            <a:ext cx="6492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Complete old, current, and final-definition labels on the 42-row benchmark.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438912" cy="438912"/>
          </a:xfrm>
          <a:prstGeom prst="ellipse">
            <a:avLst/>
          </a:prstGeom>
          <a:solidFill>
            <a:srgbClr val="2F6F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21992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81328" y="2075688"/>
            <a:ext cx="2834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F3A"/>
                </a:solidFill>
              </a:rPr>
              <a:t>Rescore frozen predictions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526280" y="2075688"/>
            <a:ext cx="6492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Join adjudicated labels to saved outputs and recompute metrics without model calls.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22960" y="2944368"/>
            <a:ext cx="438912" cy="438912"/>
          </a:xfrm>
          <a:prstGeom prst="ellipse">
            <a:avLst/>
          </a:prstGeom>
          <a:solidFill>
            <a:srgbClr val="E884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63240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81328" y="2916936"/>
            <a:ext cx="2834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F3A"/>
                </a:solidFill>
              </a:rPr>
              <a:t>Review evidence failures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4526280" y="2916936"/>
            <a:ext cx="6492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Separate real hallucinated evidence from harmless quote-format mismatches.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22960" y="3785616"/>
            <a:ext cx="438912" cy="438912"/>
          </a:xfrm>
          <a:prstGeom prst="ellipse">
            <a:avLst/>
          </a:prstGeom>
          <a:solidFill>
            <a:srgbClr val="E884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904488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81328" y="3758184"/>
            <a:ext cx="2834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F3A"/>
                </a:solidFill>
              </a:rPr>
              <a:t>Audit target taxonomy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4526280" y="3758184"/>
            <a:ext cx="6492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Resolve missing/unmapped target categories before presenting target accuracy.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822960" y="4626864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457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81328" y="4599432"/>
            <a:ext cx="2834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1F3A"/>
                </a:solidFill>
              </a:rPr>
              <a:t>Small confirmatory run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4526280" y="4599432"/>
            <a:ext cx="6492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After adjudication, rerun only the final two contenders contemporaneously.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914400" y="5532120"/>
            <a:ext cx="10287000" cy="658368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5532120"/>
            <a:ext cx="73152" cy="65836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5660136"/>
            <a:ext cx="9966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What I will present next week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" y="5971032"/>
            <a:ext cx="993952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A deeper walkthrough of the controlled experiment phases, including context-level and workflow comparisons, after today’s codebook/cleanup update has been discussed.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immediate next action: definition-specific human adjudication, then analysis-only rescoring.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APPENDIX · CONFUSION MATRICES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 49-row benchmark: conservative predictions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mixed-label benchmark as last meeting: 39 Yes and 10 No passages, definitions-only prompt.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Claude Sonnet 5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8580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673"/>
                </a:solidFill>
              </a:rPr>
              <a:t>N=49 · current definitions only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16128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9232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 rot="16200000">
            <a:off x="68580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16200000">
            <a:off x="68580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6128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86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9232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890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128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786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9232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890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128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5BD0"/>
                </a:solidFill>
              </a:rPr>
              <a:t>Acc 49.0% · F1 52.8%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Gemini 3.1 Flash Lite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443484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673"/>
                </a:solidFill>
              </a:rPr>
              <a:t>N=49 · current definitions only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491032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4136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 rot="16200000">
            <a:off x="443484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 rot="16200000">
            <a:off x="443484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1032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9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136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794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1032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690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136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794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1032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Acc 55.1% · F1 62.1%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8388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GPT-5.6 Terra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818388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673"/>
                </a:solidFill>
              </a:rPr>
              <a:t>N=49 · current definitions only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865936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09040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 rot="16200000">
            <a:off x="818388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 rot="16200000">
            <a:off x="818388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5936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9594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9040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2698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65936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9594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30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09040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2698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5936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</a:rPr>
              <a:t>Acc 38.8% · F1 37.5%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68680" y="5074920"/>
            <a:ext cx="10652760" cy="640080"/>
          </a:xfrm>
          <a:prstGeom prst="roundRect">
            <a:avLst>
              <a:gd name="adj" fmla="val 11429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8680" y="5074920"/>
            <a:ext cx="73152" cy="64008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9848" y="5202936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Reading the old benchmark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069848" y="5513832"/>
            <a:ext cx="1030528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main weakness was false negatives: models usually avoided false positives but missed many historical Yes labels, especially in the EPA document.</a:t>
            </a:r>
            <a:endParaRPr lang="en-US" sz="1280" dirty="0"/>
          </a:p>
        </p:txBody>
      </p:sp>
      <p:sp>
        <p:nvSpPr>
          <p:cNvPr id="54" name="Shape 52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49-row definitions-only benchmark; shared-provider subset shown for comparison with local-context run.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APPENDIX · CONFUSION MATRICES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Local-context run: clean set, same EPA boundary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context-complete rows after removing duplicate/leakage concerns: 32 Yes and 10 No.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Claude Sonnet 5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8580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673"/>
                </a:solidFill>
              </a:rPr>
              <a:t>N=42 · ±2 local context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16128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9232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 rot="16200000">
            <a:off x="68580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16200000">
            <a:off x="68580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6128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86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9232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890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128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786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9232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890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128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5BD0"/>
                </a:solidFill>
              </a:rPr>
              <a:t>Acc 45.2% · F1 43.9%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Gemini 3.1 Flash Lite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443484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673"/>
                </a:solidFill>
              </a:rPr>
              <a:t>N=42 · ±2 local context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491032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4136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 rot="16200000">
            <a:off x="443484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 rot="16200000">
            <a:off x="443484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1032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9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136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794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1032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690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18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136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794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1032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Acc 54.8% · F1 59.6%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83880" y="1417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GPT-5.6 Terra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8183880" y="16824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673"/>
                </a:solidFill>
              </a:rPr>
              <a:t>N=42 · ±2 local context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8659368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090404" y="2130552"/>
            <a:ext cx="13761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 rot="16200000">
            <a:off x="8183880" y="270662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 rot="16200000">
            <a:off x="8183880" y="371475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59368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95944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90404" y="2377440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26980" y="2468880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659368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95944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25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090404" y="3461004"/>
            <a:ext cx="1376172" cy="10287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26980" y="3552444"/>
            <a:ext cx="1303020" cy="8823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59368" y="4599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</a:rPr>
              <a:t>Acc 40.5% · F1 35.9%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68680" y="5074920"/>
            <a:ext cx="10652760" cy="640080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8680" y="5074920"/>
            <a:ext cx="73152" cy="6400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9848" y="5202936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069848" y="5513832"/>
            <a:ext cx="1030528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Local context improved auditability and made model reasoning easier to inspect, but it did not by itself resolve the label/codebook mismatch.</a:t>
            </a:r>
            <a:endParaRPr lang="en-US" sz="1280" dirty="0"/>
          </a:p>
        </p:txBody>
      </p:sp>
      <p:sp>
        <p:nvSpPr>
          <p:cNvPr id="54" name="Shape 52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42-row local-context benchmark; same three providers shown as prior slide.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APPENDIX · DOCUMENT-LEVEL VALUES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 recall: EPA remains hardest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uses the same three providers available in both the 49-row benchmark and the 42-row local-context run.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34924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63040"/>
            <a:ext cx="175564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Prior 49-row benchmark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2542032" y="146304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Claude Sonnet 5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639312" y="1463040"/>
            <a:ext cx="12527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Gemini 3.1 Flash Lite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965192" y="146304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GPT-5.6 Terra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5800" y="2000250"/>
            <a:ext cx="534924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045970"/>
            <a:ext cx="175564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EPA lessons learned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542032" y="204597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0/20 · 0%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639312" y="2045970"/>
            <a:ext cx="12527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2/20 · 10%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965192" y="204597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0/20 · 0%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85800" y="2583180"/>
            <a:ext cx="53492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628900"/>
            <a:ext cx="175564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GAO observations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2542032" y="262890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6/10 · 60%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639312" y="2628900"/>
            <a:ext cx="12527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7/10 · 70%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965192" y="262890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5/10 · 50%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85800" y="3166110"/>
            <a:ext cx="53492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211830"/>
            <a:ext cx="175564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Post-Katrina preparedness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542032" y="321183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8/9 · 88.9%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3639312" y="3211830"/>
            <a:ext cx="12527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9/9 · 100%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965192" y="321183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4/9 · 44.4%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85800" y="3749040"/>
            <a:ext cx="534924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417320"/>
            <a:ext cx="525780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463040"/>
            <a:ext cx="17099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Local-context 42-row run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074152" y="146304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Claude Sonnet 5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171432" y="1463040"/>
            <a:ext cx="12070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Gemini 3.1 Flash Lite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10451592" y="1463040"/>
            <a:ext cx="9784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GPT-5.6 Terra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263640" y="2000250"/>
            <a:ext cx="525780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2045970"/>
            <a:ext cx="17099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EPA lessons learned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074152" y="204597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0/16 · 0%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9171432" y="2045970"/>
            <a:ext cx="12070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0/16 · 0%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10451592" y="2045970"/>
            <a:ext cx="9784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0/16 · 0%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263640" y="2583180"/>
            <a:ext cx="52578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2628900"/>
            <a:ext cx="17099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GAO observations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8074152" y="262890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5/10 · 50%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9171432" y="2628900"/>
            <a:ext cx="12070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8/10 · 80%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10451592" y="2628900"/>
            <a:ext cx="9784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4/10 · 40%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6263640" y="3166110"/>
            <a:ext cx="52578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3211830"/>
            <a:ext cx="17099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Post-Katrina preparedness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8074152" y="3211830"/>
            <a:ext cx="102412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4/6 · 66.7%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9171432" y="3211830"/>
            <a:ext cx="12070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6/6 · 100%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10451592" y="3211830"/>
            <a:ext cx="978408" cy="518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3/6 · 50%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6263640" y="3749040"/>
            <a:ext cx="52578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8680" y="416052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680" y="4160520"/>
            <a:ext cx="73152" cy="786384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9848" y="4288536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What changed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69848" y="4599432"/>
            <a:ext cx="1021384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cleaned local-context set is smaller and more controlled. The key pattern is stable: GAO and Post-Katrina are easier than EPA, where many positives look like adaptation, coordination, training, or capacity-building rather than explicit displacement.</a:t>
            </a:r>
            <a:endParaRPr lang="en-US" sz="1280" dirty="0"/>
          </a:p>
        </p:txBody>
      </p:sp>
      <p:sp>
        <p:nvSpPr>
          <p:cNvPr id="51" name="Shape 49"/>
          <p:cNvSpPr/>
          <p:nvPr/>
        </p:nvSpPr>
        <p:spPr>
          <a:xfrm>
            <a:off x="868680" y="5138928"/>
            <a:ext cx="10561320" cy="640080"/>
          </a:xfrm>
          <a:prstGeom prst="roundRect">
            <a:avLst>
              <a:gd name="adj" fmla="val 11429"/>
            </a:avLst>
          </a:prstGeom>
          <a:solidFill>
            <a:srgbClr val="FEEFE9"/>
          </a:solidFill>
          <a:ln w="12700">
            <a:solidFill>
              <a:srgbClr val="FEEF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8680" y="5138928"/>
            <a:ext cx="73152" cy="6400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9848" y="5266944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How to explain this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069848" y="5577840"/>
            <a:ext cx="1021384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This is not random model failure. It is a document-style and definition-threshold problem: the team needs to decide whether EPA adaptation passages should count as unlearning.</a:t>
            </a:r>
            <a:endParaRPr lang="en-US" sz="1280" dirty="0"/>
          </a:p>
        </p:txBody>
      </p:sp>
      <p:sp>
        <p:nvSpPr>
          <p:cNvPr id="55" name="Shape 5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are positive recall: TP / human-positive rows. Old N=49; local-context N=42.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APPENDIX · CODEBOOK COMPARISON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Old vs. current codebook: tradeoff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compared definition wording on the same 42 rows and three providers; results are scored against historical labels.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Old broad · simple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59436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673"/>
                </a:solidFill>
              </a:rPr>
              <a:t>N=126 provider-row decisions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069848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03704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 rot="16200000">
            <a:off x="594360" y="268467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16200000">
            <a:off x="594360" y="36255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69848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03704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9848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424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44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03704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52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9848" y="4462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42A"/>
                </a:solidFill>
              </a:rPr>
              <a:t>Acc 57.1% · F1 65.3%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20440" y="1417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Old broad · checklist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352044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673"/>
                </a:solidFill>
              </a:rPr>
              <a:t>N=126 provider-row decisions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3995928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29784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 rot="16200000">
            <a:off x="3520440" y="268467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 rot="16200000">
            <a:off x="3520440" y="36255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95928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32504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29784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9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95928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32504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47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29784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49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95928" y="4462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42A"/>
                </a:solidFill>
              </a:rPr>
              <a:t>Acc 55.6% · F1 63.5%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1417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Current strict · simple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644652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673"/>
                </a:solidFill>
              </a:rPr>
              <a:t>N=126 provider-row decisions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6922008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55864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 rot="16200000">
            <a:off x="6446520" y="268467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 rot="16200000">
            <a:off x="6446520" y="36255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22008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8584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29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55864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2440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22008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58584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71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55864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92440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22008" y="4462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</a:rPr>
              <a:t>Acc 42.9% · F1 40.8%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372600" y="1417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B1F3A"/>
                </a:solidFill>
              </a:rPr>
              <a:t>Current strict · checklist</a:t>
            </a:r>
            <a:endParaRPr lang="en-US" sz="1420" dirty="0"/>
          </a:p>
        </p:txBody>
      </p:sp>
      <p:sp>
        <p:nvSpPr>
          <p:cNvPr id="51" name="Text 49"/>
          <p:cNvSpPr/>
          <p:nvPr/>
        </p:nvSpPr>
        <p:spPr>
          <a:xfrm>
            <a:off x="937260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E6673"/>
                </a:solidFill>
              </a:rPr>
              <a:t>N=126 provider-row decisions</a:t>
            </a:r>
            <a:endParaRPr lang="en-US" sz="1040" dirty="0"/>
          </a:p>
        </p:txBody>
      </p:sp>
      <p:sp>
        <p:nvSpPr>
          <p:cNvPr id="52" name="Text 50"/>
          <p:cNvSpPr/>
          <p:nvPr/>
        </p:nvSpPr>
        <p:spPr>
          <a:xfrm>
            <a:off x="9848088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No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981944" y="2130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6673"/>
                </a:solidFill>
              </a:rPr>
              <a:t>Pred Yes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 rot="16200000">
            <a:off x="9372600" y="268467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No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 rot="16200000">
            <a:off x="9372600" y="362559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E6673"/>
                </a:solidFill>
              </a:rPr>
              <a:t>Actual Yes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848088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84664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29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981944" y="2377440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EEF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018520" y="2468880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848088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FFF2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84664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61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981944" y="3392424"/>
            <a:ext cx="1078992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018520" y="3483864"/>
            <a:ext cx="100584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35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848088" y="4462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ED"/>
                </a:solidFill>
              </a:rPr>
              <a:t>Acc 50.8% · F1 52.6%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22960" y="4992624"/>
            <a:ext cx="10835640" cy="676656"/>
          </a:xfrm>
          <a:prstGeom prst="roundRect">
            <a:avLst>
              <a:gd name="adj" fmla="val 1081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2960" y="4992624"/>
            <a:ext cx="73152" cy="676656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24128" y="5120640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Main finding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1024128" y="5431536"/>
            <a:ext cx="104881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The old broader wording recovers more historical positives, but also creates more false positives. The current stricter wording preserves specificity, especially with the evidence checklist, but misses many historical positives.</a:t>
            </a:r>
            <a:endParaRPr lang="en-US" sz="1280" dirty="0"/>
          </a:p>
        </p:txBody>
      </p:sp>
      <p:sp>
        <p:nvSpPr>
          <p:cNvPr id="69" name="Shape 67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Caveat: operational comparison against historical labels, not yet definition-specific adjudicated gold labels.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09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6FED"/>
                </a:solidFill>
              </a:rPr>
              <a:t>APPENDIX · SOURCE-LEVEL CODEBOOK IMPACT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Codebook impact: EPA boundary cases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832104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EPA diagnostic shows how old/current wording shifts positive calls on the same cleaned benchmark.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62356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63040"/>
            <a:ext cx="18013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Definition condition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2587752" y="1463040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TP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090672" y="1463040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TN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93592" y="1463040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FP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096512" y="1463040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FN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599432" y="1463040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Recall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468112" y="1463040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Specificity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85800" y="1956816"/>
            <a:ext cx="562356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002536"/>
            <a:ext cx="18013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Old broad · simple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587752" y="2002536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25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090672" y="2002536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11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593592" y="2002536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4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096512" y="2002536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23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599432" y="2002536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52.1%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468112" y="2002536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73.3%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85800" y="2496312"/>
            <a:ext cx="56235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542032"/>
            <a:ext cx="18013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Old broad · checklist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2587752" y="2542032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22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090672" y="2542032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8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3593592" y="2542032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7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4096512" y="2542032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26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4599432" y="2542032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45.8%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468112" y="2542032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53.3%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85800" y="3035808"/>
            <a:ext cx="56235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081528"/>
            <a:ext cx="18013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Current strict · simple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2587752" y="3081528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6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3090672" y="3081528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14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3593592" y="3081528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096512" y="3081528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42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4599432" y="3081528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12.5%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5468112" y="3081528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93.3%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685800" y="3575304"/>
            <a:ext cx="56235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3621024"/>
            <a:ext cx="18013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Current strict · checklist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2587752" y="3621024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14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3090672" y="3621024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14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3593592" y="3621024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1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4096512" y="3621024"/>
            <a:ext cx="4297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34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4599432" y="3621024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29.2%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5468112" y="3621024"/>
            <a:ext cx="7955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93.3%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685800" y="4114800"/>
            <a:ext cx="56235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1417320"/>
            <a:ext cx="493776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1463040"/>
            <a:ext cx="143560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Document</a:t>
            </a:r>
            <a:endParaRPr lang="en-US" sz="1080" dirty="0"/>
          </a:p>
        </p:txBody>
      </p:sp>
      <p:sp>
        <p:nvSpPr>
          <p:cNvPr id="48" name="Text 46"/>
          <p:cNvSpPr/>
          <p:nvPr/>
        </p:nvSpPr>
        <p:spPr>
          <a:xfrm>
            <a:off x="8074152" y="1463040"/>
            <a:ext cx="335584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A"/>
                </a:solidFill>
              </a:rPr>
              <a:t>Pattern under the codebook comparison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6537960" y="2091690"/>
            <a:ext cx="4937760" cy="0"/>
          </a:xfrm>
          <a:prstGeom prst="line">
            <a:avLst/>
          </a:prstGeom>
          <a:noFill/>
          <a:ln w="15240">
            <a:solidFill>
              <a:srgbClr val="0B1F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65392" y="2137410"/>
            <a:ext cx="143560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EPA lessons learned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8074152" y="2137410"/>
            <a:ext cx="335584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Most sensitive to definition threshold; old wording marks more coordination/capacity adaptation as positive.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6537960" y="2766060"/>
            <a:ext cx="49377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5392" y="2811780"/>
            <a:ext cx="143560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GAO observations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8074152" y="2811780"/>
            <a:ext cx="335584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Easier when the text explicitly says business-as-usual should be replaced or a prior explanation is wrong.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6537960" y="3440430"/>
            <a:ext cx="49377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65392" y="3486150"/>
            <a:ext cx="143560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Post-Katrina preparedness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8074152" y="3486150"/>
            <a:ext cx="3355848" cy="610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</a:rPr>
              <a:t>Often uses overt reform language, so positives are easier to justify under stricter criteria.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6537960" y="4114800"/>
            <a:ext cx="493776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8680" y="461772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FFF2E5"/>
          </a:solidFill>
          <a:ln w="12700">
            <a:solidFill>
              <a:srgbClr val="FFF2E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" y="4617720"/>
            <a:ext cx="73152" cy="868680"/>
          </a:xfrm>
          <a:prstGeom prst="rect">
            <a:avLst/>
          </a:prstGeom>
          <a:solidFill>
            <a:srgbClr val="E8842A"/>
          </a:solidFill>
          <a:ln w="12700">
            <a:solidFill>
              <a:srgbClr val="E884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69848" y="4745736"/>
            <a:ext cx="10287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Decision for the team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069848" y="5056632"/>
            <a:ext cx="10259568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11827"/>
                </a:solidFill>
              </a:rPr>
              <a:t>If adaptation, coordination routines, liaison roles, training, and added capacity count as unlearning, the final definition should say so explicitly. If unlearning requires displacement of a prior approach, several historical EPA positives need adjudication.</a:t>
            </a:r>
            <a:endParaRPr lang="en-US" sz="1280" dirty="0"/>
          </a:p>
        </p:txBody>
      </p:sp>
      <p:sp>
        <p:nvSpPr>
          <p:cNvPr id="63" name="Shape 61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6437376"/>
            <a:ext cx="8961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EPA values aggregate three providers × 21 EPA rows = 63 provider-row decisions; document notes summarize the source-level pattern.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147572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6673"/>
                </a:solidFill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Unlearning Project Weekly Team Update</dc:title>
  <dc:subject>Unlearning Project weekly team update</dc:subject>
  <dc:creator>OpenAI</dc:creator>
  <cp:lastModifiedBy>OpenAI</cp:lastModifiedBy>
  <cp:revision>1</cp:revision>
  <dcterms:created xsi:type="dcterms:W3CDTF">2026-07-24T12:15:23Z</dcterms:created>
  <dcterms:modified xsi:type="dcterms:W3CDTF">2026-07-24T12:15:23Z</dcterms:modified>
</cp:coreProperties>
</file>
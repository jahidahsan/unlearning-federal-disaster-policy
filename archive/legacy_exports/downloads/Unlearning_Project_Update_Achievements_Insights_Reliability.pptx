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Unlearning project · benchmarking and production coding workflow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4183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Unlearning Project Update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5270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66666"/>
                </a:solidFill>
              </a:rPr>
              <a:t>Model benchmarking, insights, and production paragraph-labeling pipeline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13232" y="2075688"/>
            <a:ext cx="630936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468880"/>
            <a:ext cx="78638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Main takeaway: the work has moved from prompt experiments to a usable coding workflow. OpenAI with leakage-safe examples is the strongest single-model choice by cleaned accuracy and false-positive control, while Gemini direct is the highest-F1 alternative.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759952" y="105156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75B5"/>
                </a:solidFill>
              </a:rPr>
              <a:t>72.5%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759952" y="14904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best cleaned accuracy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759952" y="205740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8235"/>
                </a:solidFill>
              </a:rPr>
              <a:t>81.2%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759952" y="24963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best cleaned F1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759952" y="306324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30A0"/>
                </a:solidFill>
              </a:rPr>
              <a:t>κ 0.37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759952" y="35021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best model–human reliability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13232" y="6053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July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was achieved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A complete workflow now exists: evaluation, model selection, reliability analysis, and annotated document outputs.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96696" y="1673352"/>
            <a:ext cx="222427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3504" y="1508760"/>
            <a:ext cx="347472" cy="34747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002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65C"/>
                </a:solidFill>
              </a:rPr>
              <a:t>Prompt grid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8872" y="2240280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Direct, definitions, examples, metadata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9886" y="1673352"/>
            <a:ext cx="222427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66694" y="1508760"/>
            <a:ext cx="347472" cy="34747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6070" y="2002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65C"/>
                </a:solidFill>
              </a:rPr>
              <a:t>3 providers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82062" y="2240280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OpenAI, Anthropic, Google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323076" y="1673352"/>
            <a:ext cx="222427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29884" y="1508760"/>
            <a:ext cx="347472" cy="34747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9260" y="2002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65C"/>
                </a:solidFill>
              </a:rPr>
              <a:t>Clean scores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45252" y="2240280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De-duplicated benchmark comparison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986266" y="1673352"/>
            <a:ext cx="222427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93074" y="1508760"/>
            <a:ext cx="347472" cy="34747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2450" y="2002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65C"/>
                </a:solidFill>
              </a:rPr>
              <a:t>Insights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108442" y="2240280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Recall/specificity and document-level patterns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1256264" y="1508760"/>
            <a:ext cx="347472" cy="34747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35640" y="2002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65C"/>
                </a:solidFill>
              </a:rPr>
              <a:t>Pipeline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71632" y="2240280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New PDFs → labels → reliability → highlights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77240" y="3200400"/>
            <a:ext cx="338328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200400"/>
            <a:ext cx="54864" cy="11430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331927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Benchmark breadth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23544" y="3593592"/>
            <a:ext cx="312724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Ran model comparisons across multiple prompt strategies and expanded from an early positive-only pilot to mixed-label evaluation.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434840" y="3200400"/>
            <a:ext cx="338328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3200400"/>
            <a:ext cx="54864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81144" y="331927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Evidence-rich outputs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581144" y="3593592"/>
            <a:ext cx="312724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Outputs now include binary unlearning, target label, agency, confidence, rationale, and evidence-oriented diagnostics.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8092440" y="3200400"/>
            <a:ext cx="338328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3200400"/>
            <a:ext cx="54864" cy="114300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38744" y="331927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Operational pipeline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8238744" y="3593592"/>
            <a:ext cx="312724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A production notebook can label new documents by paragraph, calculate reliability across model coders, and generate annotated PDFs.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603504" y="61264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Sources: v2–v5 notebooks, local-context notebook, cleaned metrics workbook, production annotation notebook.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The evaluation progressed from prompt exploration to a cleaned comparison across providers.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75B5"/>
                </a:solidFill>
              </a:rPr>
              <a:t>49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expanded GPT Test rows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2788920" y="128016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7A8C"/>
                </a:solidFill>
              </a:rPr>
              <a:t>42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788920" y="1719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local-context rows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8235"/>
                </a:solidFill>
              </a:rPr>
              <a:t>3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800600" y="1719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model providers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812280" y="128016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30A0"/>
                </a:solidFill>
              </a:rPr>
              <a:t>4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812280" y="1719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prompt strategies tested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823960" y="128016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55A11"/>
                </a:solidFill>
              </a:rPr>
              <a:t>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823960" y="1719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documents in labeled set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7240" y="2834640"/>
            <a:ext cx="3429000" cy="9875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834640"/>
            <a:ext cx="54864" cy="9875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29535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Scoring focus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23544" y="3227832"/>
            <a:ext cx="31729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Primary metric: binary unlearning classification. Secondary outputs: target category, agency, confidence, and rationale.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480560" y="2834640"/>
            <a:ext cx="3429000" cy="9875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2834640"/>
            <a:ext cx="54864" cy="98755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9535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Strategy comparison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626864" y="3227832"/>
            <a:ext cx="31729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Compared direct prompts against codebook-based prompts, few-shot examples, and metadata-enhanced variants.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183880" y="2834640"/>
            <a:ext cx="3429000" cy="9875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2834640"/>
            <a:ext cx="54864" cy="98755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0184" y="29535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Cleaned benchmark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330184" y="3227832"/>
            <a:ext cx="31729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Final comparison uses a de-duplicated evaluation set with exact test/example overlaps excluded from example-based scoring.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1673352" y="5394960"/>
            <a:ext cx="898855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152" y="532180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0%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1673352" y="5134356"/>
            <a:ext cx="898855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6152" y="506120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50%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1673352" y="4873752"/>
            <a:ext cx="898855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4800600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100%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1673352" y="5394960"/>
            <a:ext cx="8988552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73352" y="4873752"/>
            <a:ext cx="0" cy="521208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88321" y="5030114"/>
            <a:ext cx="674141" cy="364846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24629" y="4974866"/>
            <a:ext cx="674141" cy="420094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09928" y="5468112"/>
            <a:ext cx="292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Claude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184505" y="5021254"/>
            <a:ext cx="674141" cy="373706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0813" y="4971739"/>
            <a:ext cx="674141" cy="423221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6112" y="5468112"/>
            <a:ext cx="292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Gemini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8180689" y="5017084"/>
            <a:ext cx="674141" cy="377876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16997" y="4974345"/>
            <a:ext cx="674141" cy="420615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02296" y="5468112"/>
            <a:ext cx="292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OpenAI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1828800" y="4507992"/>
            <a:ext cx="137160" cy="13716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0" y="44851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Accuracy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3291840" y="4507992"/>
            <a:ext cx="137160" cy="13716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4851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F1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603504" y="61264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Cleaned scores shown use each provider’s best-performing strategy after duplicate/overlap adjustment.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model and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OpenAI is the best single-model choice when both accuracy and false-positive control matter.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577840" cy="384277"/>
          </a:xfrm>
          <a:prstGeom prst="rect">
            <a:avLst/>
          </a:prstGeom>
          <a:solidFill>
            <a:srgbClr val="EAF3F8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08760"/>
            <a:ext cx="24551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6365C"/>
                </a:solidFill>
              </a:rPr>
              <a:t>Provider / strategy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268980" y="150876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365C"/>
                </a:solidFill>
              </a:rPr>
              <a:t>N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4049878" y="150876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365C"/>
                </a:solidFill>
              </a:rPr>
              <a:t>Accuracy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4830775" y="1508760"/>
            <a:ext cx="6702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365C"/>
                </a:solidFill>
              </a:rPr>
              <a:t>F1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5555894" y="150876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365C"/>
                </a:solidFill>
              </a:rPr>
              <a:t>FP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731520" y="1885950"/>
            <a:ext cx="5577840" cy="384277"/>
          </a:xfrm>
          <a:prstGeom prst="rect">
            <a:avLst/>
          </a:prstGeom>
          <a:solidFill>
            <a:srgbClr val="F8FBFE"/>
          </a:solidFill>
          <a:ln w="508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977390"/>
            <a:ext cx="24551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</a:rPr>
              <a:t>OpenAI · examples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3268980" y="197739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40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4049878" y="197739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72.5%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4830775" y="1977390"/>
            <a:ext cx="6702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80.7%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5555894" y="197739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1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31520" y="2354580"/>
            <a:ext cx="5577840" cy="384277"/>
          </a:xfrm>
          <a:prstGeom prst="rect">
            <a:avLst/>
          </a:prstGeom>
          <a:solidFill>
            <a:srgbClr val="FFFFFF"/>
          </a:solidFill>
          <a:ln w="508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446020"/>
            <a:ext cx="24551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Gemini · direct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3268980" y="244602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46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049878" y="244602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71.7%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830775" y="2446020"/>
            <a:ext cx="6702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81.2%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5555894" y="244602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5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731520" y="2823210"/>
            <a:ext cx="5577840" cy="384277"/>
          </a:xfrm>
          <a:prstGeom prst="rect">
            <a:avLst/>
          </a:prstGeom>
          <a:solidFill>
            <a:srgbClr val="FFFFFF"/>
          </a:solidFill>
          <a:ln w="508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2914650"/>
            <a:ext cx="24551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Claude · examples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3268980" y="291465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40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4049878" y="291465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70.0%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4830775" y="2914650"/>
            <a:ext cx="6702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80.6%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5555894" y="2914650"/>
            <a:ext cx="726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</a:rPr>
              <a:t>4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7068312" y="2898648"/>
            <a:ext cx="414223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282549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0%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7068312" y="2318004"/>
            <a:ext cx="414223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224485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50%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7068312" y="1737360"/>
            <a:ext cx="414223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11112" y="166420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100%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068312" y="2898648"/>
            <a:ext cx="4142232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68312" y="1737360"/>
            <a:ext cx="0" cy="1161288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49124" y="2056714"/>
            <a:ext cx="236699" cy="84193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77872" y="2066005"/>
            <a:ext cx="236699" cy="832643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6621" y="2085746"/>
            <a:ext cx="236699" cy="81290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04888" y="297180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Acc.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8629868" y="1961489"/>
            <a:ext cx="236699" cy="937159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58616" y="1955682"/>
            <a:ext cx="236699" cy="94296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87365" y="1962650"/>
            <a:ext cx="236699" cy="935998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297180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F1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10010612" y="1903424"/>
            <a:ext cx="236699" cy="99522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39360" y="2318004"/>
            <a:ext cx="236699" cy="580644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68109" y="2400455"/>
            <a:ext cx="236699" cy="498193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66376" y="297180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FP control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7223760" y="1371600"/>
            <a:ext cx="137160" cy="13716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13487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OpenAI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8686800" y="1371600"/>
            <a:ext cx="137160" cy="13716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0" y="13487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Gemini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10149840" y="1371600"/>
            <a:ext cx="137160" cy="1371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32720" y="13487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Claude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777240" y="3931920"/>
            <a:ext cx="525780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7240" y="3931920"/>
            <a:ext cx="54864" cy="11430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3544" y="4050792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Model recommendation</a:t>
            </a:r>
            <a:endParaRPr lang="en-US" sz="1120" dirty="0"/>
          </a:p>
        </p:txBody>
      </p:sp>
      <p:sp>
        <p:nvSpPr>
          <p:cNvPr id="58" name="Text 56"/>
          <p:cNvSpPr/>
          <p:nvPr/>
        </p:nvSpPr>
        <p:spPr>
          <a:xfrm>
            <a:off x="923544" y="4325112"/>
            <a:ext cx="50017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Use OpenAI GPT-5.6 Terra with examples as the lead single model. It achieves the highest cleaned accuracy and only one false positive in the cleaned example-based set.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6309360" y="3931920"/>
            <a:ext cx="525780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3931920"/>
            <a:ext cx="54864" cy="114300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55664" y="4050792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Consensus recommendation</a:t>
            </a:r>
            <a:endParaRPr lang="en-US" sz="1120" dirty="0"/>
          </a:p>
        </p:txBody>
      </p:sp>
      <p:sp>
        <p:nvSpPr>
          <p:cNvPr id="62" name="Text 60"/>
          <p:cNvSpPr/>
          <p:nvPr/>
        </p:nvSpPr>
        <p:spPr>
          <a:xfrm>
            <a:off x="6455664" y="4325112"/>
            <a:ext cx="50017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Use three-model consensus for production coding. Gemini direct adds recall strength; Claude provides a second independent codebook-based judgment.</a:t>
            </a:r>
            <a:endParaRPr lang="en-US" sz="960" dirty="0"/>
          </a:p>
        </p:txBody>
      </p:sp>
      <p:sp>
        <p:nvSpPr>
          <p:cNvPr id="63" name="Text 61"/>
          <p:cNvSpPr/>
          <p:nvPr/>
        </p:nvSpPr>
        <p:spPr>
          <a:xfrm>
            <a:off x="603504" y="61264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FP control is specificity shown as 100 − false-positive rate for the cleaned evaluation set.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matrices for best provider strategies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The best strategies produce similar F1, but they make different tradeoffs.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65C"/>
                </a:solidFill>
              </a:rPr>
              <a:t>OpenAI · examples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58191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N=40 · Accuracy 72.5% · F1 80.7%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1161288" y="2039112"/>
            <a:ext cx="1444752" cy="100584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7864" y="2112264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548235"/>
                </a:solidFill>
              </a:rPr>
              <a:t>TN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1197864" y="2304288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6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638044" y="2039112"/>
            <a:ext cx="1444752" cy="1005840"/>
          </a:xfrm>
          <a:prstGeom prst="rect">
            <a:avLst/>
          </a:prstGeom>
          <a:solidFill>
            <a:srgbClr val="F4CC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4620" y="2112264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61C00"/>
                </a:solidFill>
              </a:rPr>
              <a:t>FP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2674620" y="2304288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161288" y="3076956"/>
            <a:ext cx="1444752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7864" y="3150108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55A11"/>
                </a:solidFill>
              </a:rPr>
              <a:t>FN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1197864" y="3342132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638044" y="3076956"/>
            <a:ext cx="1444752" cy="1005840"/>
          </a:xfrm>
          <a:prstGeom prst="rect">
            <a:avLst/>
          </a:prstGeom>
          <a:solidFill>
            <a:srgbClr val="DDE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4620" y="3150108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F75B5"/>
                </a:solidFill>
              </a:rPr>
              <a:t>TP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674620" y="3342132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23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61288" y="1837944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66666"/>
                </a:solidFill>
              </a:rPr>
              <a:t>Pred No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2638044" y="1837944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66666"/>
                </a:solidFill>
              </a:rPr>
              <a:t>Pred Yes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 rot="16200000">
            <a:off x="704088" y="22037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6666"/>
                </a:solidFill>
              </a:rPr>
              <a:t>Actual No</a:t>
            </a:r>
            <a:endParaRPr lang="en-US" sz="640" dirty="0"/>
          </a:p>
        </p:txBody>
      </p:sp>
      <p:sp>
        <p:nvSpPr>
          <p:cNvPr id="22" name="Text 20"/>
          <p:cNvSpPr/>
          <p:nvPr/>
        </p:nvSpPr>
        <p:spPr>
          <a:xfrm rot="16200000">
            <a:off x="704088" y="3214116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6666"/>
                </a:solidFill>
              </a:rPr>
              <a:t>Actual Yes</a:t>
            </a:r>
            <a:endParaRPr lang="en-US" sz="640" dirty="0"/>
          </a:p>
        </p:txBody>
      </p:sp>
      <p:sp>
        <p:nvSpPr>
          <p:cNvPr id="23" name="Text 21"/>
          <p:cNvSpPr/>
          <p:nvPr/>
        </p:nvSpPr>
        <p:spPr>
          <a:xfrm>
            <a:off x="4343400" y="13258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65C"/>
                </a:solidFill>
              </a:rPr>
              <a:t>Gemini · direct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43400" y="158191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N=46 · Accuracy 71.7% · F1 81.2%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4818888" y="2039112"/>
            <a:ext cx="1444752" cy="100584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2112264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548235"/>
                </a:solidFill>
              </a:rPr>
              <a:t>TN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4855464" y="2304288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5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95644" y="2039112"/>
            <a:ext cx="1444752" cy="1005840"/>
          </a:xfrm>
          <a:prstGeom prst="rect">
            <a:avLst/>
          </a:prstGeom>
          <a:solidFill>
            <a:srgbClr val="F4CC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2220" y="2112264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61C00"/>
                </a:solidFill>
              </a:rPr>
              <a:t>FP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332220" y="2304288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5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818888" y="3076956"/>
            <a:ext cx="1444752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150108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55A11"/>
                </a:solidFill>
              </a:rPr>
              <a:t>FN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4855464" y="3342132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8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295644" y="3076956"/>
            <a:ext cx="1444752" cy="1005840"/>
          </a:xfrm>
          <a:prstGeom prst="rect">
            <a:avLst/>
          </a:prstGeom>
          <a:solidFill>
            <a:srgbClr val="DDE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2220" y="3150108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548235"/>
                </a:solidFill>
              </a:rPr>
              <a:t>TP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6332220" y="3342132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28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818888" y="1837944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66666"/>
                </a:solidFill>
              </a:rPr>
              <a:t>Pred No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6295644" y="1837944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66666"/>
                </a:solidFill>
              </a:rPr>
              <a:t>Pred Yes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 rot="16200000">
            <a:off x="4361688" y="22037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6666"/>
                </a:solidFill>
              </a:rPr>
              <a:t>Actual No</a:t>
            </a:r>
            <a:endParaRPr lang="en-US" sz="640" dirty="0"/>
          </a:p>
        </p:txBody>
      </p:sp>
      <p:sp>
        <p:nvSpPr>
          <p:cNvPr id="40" name="Text 38"/>
          <p:cNvSpPr/>
          <p:nvPr/>
        </p:nvSpPr>
        <p:spPr>
          <a:xfrm rot="16200000">
            <a:off x="4361688" y="3214116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6666"/>
                </a:solidFill>
              </a:rPr>
              <a:t>Actual Yes</a:t>
            </a:r>
            <a:endParaRPr lang="en-US" sz="640" dirty="0"/>
          </a:p>
        </p:txBody>
      </p:sp>
      <p:sp>
        <p:nvSpPr>
          <p:cNvPr id="41" name="Text 39"/>
          <p:cNvSpPr/>
          <p:nvPr/>
        </p:nvSpPr>
        <p:spPr>
          <a:xfrm>
            <a:off x="8001000" y="13258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65C"/>
                </a:solidFill>
              </a:rPr>
              <a:t>Claude · examples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001000" y="158191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N=40 · Accuracy 70.0% · F1 80.6%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8476488" y="2039112"/>
            <a:ext cx="1444752" cy="100584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13064" y="2112264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548235"/>
                </a:solidFill>
              </a:rPr>
              <a:t>TN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8513064" y="2304288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3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9953244" y="2039112"/>
            <a:ext cx="1444752" cy="1005840"/>
          </a:xfrm>
          <a:prstGeom prst="rect">
            <a:avLst/>
          </a:prstGeom>
          <a:solidFill>
            <a:srgbClr val="F4CC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89820" y="2112264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61C00"/>
                </a:solidFill>
              </a:rPr>
              <a:t>FP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9989820" y="2304288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4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8476488" y="3076956"/>
            <a:ext cx="1444752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13064" y="3150108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55A11"/>
                </a:solidFill>
              </a:rPr>
              <a:t>FN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8513064" y="3342132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8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9953244" y="3076956"/>
            <a:ext cx="1444752" cy="1005840"/>
          </a:xfrm>
          <a:prstGeom prst="rect">
            <a:avLst/>
          </a:prstGeom>
          <a:solidFill>
            <a:srgbClr val="DDE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89820" y="3150108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030A0"/>
                </a:solidFill>
              </a:rPr>
              <a:t>TP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9989820" y="3342132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25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8476488" y="1837944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66666"/>
                </a:solidFill>
              </a:rPr>
              <a:t>Pred No</a:t>
            </a:r>
            <a:endParaRPr lang="en-US" sz="660" dirty="0"/>
          </a:p>
        </p:txBody>
      </p:sp>
      <p:sp>
        <p:nvSpPr>
          <p:cNvPr id="56" name="Text 54"/>
          <p:cNvSpPr/>
          <p:nvPr/>
        </p:nvSpPr>
        <p:spPr>
          <a:xfrm>
            <a:off x="9953244" y="1837944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66666"/>
                </a:solidFill>
              </a:rPr>
              <a:t>Pred Yes</a:t>
            </a:r>
            <a:endParaRPr lang="en-US" sz="660" dirty="0"/>
          </a:p>
        </p:txBody>
      </p:sp>
      <p:sp>
        <p:nvSpPr>
          <p:cNvPr id="57" name="Text 55"/>
          <p:cNvSpPr/>
          <p:nvPr/>
        </p:nvSpPr>
        <p:spPr>
          <a:xfrm rot="16200000">
            <a:off x="8019288" y="22037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6666"/>
                </a:solidFill>
              </a:rPr>
              <a:t>Actual No</a:t>
            </a:r>
            <a:endParaRPr lang="en-US" sz="640" dirty="0"/>
          </a:p>
        </p:txBody>
      </p:sp>
      <p:sp>
        <p:nvSpPr>
          <p:cNvPr id="58" name="Text 56"/>
          <p:cNvSpPr/>
          <p:nvPr/>
        </p:nvSpPr>
        <p:spPr>
          <a:xfrm rot="16200000">
            <a:off x="8019288" y="3214116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6666"/>
                </a:solidFill>
              </a:rPr>
              <a:t>Actual Yes</a:t>
            </a:r>
            <a:endParaRPr lang="en-US" sz="640" dirty="0"/>
          </a:p>
        </p:txBody>
      </p:sp>
      <p:sp>
        <p:nvSpPr>
          <p:cNvPr id="59" name="Shape 57"/>
          <p:cNvSpPr/>
          <p:nvPr/>
        </p:nvSpPr>
        <p:spPr>
          <a:xfrm>
            <a:off x="822960" y="4846320"/>
            <a:ext cx="10744200" cy="777240"/>
          </a:xfrm>
          <a:prstGeom prst="rect">
            <a:avLst/>
          </a:prstGeom>
          <a:solidFill>
            <a:srgbClr val="F8FBFE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2960" y="4846320"/>
            <a:ext cx="54864" cy="777240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9264" y="4965192"/>
            <a:ext cx="10488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Interpretation</a:t>
            </a:r>
            <a:endParaRPr lang="en-US" sz="1120" dirty="0"/>
          </a:p>
        </p:txBody>
      </p:sp>
      <p:sp>
        <p:nvSpPr>
          <p:cNvPr id="62" name="Text 60"/>
          <p:cNvSpPr/>
          <p:nvPr/>
        </p:nvSpPr>
        <p:spPr>
          <a:xfrm>
            <a:off x="969264" y="5239512"/>
            <a:ext cx="10488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Gemini direct identifies the most positives and has the highest F1, but OpenAI has the cleanest false-positive profile. This makes OpenAI the safer default for annotation where every highlighted paragraph may be reviewed as evidence.</a:t>
            </a:r>
            <a:endParaRPr lang="en-US" sz="960" dirty="0"/>
          </a:p>
        </p:txBody>
      </p:sp>
      <p:sp>
        <p:nvSpPr>
          <p:cNvPr id="63" name="Text 61"/>
          <p:cNvSpPr/>
          <p:nvPr/>
        </p:nvSpPr>
        <p:spPr>
          <a:xfrm>
            <a:off x="603504" y="61264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Cleaned confusion counts: duplicate-adjusted / leakage-excluded scoring.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Inter-coder reliability signal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Cohen’s κ against the human-coded test set shows moderate but not yet final agreement.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536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OpenAI · examples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2697480" y="1572768"/>
            <a:ext cx="2587752" cy="18288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572768"/>
            <a:ext cx="1904585" cy="1828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8384" y="15316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6365C"/>
                </a:solidFill>
              </a:rPr>
              <a:t>36.8%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Gemini · direct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697480" y="1984248"/>
            <a:ext cx="2587752" cy="18288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984248"/>
            <a:ext cx="1299052" cy="1828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8384" y="19431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6365C"/>
                </a:solidFill>
              </a:rPr>
              <a:t>25.1%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868680" y="2359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Claude · examples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697480" y="2395728"/>
            <a:ext cx="2587752" cy="18288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2395728"/>
            <a:ext cx="786677" cy="1828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23545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6365C"/>
                </a:solidFill>
              </a:rPr>
              <a:t>15.2%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6400800" y="153619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Gemini · local context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458200" y="1572768"/>
            <a:ext cx="2359152" cy="18288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1572768"/>
            <a:ext cx="1004999" cy="1828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90504" y="15316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6365C"/>
                </a:solidFill>
              </a:rPr>
              <a:t>21.3%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6400800" y="19476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Claude · local context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8458200" y="1984248"/>
            <a:ext cx="2359152" cy="18288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1984248"/>
            <a:ext cx="740774" cy="1828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90504" y="19431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6365C"/>
                </a:solidFill>
              </a:rPr>
              <a:t>15.7%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6400800" y="23591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937"/>
                </a:solidFill>
              </a:rPr>
              <a:t>OpenAI · local context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8458200" y="2395728"/>
            <a:ext cx="2359152" cy="18288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58200" y="2395728"/>
            <a:ext cx="556760" cy="1828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90504" y="23545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6365C"/>
                </a:solidFill>
              </a:rPr>
              <a:t>11.8%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868680" y="1133856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365C"/>
                </a:solidFill>
              </a:rPr>
              <a:t>Cleaned best-strategy 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1133856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365C"/>
                </a:solidFill>
              </a:rPr>
              <a:t>Local-context 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" y="3383280"/>
            <a:ext cx="489204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3383280"/>
            <a:ext cx="54864" cy="10972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" y="350215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What κ means here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1014984" y="3776472"/>
            <a:ext cx="4636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κ adjusts model–human agreement for chance agreement. Values remain low-to-fair because the hardest cases are not random; they cluster around boundary definitions of unlearning.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309360" y="3383280"/>
            <a:ext cx="489204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383280"/>
            <a:ext cx="54864" cy="10972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350215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How this is used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6455664" y="3776472"/>
            <a:ext cx="46360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The production pipeline calculates pairwise model agreement, Cohen’s κ, Fleiss’ κ, and Krippendorff’s α when row-level predictions are produced for new documents.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097280" y="502920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75B5"/>
                </a:solidFill>
              </a:rPr>
              <a:t>κ 0.37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1097280" y="5468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best model–human agreement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937760" y="502920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8235"/>
                </a:solidFill>
              </a:rPr>
              <a:t>3-way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4937760" y="5468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model coder setup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8732520" y="502920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55A11"/>
                </a:solidFill>
              </a:rPr>
              <a:t>Review</a:t>
            </a:r>
            <a:endParaRPr lang="en-US" sz="2500" dirty="0"/>
          </a:p>
        </p:txBody>
      </p:sp>
      <p:sp>
        <p:nvSpPr>
          <p:cNvPr id="44" name="Text 42"/>
          <p:cNvSpPr/>
          <p:nvPr/>
        </p:nvSpPr>
        <p:spPr>
          <a:xfrm>
            <a:off x="8732520" y="5468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disagreements prioritized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603504" y="61264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κ values calculated from available confusion counts; full pairwise model–model reliability is produced by the production pipeline when row-level outputs are generated.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strategy insight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Different prompts shift the recall–specificity balance rather than simply “improving” performance.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99032" y="3017520"/>
            <a:ext cx="985723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9443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0%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1399032" y="2345436"/>
            <a:ext cx="985723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27228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50%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1399032" y="1673352"/>
            <a:ext cx="985723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00200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100%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1399032" y="3017520"/>
            <a:ext cx="9857232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99032" y="1673352"/>
            <a:ext cx="0" cy="1344168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9308" y="2538996"/>
            <a:ext cx="563270" cy="47852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1628" y="2076602"/>
            <a:ext cx="563270" cy="94091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3948" y="1934121"/>
            <a:ext cx="563270" cy="1083399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35608" y="3090672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Claude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115052" y="1926056"/>
            <a:ext cx="563270" cy="109146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372" y="1998641"/>
            <a:ext cx="563270" cy="1018879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9692" y="2004017"/>
            <a:ext cx="563270" cy="1013503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1352" y="3090672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Gemini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8400796" y="2060472"/>
            <a:ext cx="563270" cy="95704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3116" y="2190857"/>
            <a:ext cx="563270" cy="826663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5436" y="1932776"/>
            <a:ext cx="563270" cy="1084744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7096" y="3090672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OpenAI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1554480" y="1307592"/>
            <a:ext cx="137160" cy="13716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12847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Direct F1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3017520" y="1307592"/>
            <a:ext cx="137160" cy="13716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12847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Definitions F1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4480560" y="1307592"/>
            <a:ext cx="137160" cy="13716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2847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Examples F1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868680" y="4160520"/>
            <a:ext cx="324612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4160520"/>
            <a:ext cx="54864" cy="9601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" y="4279392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Claude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1014984" y="4553712"/>
            <a:ext cx="29900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Examples were most useful: F1 rose to 80.6%, suggesting Claude benefits from concrete labeled demonstrations.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4480560" y="4160520"/>
            <a:ext cx="324612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160520"/>
            <a:ext cx="54864" cy="96012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4279392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Gemini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4626864" y="4553712"/>
            <a:ext cx="29900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Direct prompting performed best by F1. Gemini was more permissive, which helped recall but increased false positives.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8092440" y="4160520"/>
            <a:ext cx="3246120" cy="960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92440" y="4160520"/>
            <a:ext cx="54864" cy="96012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38744" y="4279392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OpenAI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8238744" y="4553712"/>
            <a:ext cx="29900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Examples produced the best overall balance: 72.5% accuracy, 80.7% F1, and only one false positive.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603504" y="61264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Cleaned F1 values shown for each provider/prompt family.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Document-level insight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Performance differs more by document type than by model family.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261872" y="3493008"/>
            <a:ext cx="578815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41985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0%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1261872" y="2569464"/>
            <a:ext cx="578815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49631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50%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1261872" y="1645920"/>
            <a:ext cx="5788152" cy="0"/>
          </a:xfrm>
          <a:prstGeom prst="line">
            <a:avLst/>
          </a:prstGeom>
          <a:noFill/>
          <a:ln w="8890">
            <a:solidFill>
              <a:srgbClr val="E6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727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66666"/>
                </a:solidFill>
              </a:rPr>
              <a:t>100%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1261872" y="3493008"/>
            <a:ext cx="5788152" cy="0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61872" y="1645920"/>
            <a:ext cx="0" cy="1847088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14529" y="2569464"/>
            <a:ext cx="330752" cy="92354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73907" y="2015338"/>
            <a:ext cx="330752" cy="147767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3284" y="2754173"/>
            <a:ext cx="330752" cy="738835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356616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GAO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3443913" y="3493008"/>
            <a:ext cx="330752" cy="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03291" y="3493008"/>
            <a:ext cx="330752" cy="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2668" y="3493008"/>
            <a:ext cx="330752" cy="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356616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EPA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5373297" y="2261000"/>
            <a:ext cx="330752" cy="1232008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32675" y="1645920"/>
            <a:ext cx="330752" cy="1847088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2052" y="2569464"/>
            <a:ext cx="330752" cy="92354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356616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</a:rPr>
              <a:t>Post-Katrina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1417320" y="1280160"/>
            <a:ext cx="137160" cy="1371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12573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Claude recall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2880360" y="1280160"/>
            <a:ext cx="137160" cy="13716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12573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Gemini recall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4343400" y="1280160"/>
            <a:ext cx="137160" cy="13716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12573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2937"/>
                </a:solidFill>
              </a:rPr>
              <a:t>OpenAI recall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7498080" y="1481328"/>
            <a:ext cx="397764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1481328"/>
            <a:ext cx="54864" cy="13258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44384" y="160020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Main pattern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7644384" y="1874520"/>
            <a:ext cx="372160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All three local-context models recovered many GAO and Post-Katrina positives but rejected EPA positives that read as coordination, training, added capacity, or routine improvement.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498080" y="3154680"/>
            <a:ext cx="397764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3154680"/>
            <a:ext cx="54864" cy="13258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44384" y="327355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Substantive insight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7644384" y="3547872"/>
            <a:ext cx="372160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This suggests the project is surfacing a real coding boundary: when does institutional learning become unlearning? EPA passages are the highest-value review set.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7635240" y="489204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61C00"/>
                </a:solidFill>
              </a:rPr>
              <a:t>0%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7635240" y="5330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EPA positive recall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9738360" y="4892040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8235"/>
                </a:solidFill>
              </a:rPr>
              <a:t>100%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9738360" y="5330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best Post-Katrina recall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603504" y="61264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Document-level recall from the 42-row local-context run.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pipeline now supports new documents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The workflow can label all paragraphs in a new PDF and return reviewable outputs.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42416" y="1581912"/>
            <a:ext cx="218998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9224" y="1417320"/>
            <a:ext cx="347472" cy="34747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9110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65C"/>
                </a:solidFill>
              </a:rPr>
              <a:t>Upload PDFs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4592" y="2148840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One document now; multiple later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71316" y="1581912"/>
            <a:ext cx="218998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78124" y="1417320"/>
            <a:ext cx="347472" cy="347472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7500" y="19110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65C"/>
                </a:solidFill>
              </a:rPr>
              <a:t>Extract paragraphs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93492" y="2148840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Text, page, coordinates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300216" y="1581912"/>
            <a:ext cx="218998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07024" y="1417320"/>
            <a:ext cx="347472" cy="34747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9110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65C"/>
                </a:solidFill>
              </a:rPr>
              <a:t>3 model coders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22392" y="2148840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Best strategy by provider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929116" y="1581912"/>
            <a:ext cx="218998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35924" y="1417320"/>
            <a:ext cx="347472" cy="34747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5300" y="19110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65C"/>
                </a:solidFill>
              </a:rPr>
              <a:t>Consensus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51292" y="2148840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Majority vote + reliability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1164824" y="1417320"/>
            <a:ext cx="347472" cy="34747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44200" y="19110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65C"/>
                </a:solidFill>
              </a:rPr>
              <a:t>Annotated PDFs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680192" y="2148840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Highlights with popup rationale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77240" y="3337560"/>
            <a:ext cx="333756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337560"/>
            <a:ext cx="54864" cy="105156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345643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Research output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23544" y="3730752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CSV/Excel tables with all model labels, target types, agencies, confidence, rationale, and consensus.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434840" y="3337560"/>
            <a:ext cx="333756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3337560"/>
            <a:ext cx="54864" cy="10515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81144" y="345643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Reliability output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581144" y="3730752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Percent agreement, pairwise Cohen’s κ, Fleiss’ κ, Krippendorff’s α, and disagreement review queues.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8092440" y="3337560"/>
            <a:ext cx="333756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3337560"/>
            <a:ext cx="54864" cy="105156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38744" y="345643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Document output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8238744" y="3730752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Editable PDF highlights with comments summarizing consensus and model rationales, similar to the earlier annotated GPT Test PDFs.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603504" y="61264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Source: production multi-document annotation notebook.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operating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Use the models to triage paragraphs, then focus human review where models disagree.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65C"/>
                </a:solidFill>
              </a:rPr>
              <a:t>Consensus example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66666"/>
                </a:solidFill>
              </a:rPr>
              <a:t>Three model coders → majority label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1298448" y="2130552"/>
            <a:ext cx="1467612" cy="1005840"/>
          </a:xfrm>
          <a:prstGeom prst="rect">
            <a:avLst/>
          </a:prstGeom>
          <a:solidFill>
            <a:srgbClr val="E2F0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2203704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548235"/>
                </a:solidFill>
              </a:rPr>
              <a:t>TN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1335024" y="23957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98064" y="2130552"/>
            <a:ext cx="1467612" cy="1005840"/>
          </a:xfrm>
          <a:prstGeom prst="rect">
            <a:avLst/>
          </a:prstGeom>
          <a:solidFill>
            <a:srgbClr val="F4CC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203704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61C00"/>
                </a:solidFill>
              </a:rPr>
              <a:t>FP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2834640" y="23957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298448" y="3168396"/>
            <a:ext cx="1467612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5024" y="324154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55A11"/>
                </a:solidFill>
              </a:rPr>
              <a:t>FN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1335024" y="34335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8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98064" y="3168396"/>
            <a:ext cx="1467612" cy="1005840"/>
          </a:xfrm>
          <a:prstGeom prst="rect">
            <a:avLst/>
          </a:prstGeom>
          <a:solidFill>
            <a:srgbClr val="DDE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24154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548235"/>
                </a:solidFill>
              </a:rPr>
              <a:t>TP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834640" y="34335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23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98448" y="1929384"/>
            <a:ext cx="14676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66666"/>
                </a:solidFill>
              </a:rPr>
              <a:t>Pred No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2798064" y="1929384"/>
            <a:ext cx="14676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66666"/>
                </a:solidFill>
              </a:rPr>
              <a:t>Pred Yes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 rot="16200000">
            <a:off x="841248" y="229514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6666"/>
                </a:solidFill>
              </a:rPr>
              <a:t>Actual No</a:t>
            </a:r>
            <a:endParaRPr lang="en-US" sz="640" dirty="0"/>
          </a:p>
        </p:txBody>
      </p:sp>
      <p:sp>
        <p:nvSpPr>
          <p:cNvPr id="22" name="Text 20"/>
          <p:cNvSpPr/>
          <p:nvPr/>
        </p:nvSpPr>
        <p:spPr>
          <a:xfrm rot="16200000">
            <a:off x="841248" y="3305556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666666"/>
                </a:solidFill>
              </a:rPr>
              <a:t>Actual Yes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621792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417320"/>
            <a:ext cx="54864" cy="11430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1536192"/>
            <a:ext cx="5961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Default model setup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4901184" y="1810512"/>
            <a:ext cx="59618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OpenAI: examples without metadata. Claude: examples without metadata. Gemini: direct prompt. This maximizes diversity across model behavior rather than forcing all providers into the same prompt style.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754880" y="2852928"/>
            <a:ext cx="621792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852928"/>
            <a:ext cx="54864" cy="11430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971800"/>
            <a:ext cx="5961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Review priority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4901184" y="3246120"/>
            <a:ext cx="59618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Start with majority-positive paragraphs, then unanimous model disagreements with the human code, then EPA boundary cases where the text suggests improvement rather than replacement.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4754880" y="4297680"/>
            <a:ext cx="621792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4297680"/>
            <a:ext cx="54864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4416552"/>
            <a:ext cx="5961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Human role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4901184" y="4690872"/>
            <a:ext cx="59618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The models should not replace adjudication. Their strongest value is consistent screening, rationale extraction, and surfacing passages where the codebook boundary needs discussion.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603504" y="61264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Consensus confusion matrix is illustrative of operating logic; final consensus scores will be computed per new document.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297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Move from benchmark interpretation to a clean production coding cycle.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3337560" cy="12801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80160"/>
            <a:ext cx="54864" cy="128016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39903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1 · Finalize examples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923544" y="1673352"/>
            <a:ext cx="308152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Create a small adjudicated example set: balanced Yes/No cases, clear target labels, no boundary EPA cases unless explicitly marked as boundary examples.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434840" y="1280160"/>
            <a:ext cx="3337560" cy="12801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280160"/>
            <a:ext cx="54864" cy="128016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39903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2 · Run new documents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581144" y="1673352"/>
            <a:ext cx="308152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Use the production notebook on fresh PDFs and export paragraph-level tables, reliability metrics, and annotated PDFs.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092440" y="1280160"/>
            <a:ext cx="3337560" cy="12801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280160"/>
            <a:ext cx="54864" cy="12801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39903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3 · Review disagreements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238744" y="1673352"/>
            <a:ext cx="308152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Prioritize paragraphs where providers disagree or where all models reject a human-positive EPA-style passage.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77240" y="3246120"/>
            <a:ext cx="3337560" cy="12801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246120"/>
            <a:ext cx="54864" cy="12801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336499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4 · Report reliability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923544" y="3639312"/>
            <a:ext cx="308152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For each document batch, report model consensus, Fleiss’ κ, Krippendorff’s α, and targeted examples for human adjudication.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434840" y="3246120"/>
            <a:ext cx="3337560" cy="12801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3246120"/>
            <a:ext cx="54864" cy="12801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336499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5 · Refresh benchmark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581144" y="3639312"/>
            <a:ext cx="308152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After adjudication, rerun the clean benchmark to confirm whether OpenAI remains the lead single model and whether consensus improves reliability.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8092440" y="3246120"/>
            <a:ext cx="3337560" cy="12801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3246120"/>
            <a:ext cx="54864" cy="1280160"/>
          </a:xfrm>
          <a:prstGeom prst="rect">
            <a:avLst/>
          </a:prstGeom>
          <a:solidFill>
            <a:srgbClr val="16365C"/>
          </a:solidFill>
          <a:ln w="12700">
            <a:solidFill>
              <a:srgbClr val="16365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336499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6365C"/>
                </a:solidFill>
              </a:rPr>
              <a:t>6 · Build audit trail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238744" y="3639312"/>
            <a:ext cx="308152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</a:rPr>
              <a:t>Keep codebook version, prompt hash, model version, cost, and generated rationale for every paragraph-level decision.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603504" y="612648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77777"/>
                </a:solidFill>
              </a:rPr>
              <a:t>Recommended plan based on cleaned benchmark, local-context insights, and production pipeline capabilities.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37376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2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Unlearning Project Update: Achievements, Model Results, and Insights</dc:title>
  <dc:subject>Unlearning project update focused on achievements, results, and insights</dc:subject>
  <dc:creator>OpenAI</dc:creator>
  <cp:lastModifiedBy>OpenAI</cp:lastModifiedBy>
  <cp:revision>1</cp:revision>
  <dcterms:created xsi:type="dcterms:W3CDTF">2026-07-17T13:24:01Z</dcterms:created>
  <dcterms:modified xsi:type="dcterms:W3CDTF">2026-07-17T13:24:01Z</dcterms:modified>
</cp:coreProperties>
</file>
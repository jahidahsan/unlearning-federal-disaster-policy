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1b02ff4e124919" /><Relationship Type="http://schemas.openxmlformats.org/officeDocument/2006/relationships/extended-properties" Target="/docProps/app.xml" Id="R995b33a1267e4572" /><Relationship Type="http://schemas.openxmlformats.org/officeDocument/2006/relationships/officeDocument" Target="/ppt/presentation.xml" Id="Rad8c36ab509e48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f53becc93f49c2"/>
  </p:sldMasterIdLst>
  <p:notesMasterIdLst>
    <p:notesMasterId xmlns:r="http://schemas.openxmlformats.org/officeDocument/2006/relationships" r:id="Rd9d190bcaccc4424"/>
  </p:notesMasterIdLst>
  <p:sldIdLst>
    <p:sldId xmlns:r="http://schemas.openxmlformats.org/officeDocument/2006/relationships" id="256" r:id="R4a2c20e67f5c4317"/>
    <p:sldId xmlns:r="http://schemas.openxmlformats.org/officeDocument/2006/relationships" id="257" r:id="R66b57b4bc4c5448a"/>
    <p:sldId xmlns:r="http://schemas.openxmlformats.org/officeDocument/2006/relationships" id="258" r:id="R72433e1e52d44774"/>
    <p:sldId xmlns:r="http://schemas.openxmlformats.org/officeDocument/2006/relationships" id="259" r:id="R937064d0c3184e74"/>
    <p:sldId xmlns:r="http://schemas.openxmlformats.org/officeDocument/2006/relationships" id="260" r:id="R4c39a65293d44a99"/>
    <p:sldId xmlns:r="http://schemas.openxmlformats.org/officeDocument/2006/relationships" id="261" r:id="R8113d092f8554c04"/>
    <p:sldId xmlns:r="http://schemas.openxmlformats.org/officeDocument/2006/relationships" id="262" r:id="R2229f630290447e8"/>
    <p:sldId xmlns:r="http://schemas.openxmlformats.org/officeDocument/2006/relationships" id="263" r:id="Rc70a6fe0d7064e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3aff99056f4864" /><Relationship Type="http://schemas.openxmlformats.org/officeDocument/2006/relationships/slideMaster" Target="/ppt/slideMasters/slideMaster1.xml" Id="R01f53becc93f49c2" /><Relationship Type="http://schemas.openxmlformats.org/officeDocument/2006/relationships/notesMaster" Target="/ppt/notesMasters/notesMaster1.xml" Id="Rd9d190bcaccc4424" /><Relationship Type="http://schemas.openxmlformats.org/officeDocument/2006/relationships/presProps" Target="/ppt/presProps.xml" Id="Rdc724ced62724a79" /><Relationship Type="http://schemas.openxmlformats.org/officeDocument/2006/relationships/viewProps" Target="/ppt/viewProps.xml" Id="R82b2f9655a4047ee" /><Relationship Type="http://schemas.openxmlformats.org/officeDocument/2006/relationships/tableStyles" Target="/ppt/tableStyles.xml" Id="Rde26d3937b9b452a" /><Relationship Type="http://schemas.openxmlformats.org/officeDocument/2006/relationships/slide" Target="/ppt/slides/slide1.xml" Id="R4a2c20e67f5c4317" /><Relationship Type="http://schemas.openxmlformats.org/officeDocument/2006/relationships/slide" Target="/ppt/slides/slide2.xml" Id="R66b57b4bc4c5448a" /><Relationship Type="http://schemas.openxmlformats.org/officeDocument/2006/relationships/slide" Target="/ppt/slides/slide3.xml" Id="R72433e1e52d44774" /><Relationship Type="http://schemas.openxmlformats.org/officeDocument/2006/relationships/slide" Target="/ppt/slides/slide4.xml" Id="R937064d0c3184e74" /><Relationship Type="http://schemas.openxmlformats.org/officeDocument/2006/relationships/slide" Target="/ppt/slides/slide5.xml" Id="R4c39a65293d44a99" /><Relationship Type="http://schemas.openxmlformats.org/officeDocument/2006/relationships/slide" Target="/ppt/slides/slide6.xml" Id="R8113d092f8554c04" /><Relationship Type="http://schemas.openxmlformats.org/officeDocument/2006/relationships/slide" Target="/ppt/slides/slide7.xml" Id="R2229f630290447e8" /><Relationship Type="http://schemas.openxmlformats.org/officeDocument/2006/relationships/slide" Target="/ppt/slides/slide8.xml" Id="Rc70a6fe0d706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dd7a407eec44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2d1dc26c954185" /><Relationship Type="http://schemas.openxmlformats.org/officeDocument/2006/relationships/notesMaster" Target="/ppt/notesMasters/notesMaster1.xml" Id="Rd55987b26e404b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283b2491b4eb2" /><Relationship Type="http://schemas.openxmlformats.org/officeDocument/2006/relationships/notesMaster" Target="/ppt/notesMasters/notesMaster1.xml" Id="R8f8e58ad5cc24c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829af787b548c4" /><Relationship Type="http://schemas.openxmlformats.org/officeDocument/2006/relationships/notesMaster" Target="/ppt/notesMasters/notesMaster1.xml" Id="Rf129a9d1998549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eb347fb7e4f52" /><Relationship Type="http://schemas.openxmlformats.org/officeDocument/2006/relationships/notesMaster" Target="/ppt/notesMasters/notesMaster1.xml" Id="R4618cc27ad8f47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2a94c9805d4b9c" /><Relationship Type="http://schemas.openxmlformats.org/officeDocument/2006/relationships/notesMaster" Target="/ppt/notesMasters/notesMaster1.xml" Id="R01b90cfbad444b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cdaf887dd4c2e" /><Relationship Type="http://schemas.openxmlformats.org/officeDocument/2006/relationships/notesMaster" Target="/ppt/notesMasters/notesMaster1.xml" Id="R2ad6acd8255345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f22790dffd4feb" /><Relationship Type="http://schemas.openxmlformats.org/officeDocument/2006/relationships/notesMaster" Target="/ppt/notesMasters/notesMaster1.xml" Id="Rea56dbfb99f24e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e3ebade4b64433" /><Relationship Type="http://schemas.openxmlformats.org/officeDocument/2006/relationships/notesMaster" Target="/ppt/notesMasters/notesMaster1.xml" Id="R9a6064e4ee5945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file contains OpenAI-only results, not Claude or Gemini. Treat this as an initial prompt-comparison presentation, not the full cross-LLM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frames the experiment. The no-context variant is deliberately short; the later variants progressively add codebook and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frames the experiment. The no-context variant is deliberately short; the later variants progressively add codebook and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message is that context helps, but the model is still conservative about labeling these passages as unlearning.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supports the cost-performance decision: metadata increased token usage but did not improve accuracy in this small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useful slide for qualitative review with the research team. It shows that context did not uniformly solve the issue.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frames the experiment. The no-context variant is deliberately short; the later variants progressively add codebook and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frames the experiment. The no-context variant is deliberately short; the later variants progressively add codebook and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be3567f7a42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f3b45a0224cc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IN"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4C1F2E-D679-4393-BBAD-53FF09F2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E32C31B-8A90-4D48-93DB-823313BE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F69BEF2-E28C-4D2B-B36A-71EDC6AF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3C2DF63-706C-4D7A-B407-8AF933DF71E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441e0bd4b8445d" /><Relationship Type="http://schemas.openxmlformats.org/officeDocument/2006/relationships/slideLayout" Target="/ppt/slideLayouts/slideLayout1.xml" Id="R86b18d295b8946ec" /><Relationship Type="http://schemas.openxmlformats.org/officeDocument/2006/relationships/slideLayout" Target="/ppt/slideLayouts/slideLayout2.xml" Id="R0678ff7434334c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F688278-8B43-4144-95D6-B0FB7B6FACA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b18d295b8946ec"/>
    <p:sldLayoutId xmlns:r="http://schemas.openxmlformats.org/officeDocument/2006/relationships" id="2147483650" r:id="R0678ff7434334caf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b5f3f7d7ef48e1" /><Relationship Type="http://schemas.openxmlformats.org/officeDocument/2006/relationships/notesSlide" Target="/ppt/notesSlides/notesSlide1.xml" Id="R79754866626f40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10089600a4989" /><Relationship Type="http://schemas.openxmlformats.org/officeDocument/2006/relationships/notesSlide" Target="/ppt/notesSlides/notesSlide2.xml" Id="R86f3fe7b185e40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a5582d55794fb8" /><Relationship Type="http://schemas.openxmlformats.org/officeDocument/2006/relationships/notesSlide" Target="/ppt/notesSlides/notesSlide3.xml" Id="Rdbd8bda46ca04b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2247fbd0194662" /><Relationship Type="http://schemas.openxmlformats.org/officeDocument/2006/relationships/chart" Target="/ppt/slides/charts/chart1.xml" Id="R68c641b8cbc84a27" /><Relationship Type="http://schemas.openxmlformats.org/officeDocument/2006/relationships/notesSlide" Target="/ppt/notesSlides/notesSlide4.xml" Id="R12877f23cb2e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8ae0af47404839" /><Relationship Type="http://schemas.openxmlformats.org/officeDocument/2006/relationships/chart" Target="/ppt/slides/charts/chart2.xml" Id="R1071e318c6554d1b" /><Relationship Type="http://schemas.openxmlformats.org/officeDocument/2006/relationships/chart" Target="/ppt/slides/charts/chart3.xml" Id="Rc63bcdd369064e57" /><Relationship Type="http://schemas.openxmlformats.org/officeDocument/2006/relationships/notesSlide" Target="/ppt/notesSlides/notesSlide5.xml" Id="R64a0790635984f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9c069e8844471" /><Relationship Type="http://schemas.openxmlformats.org/officeDocument/2006/relationships/notesSlide" Target="/ppt/notesSlides/notesSlide6.xml" Id="R2a2a1a5dc1ab42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01067bf0c0420f" /><Relationship Type="http://schemas.openxmlformats.org/officeDocument/2006/relationships/notesSlide" Target="/ppt/notesSlides/notesSlide7.xml" Id="Reabbb6c7146943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c89bdb8f24cb9" /><Relationship Type="http://schemas.openxmlformats.org/officeDocument/2006/relationships/notesSlide" Target="/ppt/notesSlides/notesSlide8.xml" Id="Rb0cee3e029c74747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 xmlns:a="http://schemas.openxmlformats.org/drawingml/2006/main">
              <a:srgbClr val="0F766E"/>
            </a:solidFill>
          </c:spPr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5"/>
                <c:pt idx="0">
                  <c:v>Haiku</c:v>
                </c:pt>
                <c:pt idx="1">
                  <c:v>Gemini 2.5</c:v>
                </c:pt>
                <c:pt idx="2">
                  <c:v>Sonnet</c:v>
                </c:pt>
                <c:pt idx="3">
                  <c:v>GPT-5.4</c:v>
                </c:pt>
                <c:pt idx="4">
                  <c:v>Terra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5"/>
                <c:pt idx="0">
                  <c:v>53.8</c:v>
                </c:pt>
                <c:pt idx="1">
                  <c:v>46.2</c:v>
                </c:pt>
                <c:pt idx="2">
                  <c:v>35.9</c:v>
                </c:pt>
                <c:pt idx="3">
                  <c:v>28.2</c:v>
                </c:pt>
                <c:pt idx="4">
                  <c:v>23.1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lblAlgn val="ctr"/>
        <c:lblOffset val="100"/>
        <c:noMultiLvlLbl val="0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  <c:majorUnit val="2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negatives</c:v>
                </c:pt>
              </c:strCache>
            </c:strRef>
          </c:tx>
          <c:spPr>
            <a:solidFill xmlns:a="http://schemas.openxmlformats.org/drawingml/2006/main">
              <a:srgbClr val="6D28D9"/>
            </a:solidFill>
          </c:spPr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3"/>
                <c:pt idx="0">
                  <c:v>EPA</c:v>
                </c:pt>
                <c:pt idx="1">
                  <c:v>GAO</c:v>
                </c:pt>
                <c:pt idx="2">
                  <c:v>Post-Katrina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92</c:v>
                </c:pt>
                <c:pt idx="1">
                  <c:v>22</c:v>
                </c:pt>
                <c:pt idx="2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lblAlgn val="ctr"/>
        <c:lblOffset val="100"/>
        <c:noMultiLvlLbl val="0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 xmlns:a="http://schemas.openxmlformats.org/drawingml/2006/main">
              <a:srgbClr val="0F766E"/>
            </a:solidFill>
          </c:spPr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5"/>
                <c:pt idx="0">
                  <c:v>Haiku</c:v>
                </c:pt>
                <c:pt idx="1">
                  <c:v>Gemini</c:v>
                </c:pt>
                <c:pt idx="2">
                  <c:v>Sonnet</c:v>
                </c:pt>
                <c:pt idx="3">
                  <c:v>GPT-5.4</c:v>
                </c:pt>
                <c:pt idx="4">
                  <c:v>Terra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5"/>
                <c:pt idx="0">
                  <c:v>30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lblAlgn val="ctr"/>
        <c:lblOffset val="100"/>
        <c:noMultiLvlLbl val="0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FB5505-B283-4FE8-B695-C1F5A76F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7BE7E83-4AE0-4E38-B270-4E2F85A8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"/>
            <a:ext cx="2971800" cy="297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>
              <a:alpha val="0"/>
            </a:srgbClr>
          </a:solidFill>
          <a:ln xmlns:a="http://schemas.openxmlformats.org/drawingml/2006/main" w="21590">
            <a:solidFill>
              <a:srgbClr val="1E293B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27A6C2C-41EB-4E96-BD5A-435EE691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4760"/>
            <a:ext cx="2423160" cy="2423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>
              <a:alpha val="0"/>
            </a:srgbClr>
          </a:solidFill>
          <a:ln xmlns:a="http://schemas.openxmlformats.org/drawingml/2006/main" w="16510">
            <a:solidFill>
              <a:srgbClr val="0F766E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A6629E-2CB2-44BB-A321-7C345900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64008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Unlearning Model</a:t>
            </a:r>
          </a:p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Benchmark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EC9D00F-7D6A-439F-8B12-C3D5F8D4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16352"/>
            <a:ext cx="649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BD5E1"/>
                </a:solidFill>
              </a:rPr>
              <a:t>Weekly research update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C9DFED7-F40F-4AEC-8568-16479DC1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01568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51A215E-01D3-4F9C-9896-D2DC4FF5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0332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CFBF1"/>
                </a:solidFill>
              </a:rPr>
              <a:t>v3–v5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19CC130-4EB4-404D-8F67-DC8DE78E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4164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BD5E1"/>
                </a:solidFill>
              </a:rPr>
              <a:t>Mixed-label evaluation · false-negative diagnosis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4BCAE90-BA2F-48B6-BC0D-2AA2C597E03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AD75FED6-38D0-DE9C-92C0-6E7FA635581C}" type="slidenum">
              <a:rPr b="0"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18607187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5E3609-7548-4F16-8657-2650CAD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This week moved the pipeline from prompt testing to error diagnosis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386C8B-DBBC-4D43-846C-9C1B2A9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41248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Three iterations converted an uneven pilot into a complete five-model benchmark.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BA729C-6E4D-4C77-A45A-9DD93D80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70CEE6-0742-4824-AC9C-EE1A4F4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8BE432-95E9-461B-B318-03E3E222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pipeline iterations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9A2ACBC-4E65-4654-B1DD-31C4CDF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1AF7D0-F05E-47C4-A625-2DE5D6D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548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1A8A80C-F11D-42AC-892C-54EFF190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usable model outputs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C492C53-565E-47A0-A5BE-9930EF07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3B59A30-0DC3-4D75-9282-98DC1AD2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393EC2-8D7F-419B-AFFA-7702129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API errors in v4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84A8D51-3846-4A1A-BD2B-8769155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B774E2-6CF6-4198-AE55-C9A404F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49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207A30A-3AE8-43C5-8B14-7A2B23B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final benchmark cases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6C9EA19-3143-480F-937B-14DDD634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417320"/>
            <a:ext cx="14173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5DAB1D-4429-491A-8144-A604801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563624"/>
            <a:ext cx="108813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$0.823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9EAFE2-171E-413C-B2E6-33B64D1E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984248"/>
            <a:ext cx="10881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v5 estimated cost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0CDCF16-151C-41D5-BAA7-A9000AD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20116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0F766E"/>
                </a:solidFill>
              </a:rPr>
              <a:t>WEEKLY PROGRESSION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C2FAB1F-307C-4C4B-8BB2-A44EA68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46C81C7-9DDF-4080-83FA-6E22843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78AF53-8AB6-469E-B326-A2ACC0B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v3 · Prompt parity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D367FD1-1708-4316-906E-E44B481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44/44 outputs; four prompts on 11 all-positive passages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471BA10-F930-4DA2-B90C-AA888AE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43AB85-9062-4239-91DC-339C9A0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5F4BD11-3360-4A60-BD12-6C9ADC4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v4 · Provider fixes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10E2C05-FC1D-4220-B03A-CBC31DB7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259/263 usable; structured output and confidence added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AB7E26D-5D08-4062-9905-492BB67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8C0846E-8168-4370-B3E3-8426DF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2AC2A93-A109-4300-BA53-BFA345A9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v5 · Combined set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8F9CA19-E9DC-4A4C-A00B-B683268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245/245 outputs; 39 Yes and 10 No cases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DCD070A-3A21-4FE7-BED0-5BB5A7F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BB8D77E-99B0-4810-A1C1-CAEF52F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70B53D9-F120-4E58-BC6C-0EB8EED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Error audit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D88DE68-50F4-4A6F-8EC3-8717992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122 false-negative predictions; 14 unanimous misses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8951274-9571-43D0-8989-8168D5E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91C1C"/>
                </a:solidFill>
              </a:rPr>
              <a:t>This week completed the mixed-label benchmark and false-negative diagnosis. Context metadata enrichment is next week’s work.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EF32C0F-4B6C-4A08-977A-98B7654B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9692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The main risk is no longer API reliability—it is conservative classification and label–codebook ambiguity.</a:t>
            </a:r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C4D9C6-BCCA-46C7-910F-E4E1BDE66A7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E2598689-54C9-18A7-3A19-ED76AA08988F}" type="slidenum">
              <a:rPr b="0"/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75914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5E3609-7548-4F16-8657-2650CAD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v5 benchmark adds the missing negative class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386C8B-DBBC-4D43-846C-9C1B2A9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41248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Five models scored the same 49 passages under one definitions/codebook-only condition.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BA729C-6E4D-4C77-A45A-9DD93D80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70CEE6-0742-4824-AC9C-EE1A4F4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49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8BE432-95E9-461B-B318-03E3E222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passages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9A2ACBC-4E65-4654-B1DD-31C4CDF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1AF7D0-F05E-47C4-A625-2DE5D6D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39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1A8A80C-F11D-42AC-892C-54EFF190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human Yes labels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C492C53-565E-47A0-A5BE-9930EF07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3B59A30-0DC3-4D75-9282-98DC1AD2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393EC2-8D7F-419B-AFFA-7702129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human No labels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84A8D51-3846-4A1A-BD2B-8769155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B774E2-6CF6-4198-AE55-C9A404F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207A30A-3AE8-43C5-8B14-7A2B23B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models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6C9EA19-3143-480F-937B-14DDD634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417320"/>
            <a:ext cx="14173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5DAB1D-4429-491A-8144-A604801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563624"/>
            <a:ext cx="108813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78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245/245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9EAFE2-171E-413C-B2E6-33B64D1E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984248"/>
            <a:ext cx="10881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successful calls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0CDCF16-151C-41D5-BAA7-A9000AD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20116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0F766E"/>
                </a:solidFill>
              </a:rPr>
              <a:t>CONTROLLED V5 DESIGN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C2FAB1F-307C-4C4B-8BB2-A44EA68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46C81C7-9DDF-4080-83FA-6E22843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78AF53-8AB6-469E-B326-A2ACC0B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Shared task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D367FD1-1708-4316-906E-E44B481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Identical passages and codebook definitions across providers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471BA10-F930-4DA2-B90C-AA888AE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43AB85-9062-4239-91DC-339C9A0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5F4BD11-3360-4A60-BD12-6C9ADC4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Structured output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10E2C05-FC1D-4220-B03A-CBC31DB7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Binary label, confidence, rationale, and matched codes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AB7E26D-5D08-4062-9905-492BB67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8C0846E-8168-4370-B3E3-8426DF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2AC2A93-A109-4300-BA53-BFA345A9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Cost tracking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8F9CA19-E9DC-4A4C-A00B-B683268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Tokens, latency, and estimated cost retained per call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DCD070A-3A21-4FE7-BED0-5BB5A7F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BB8D77E-99B0-4810-A1C1-CAEF52F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70B53D9-F120-4E58-BC6C-0EB8EED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Provider coverage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D88DE68-50F4-4A6F-8EC3-8717992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OpenAI, Anthropic, and Gemini outputs combined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8951274-9571-43D0-8989-8168D5E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91C1C"/>
                </a:solidFill>
              </a:rPr>
              <a:t>Target and agency fields were retained where available, but local paragraph/section/title context was not yet added.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EF32C0F-4B6C-4A08-977A-98B7654B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9692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This makes v5 suitable for precision/recall analysis while preserving a clean baseline for next week’s context test.</a:t>
            </a:r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C4D9C6-BCCA-46C7-910F-E4E1BDE66A7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202359C0-8A7A-196E-DD58-8E6569619F09}" type="slidenum">
              <a:rPr b="0"/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1759149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500B50-08BA-4BD6-9673-6BC165E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High precision masks weak Unlearning recall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48E98A-F8F7-4378-8A06-367C5A84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41248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Models rarely predict Yes; recall ranges from 23.1% to 53.8%.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EC3B829-D466-4D55-9DD4-8492ADC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41732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0F766E"/>
                </a:solidFill>
              </a:rPr>
              <a:t>MODEL RECALL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954BBAC-E502-41AD-9392-A41D6776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783080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B1220"/>
                </a:solidFill>
              </a:rPr>
              <a:t>KEY READING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183A358-DEC2-4766-85BE-31F95475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423160"/>
            <a:ext cx="27889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>
                <a:solidFill>
                  <a:srgbClr val="334155"/>
                </a:solidFill>
              </a:rPr>
              <a:t>Four models made zero false-positive calls—but that reflects conservative prediction, not strong detection.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B16209E-CFEC-475E-B6C8-30C90703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977640"/>
            <a:ext cx="2606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46213-5AAE-49FB-8E85-5FD8678C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224528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4748B"/>
                </a:solidFill>
              </a:rPr>
              <a:t>Best observed model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351C914-35F3-41BB-8CC6-B08624A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507992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766E"/>
                </a:solidFill>
              </a:rPr>
              <a:t>Claude 3.5 Haiku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332D988-F750-4152-A72A-FCA0534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2852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220"/>
                </a:solidFill>
              </a:rPr>
              <a:t>21 / 39 positives recovered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ADF24EE-EA12-406D-8395-2EF9833F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9692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Across models, 122 positive judgments were missed; 87 of those No calls carried confidence of at least 0.90.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7F8DA2A-212F-4375-9434-24F6240D0A1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EFD6AB9A-5F9E-5F59-51AB-3C8734130965}" type="slidenum">
              <a:rPr b="0"/>
              <a:t>4</a:t>
            </a:fld>
          </a:p>
        </p:txBody>
      </p:sp>
      <p:graphicFrame>
        <p:nvGraphicFramePr>
          <p:cNvPr id="38" name="Chart 0"/>
          <p:cNvGraphicFramePr/>
          <p:nvPr/>
        </p:nvGraphicFramePr>
        <p:xfrm>
          <a:off xmlns:a="http://schemas.openxmlformats.org/drawingml/2006/main" x="594359" y="1115103"/>
          <a:ext xmlns:a="http://schemas.openxmlformats.org/drawingml/2006/main" cx="7429831" cy="446273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c641b8cbc84a27"/>
          </a:graphicData>
        </a:graphic>
      </p:graphicFrame>
    </p:spTree>
    <p:extLst>
      <p:ext uri="{BB962C8B-B14F-4D97-AF65-F5344CB8AC3E}">
        <p14:creationId xmlns:p14="http://schemas.microsoft.com/office/powerpoint/2010/main" val="3668886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321985-DEBF-4C51-BD4B-185ED58D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EPA passages drive the false-negative problem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A6E1D7-E32B-4126-B7C5-3AF47258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41248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92 of 122 false-negative predictions come from EPA; all 14 unanimous misses are EPA.</a:t>
            </a:r>
          </a:p>
        </p:txBody>
      </p:sp>
      <p:graphicFrame>
        <p:nvGraphicFramePr>
          <p:cNvPr id="30" name="Chart 0"/>
          <p:cNvGraphicFramePr/>
          <p:nvPr/>
        </p:nvGraphicFramePr>
        <p:xfrm>
          <a:off xmlns:a="http://schemas.openxmlformats.org/drawingml/2006/main" x="640080" y="1417320"/>
          <a:ext xmlns:a="http://schemas.openxmlformats.org/drawingml/2006/main" cx="516636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71e318c6554d1b"/>
          </a:graphicData>
        </a:graphic>
      </p:graphicFrame>
      <p:graphicFrame>
        <p:nvGraphicFramePr>
          <p:cNvPr id="31" name="Chart 1"/>
          <p:cNvGraphicFramePr/>
          <p:nvPr/>
        </p:nvGraphicFramePr>
        <p:xfrm>
          <a:off xmlns:a="http://schemas.openxmlformats.org/drawingml/2006/main" x="6263640" y="1417320"/>
          <a:ext xmlns:a="http://schemas.openxmlformats.org/drawingml/2006/main" cx="516636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3bcdd369064e57"/>
          </a:graphicData>
        </a:graphic>
      </p:graphicFrame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2EDE57A-2E25-4461-A52D-E7263747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596128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1220"/>
                </a:solidFill>
              </a:rPr>
              <a:t>False-negative predictions by source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71EA64F-8204-4789-B9BA-7212A99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5596128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1220"/>
                </a:solidFill>
              </a:rPr>
              <a:t>EPA Yes recall by model (%)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76D292D-35F0-4B6D-9BEF-D0E30030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9692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Source-specific performance points to a label/rhetorical-regime problem, not a uniform failure across the benchmark.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44CBD9-C669-46E6-97C4-63E8F890773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EE5B3003-2C54-13C6-9832-7637201064DE}" type="slidenum">
              <a:rPr b="0"/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18708205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D3CECA3-9209-45D7-9A80-31B142B4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Fourteen human positives were rejected by every model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C1C3689-6216-4A6E-9DE2-D29F8194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41248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14 are EPA. Eleven representative cases are shown; the complete evidence is in Excel.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583809-92E9-4020-8EC9-B9134CCE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694944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DE62EE-14B2-4A6A-A8CC-ABA1DF67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89888"/>
            <a:ext cx="640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</a:rPr>
              <a:t>Row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FCEB163-FF68-4804-A3D0-BF2017C5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335024"/>
            <a:ext cx="67665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7C71F1-CB08-422C-945A-A7638FD8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1389888"/>
            <a:ext cx="6217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</a:rPr>
              <a:t>No votes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871187-DC2F-43FE-A53B-2801E8F6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1335024"/>
            <a:ext cx="67665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5DA157-E4CC-438E-8C52-55CC99D5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389888"/>
            <a:ext cx="6217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</a:rPr>
              <a:t>Human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423F2B9-6C6D-458F-973E-05E18B1C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1335024"/>
            <a:ext cx="93268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4BBFF2-085F-4BFC-82BF-A70CC309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1389888"/>
            <a:ext cx="8778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AB02E0A-2BAB-40EB-8DD1-E86EB0EA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335024"/>
            <a:ext cx="12252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AEAE45A-C071-41B7-BD66-DE59F30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389888"/>
            <a:ext cx="11704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</a:rPr>
              <a:t>Text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B5D5403-6E24-4A32-823C-B1235647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335024"/>
            <a:ext cx="68122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D2C989-D18E-46D6-B26C-2B9CBA44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89888"/>
            <a:ext cx="67574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30" b="1">
                <a:solidFill>
                  <a:srgbClr val="FFFFFF"/>
                </a:solidFill>
              </a:rPr>
              <a:t>Consensus reason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4789788-A54E-41A3-A0D6-BD9AC53E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628E12D-040A-4299-9B86-D07BBD38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19072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1:3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95417B6-4EDB-4D64-8EB2-0EC960DA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645920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31D7BCB-BC91-4D75-94BE-F544D00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1719072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B3811F4-D831-47CB-9907-762198A0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1645920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5891024-DC5D-453E-A61F-CC8654BC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719072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Yes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9EDAC91-2C52-4FAF-A1B8-D443341E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1645920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C19506D-B114-46F6-9E33-ADDAEC82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1719072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Diagnosis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C96853A-AA5E-4A1F-92DE-D36FF79E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645920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F6F9FBA-E38C-4B55-8C23-039F5A8B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719072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OK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5FBDE66-8654-4494-B36C-BD4EE5F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645920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BC43657-0D02-4F8F-A2E6-D035223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91640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Problem described; no completed change named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2690051-5DE4-4AAD-A94A-0DE609BD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E8D1B13-F656-4B91-8852-17C8018B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66544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1:4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CF92443-E29F-4A5D-8274-40C958F2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993392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02EF739-DBD6-4329-B0B5-6090D338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2066544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71E35CC-CB4E-4092-A98D-A4CF800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1993392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D9915F9-C378-40C9-829B-9AD3924E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066544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Yes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0238E92-C02C-4210-9CBC-1E4AAB3A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1993392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FCCEDBA-2798-469E-8BC7-579EB9E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066544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Additive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AB34EAC-E41A-474C-A74B-908325DC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993392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C6D9FA3-7885-4D4F-9546-F4F5428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66544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OK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4D4FD90B-D1A6-4FEE-AECD-352E801E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993392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75EC699-ACBD-4262-8415-F6E6C671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039112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New controls layered onto existing practice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322165F-F42C-4DBE-899E-650CD8B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D02AE335-4E06-45D7-9630-813F2A2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14016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1:6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CD4BFEBD-F8FC-4605-8E91-D9F63175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340864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2E23275B-618D-4FAF-B4CB-21C18E48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2414016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D8E5582-27DC-4146-B21A-73C289CD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340864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A41AC6E4-D101-4955-9FD4-FF361B6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414016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Yes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D5785F98-FF4A-439E-BB0B-159A66BD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340864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849EC22D-E3E5-4D8F-9119-E533939F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414016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Lessons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4E330931-3D8F-430A-A1C4-ADE7B5A2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40864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2F9C9AE-45AA-4C44-A2C6-744A9EE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414016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Fragment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76823012-DC3F-4770-9BFC-E0C79F95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340864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57B0A691-2A66-49FA-BFBA-F1A65164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86584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Learning language lacks explicit implementation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95757036-47FE-4876-BDCA-DF792553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DA485880-3169-4E89-B737-5AC86DA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61488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1:10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A7065E90-A1C8-45E8-A731-EA7ED34D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688336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594A39C0-07BD-48B9-818D-1BCF5693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2761488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1E8E5BB2-0660-4F88-BC16-54D0966D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688336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697B9459-B4A5-4B73-B15E-FF6DFFB7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761488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Yes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52A61ADE-6B98-4F96-8A59-5C0CD093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688336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4EF6C935-5CCC-496A-898F-C52BC85F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2761488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Diagnosis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0F82A0F1-1FD8-4209-AE30-CABBBCB7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688336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2DF22CD8-578C-4351-9EAE-ED70DD6A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761488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OK</a:t>
            </a:r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233CE96D-544F-44D9-A396-3E1F7A54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688336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536FB533-F250-47C2-89FD-BC5CF3B2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734056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System weakness stated without response action</a:t>
            </a:r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607239A4-22BB-430B-8CF1-FDD9A3AA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35808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56D6F40F-6D94-426F-9A61-4D51331B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1:11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38D3E8CB-AF87-4368-B961-C9D4A97F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35808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ECA59253-407F-4119-B453-B826B377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3108960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E2E14237-D17A-482B-8197-E944F320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035808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3F3C7F87-DABD-4A47-9C1B-1A129AA3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108960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Yes</a:t>
            </a:r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4F6BA5C-95D5-4A80-A557-31E121CA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3035808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4CE79BA1-27EC-40FF-AAC7-E8540501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3108960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Additive</a:t>
            </a:r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CBADEFDC-1D72-4161-BC90-0738DCF5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035808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91698D60-985F-4E11-B479-55ACE91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10896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OK</a:t>
            </a:r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BC621A5B-E0DD-4FBB-8DF9-5BC204FC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035808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E4C7CE7D-C0E4-410B-9217-828C925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081528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Expansion interpreted as improvement, not replacement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A0486049-6B2F-43A2-9177-0B11CC7B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83280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7E2C4574-3091-4547-BFE8-D033B1F4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56432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1:13</a:t>
            </a:r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C35BBB1F-B8AC-4364-AE25-C8386BC8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383280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EB0284C4-D58C-49A9-9885-FDAE1CB3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3456432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5</a:t>
            </a:r>
          </a:p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25030D40-2AF3-4378-AEF8-CB571EB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383280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B96732C4-17B9-42DA-8C32-B4AA8FC4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56432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Yes</a:t>
            </a:r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E823A899-5EBC-4BE7-839A-C6278A7F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3383280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0E5BA4EC-8170-4EA8-9CC8-4B5BCB0D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3456432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Boundary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5318BDC9-87D1-42AF-93B9-EE3C4C33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383280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C69E6FDE-4630-4739-A845-EAD28398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456432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Fragment</a:t>
            </a:r>
          </a:p>
        </p:txBody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59906AF6-F530-4006-8879-143B3B8A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383280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E1736EB6-B533-4599-ACDC-E639F3BF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429000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SOP language is incomplete and ambiguous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CB52BCBD-0AF3-4BEE-BBA6-E00AD6D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426052DA-3ABF-49BD-A9AF-B7E78A34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03904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1:15</a:t>
            </a:r>
          </a:p>
        </p:txBody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C2509D0F-5173-4246-9A05-5AB3688D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730752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0D9D76AC-7002-483C-8F41-188245FD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3803904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587DADC9-0D09-4979-915A-B374A69A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730752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F01FDFDF-6450-4FD9-AA84-36A2782D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803904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Yes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CD5D583F-2844-43D9-AB2F-B3D6A1D0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3730752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78430AC5-2C2E-4FE8-82A5-4AC01A5A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3803904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Lessons</a:t>
            </a:r>
          </a:p>
        </p:txBody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3A301EE4-2AF2-4A5E-9214-C91E3F90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730752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7" name="Text 95">
            <a:extLst xmlns:a="http://schemas.openxmlformats.org/drawingml/2006/main">
              <a:ext uri="{FF2B5EF4-FFF2-40B4-BE49-F238E27FC236}">
                <a16:creationId xmlns:a16="http://schemas.microsoft.com/office/drawing/2014/main" id="{F2B9321E-7B3C-439E-83F3-B54AE59A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803904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OK</a:t>
            </a:r>
          </a:p>
        </p:txBody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B7352A1D-234A-4FC3-9ABD-3A18305A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730752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89B99B05-221E-488B-BD2F-F1CEF555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76472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Lessons learned stated; operational change unclear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B51CE628-2E9B-4D20-B3CB-627EF97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78224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AE73C93B-9025-44AB-92E5-CA61B086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51376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1:17</a:t>
            </a:r>
          </a:p>
        </p:txBody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974040A6-0BDD-472D-B568-15BA7052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078224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" name="Text 101">
            <a:extLst xmlns:a="http://schemas.openxmlformats.org/drawingml/2006/main">
              <a:ext uri="{FF2B5EF4-FFF2-40B4-BE49-F238E27FC236}">
                <a16:creationId xmlns:a16="http://schemas.microsoft.com/office/drawing/2014/main" id="{DEC68FDD-89AE-49FC-85CB-7CC6FB0E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4151376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B0652560-5C9C-48C3-9D2F-CEE60C48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078224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D562F1FD-D535-441E-8954-AA80B938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151376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Yes</a:t>
            </a:r>
          </a:p>
        </p:txBody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4181441B-CB33-4FBA-BFBC-A5FD9BA7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4078224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" name="Text 105">
            <a:extLst xmlns:a="http://schemas.openxmlformats.org/drawingml/2006/main">
              <a:ext uri="{FF2B5EF4-FFF2-40B4-BE49-F238E27FC236}">
                <a16:creationId xmlns:a16="http://schemas.microsoft.com/office/drawing/2014/main" id="{847BB9C3-400E-49A3-BFB0-7BA0289D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4151376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Additive</a:t>
            </a:r>
          </a:p>
        </p:txBody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BB18DDEB-05AD-4C23-B093-592C72ED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78224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9" name="Text 107">
            <a:extLst xmlns:a="http://schemas.openxmlformats.org/drawingml/2006/main">
              <a:ext uri="{FF2B5EF4-FFF2-40B4-BE49-F238E27FC236}">
                <a16:creationId xmlns:a16="http://schemas.microsoft.com/office/drawing/2014/main" id="{92BB036F-22B6-419C-AD60-49355788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4151376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OK</a:t>
            </a:r>
          </a:p>
        </p:txBody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3B4B9FE8-81E7-4B92-B47C-AE615B3B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078224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Text 109">
            <a:extLst xmlns:a="http://schemas.openxmlformats.org/drawingml/2006/main">
              <a:ext uri="{FF2B5EF4-FFF2-40B4-BE49-F238E27FC236}">
                <a16:creationId xmlns:a16="http://schemas.microsoft.com/office/drawing/2014/main" id="{F8949224-A772-41CD-941F-B114ADCB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4123944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Change may be incremental rather than unlearning</a:t>
            </a:r>
          </a:p>
        </p:txBody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DC8B4FD3-1A54-4C6A-AE5F-4069ED8A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7F32899D-3A90-4AB2-B605-36ABD3B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498848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1:19</a:t>
            </a:r>
          </a:p>
        </p:txBody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E6FCB1CC-FFD3-49CC-A4F0-8E047046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425696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" name="Text 113">
            <a:extLst xmlns:a="http://schemas.openxmlformats.org/drawingml/2006/main">
              <a:ext uri="{FF2B5EF4-FFF2-40B4-BE49-F238E27FC236}">
                <a16:creationId xmlns:a16="http://schemas.microsoft.com/office/drawing/2014/main" id="{218C0B52-5A38-4DB9-B2D1-BE934747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4498848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934CCDF0-2AE2-4F3B-8FC6-10801FC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425696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E608A685-BCE8-4E04-A419-4780DB82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498848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Yes</a:t>
            </a:r>
          </a:p>
        </p:txBody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92F56B23-1F5D-44AD-A69F-77CDDDD8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4425696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" name="Text 117">
            <a:extLst xmlns:a="http://schemas.openxmlformats.org/drawingml/2006/main">
              <a:ext uri="{FF2B5EF4-FFF2-40B4-BE49-F238E27FC236}">
                <a16:creationId xmlns:a16="http://schemas.microsoft.com/office/drawing/2014/main" id="{E9185CF8-1A9C-4E3A-BB9F-1A45C9D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4498848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Boundary</a:t>
            </a:r>
          </a:p>
        </p:txBody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AE4E0E82-C7B7-4C12-A712-C83F154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25696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1" name="Text 119">
            <a:extLst xmlns:a="http://schemas.openxmlformats.org/drawingml/2006/main">
              <a:ext uri="{FF2B5EF4-FFF2-40B4-BE49-F238E27FC236}">
                <a16:creationId xmlns:a16="http://schemas.microsoft.com/office/drawing/2014/main" id="{A1E34BAA-2DEC-4F70-85C7-14255361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4498848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F766E"/>
                </a:solidFill>
              </a:rPr>
              <a:t>OK</a:t>
            </a:r>
          </a:p>
        </p:txBody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9D7F0CAF-3401-4327-9346-5EF51277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25696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3" name="Text 121">
            <a:extLst xmlns:a="http://schemas.openxmlformats.org/drawingml/2006/main">
              <a:ext uri="{FF2B5EF4-FFF2-40B4-BE49-F238E27FC236}">
                <a16:creationId xmlns:a16="http://schemas.microsoft.com/office/drawing/2014/main" id="{0090A1F4-BA4E-4181-9F86-49F192E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4471416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Process revision falls near codebook boundary</a:t>
            </a:r>
          </a:p>
        </p:txBody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00D8BCF7-3EDD-4674-A89C-848D3AD8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73168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" name="Text 123">
            <a:extLst xmlns:a="http://schemas.openxmlformats.org/drawingml/2006/main">
              <a:ext uri="{FF2B5EF4-FFF2-40B4-BE49-F238E27FC236}">
                <a16:creationId xmlns:a16="http://schemas.microsoft.com/office/drawing/2014/main" id="{BFDFA732-A19E-402D-BF59-DD09867B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46320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1:20</a:t>
            </a:r>
          </a:p>
        </p:txBody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5F12B4A5-6785-448E-BB17-06BAF472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773168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" name="Text 125">
            <a:extLst xmlns:a="http://schemas.openxmlformats.org/drawingml/2006/main">
              <a:ext uri="{FF2B5EF4-FFF2-40B4-BE49-F238E27FC236}">
                <a16:creationId xmlns:a16="http://schemas.microsoft.com/office/drawing/2014/main" id="{00173039-DE0C-4A99-8300-E54EA32D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4846320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85F6FD35-955A-47AA-8386-43DC8D69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773168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" name="Text 127">
            <a:extLst xmlns:a="http://schemas.openxmlformats.org/drawingml/2006/main">
              <a:ext uri="{FF2B5EF4-FFF2-40B4-BE49-F238E27FC236}">
                <a16:creationId xmlns:a16="http://schemas.microsoft.com/office/drawing/2014/main" id="{5747C334-60AE-434C-8743-100A1D6F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846320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Yes</a:t>
            </a:r>
          </a:p>
        </p:txBody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D1C966FD-4F2E-4C62-80A9-62E4E31E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4773168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1" name="Text 129">
            <a:extLst xmlns:a="http://schemas.openxmlformats.org/drawingml/2006/main">
              <a:ext uri="{FF2B5EF4-FFF2-40B4-BE49-F238E27FC236}">
                <a16:creationId xmlns:a16="http://schemas.microsoft.com/office/drawing/2014/main" id="{F9938C1B-E040-4143-AC38-988A25A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4846320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Other</a:t>
            </a:r>
          </a:p>
        </p:txBody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9795021B-F783-4E61-B110-DA9FC415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773168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3" name="Text 131">
            <a:extLst xmlns:a="http://schemas.openxmlformats.org/drawingml/2006/main">
              <a:ext uri="{FF2B5EF4-FFF2-40B4-BE49-F238E27FC236}">
                <a16:creationId xmlns:a16="http://schemas.microsoft.com/office/drawing/2014/main" id="{8C7FF8DC-F98F-4C30-A6F7-55D47F8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48463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OK</a:t>
            </a:r>
          </a:p>
        </p:txBody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4886DBBC-434E-4841-AF78-8168FC71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773168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5" name="Text 133">
            <a:extLst xmlns:a="http://schemas.openxmlformats.org/drawingml/2006/main">
              <a:ext uri="{FF2B5EF4-FFF2-40B4-BE49-F238E27FC236}">
                <a16:creationId xmlns:a16="http://schemas.microsoft.com/office/drawing/2014/main" id="{F8CD415F-F065-42DF-8658-F8699449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4818888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Evidence is indirect and context-dependent</a:t>
            </a:r>
          </a:p>
        </p:txBody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045F81D9-47E7-4377-95BA-647CDFEA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20640"/>
            <a:ext cx="694944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7" name="Text 135">
            <a:extLst xmlns:a="http://schemas.openxmlformats.org/drawingml/2006/main">
              <a:ext uri="{FF2B5EF4-FFF2-40B4-BE49-F238E27FC236}">
                <a16:creationId xmlns:a16="http://schemas.microsoft.com/office/drawing/2014/main" id="{6EFC8D0A-E372-44BE-943D-9E67C87E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93792"/>
            <a:ext cx="640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0B1220"/>
                </a:solidFill>
              </a:rPr>
              <a:t>1:24</a:t>
            </a:r>
          </a:p>
        </p:txBody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3E37E0FC-F930-4743-92B6-3CFB88FE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120640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" name="Text 137">
            <a:extLst xmlns:a="http://schemas.openxmlformats.org/drawingml/2006/main">
              <a:ext uri="{FF2B5EF4-FFF2-40B4-BE49-F238E27FC236}">
                <a16:creationId xmlns:a16="http://schemas.microsoft.com/office/drawing/2014/main" id="{EEE4DBAF-E672-4EE0-B878-F31A47F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04" y="5193792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F459C8AC-2F35-4635-B7AF-F578122C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5120640"/>
            <a:ext cx="67665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Text 139">
            <a:extLst xmlns:a="http://schemas.openxmlformats.org/drawingml/2006/main">
              <a:ext uri="{FF2B5EF4-FFF2-40B4-BE49-F238E27FC236}">
                <a16:creationId xmlns:a16="http://schemas.microsoft.com/office/drawing/2014/main" id="{B115E698-EBF4-4C77-8C42-D6AD58B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193792"/>
            <a:ext cx="6217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Yes</a:t>
            </a:r>
          </a:p>
        </p:txBody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62AA94B4-F7BD-4A66-A570-479DE608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5120640"/>
            <a:ext cx="93268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" name="Text 141">
            <a:extLst xmlns:a="http://schemas.openxmlformats.org/drawingml/2006/main">
              <a:ext uri="{FF2B5EF4-FFF2-40B4-BE49-F238E27FC236}">
                <a16:creationId xmlns:a16="http://schemas.microsoft.com/office/drawing/2014/main" id="{19BAE3FF-9E6B-4D95-8B27-090419B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5193792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Diagnosis</a:t>
            </a:r>
          </a:p>
        </p:txBody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05059D30-5663-4C44-9937-903AEAFF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120640"/>
            <a:ext cx="122529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Text 143">
            <a:extLst xmlns:a="http://schemas.openxmlformats.org/drawingml/2006/main">
              <a:ext uri="{FF2B5EF4-FFF2-40B4-BE49-F238E27FC236}">
                <a16:creationId xmlns:a16="http://schemas.microsoft.com/office/drawing/2014/main" id="{543105D6-0234-4661-A113-5E6EED7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5193792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B91C1C"/>
                </a:solidFill>
              </a:rPr>
              <a:t>OK</a:t>
            </a:r>
          </a:p>
        </p:txBody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82ED37E9-9E47-454B-B830-F462CED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120640"/>
            <a:ext cx="6812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7" name="Text 145">
            <a:extLst xmlns:a="http://schemas.openxmlformats.org/drawingml/2006/main">
              <a:ext uri="{FF2B5EF4-FFF2-40B4-BE49-F238E27FC236}">
                <a16:creationId xmlns:a16="http://schemas.microsoft.com/office/drawing/2014/main" id="{9CEE38FD-889F-4341-9B89-64762B6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5166360"/>
            <a:ext cx="6720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60">
                <a:solidFill>
                  <a:srgbClr val="334155"/>
                </a:solidFill>
              </a:rPr>
              <a:t>Failure identified; corrective action not explicit</a:t>
            </a:r>
          </a:p>
        </p:txBody>
      </p:sp>
      <p:sp>
        <p:nvSpPr>
          <p:cNvPr id="148" name="Text 146">
            <a:extLst xmlns:a="http://schemas.openxmlformats.org/drawingml/2006/main">
              <a:ext uri="{FF2B5EF4-FFF2-40B4-BE49-F238E27FC236}">
                <a16:creationId xmlns:a16="http://schemas.microsoft.com/office/drawing/2014/main" id="{1042271B-217C-4823-9192-AD954A4B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989320"/>
            <a:ext cx="10744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5"/>
                </a:solidFill>
              </a:rPr>
              <a:t>Three additional unanimous misses: ICA25:1:16, ICA25:1:22, and ICA25:1:27.</a:t>
            </a:r>
          </a:p>
        </p:txBody>
      </p:sp>
      <p:sp>
        <p:nvSpPr>
          <p:cNvPr id="149" name="Text 147">
            <a:extLst xmlns:a="http://schemas.openxmlformats.org/drawingml/2006/main">
              <a:ext uri="{FF2B5EF4-FFF2-40B4-BE49-F238E27FC236}">
                <a16:creationId xmlns:a16="http://schemas.microsoft.com/office/drawing/2014/main" id="{60E27E69-D36C-40CA-842C-634327B5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9692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Consensus identifies adjudication priority; it does not prove that the human labels are wrong.</a:t>
            </a:r>
          </a:p>
        </p:txBody>
      </p:sp>
      <p:sp>
        <p:nvSpPr>
          <p:cNvPr id="1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476EA98-02F8-4C48-88B4-B41D3840EA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8C630A04-5A25-9E0C-9436-126091DB86B3}" type="slidenum">
              <a:rPr b="0"/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10382350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5E3609-7548-4F16-8657-2650CAD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The Excel workbook turns disagreement into team adjudication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386C8B-DBBC-4D43-846C-9C1B2A9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41248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Review the evidence first; revise the prompt only after resolving the label–codebook boundary.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BA729C-6E4D-4C77-A45A-9DD93D80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70CEE6-0742-4824-AC9C-EE1A4F4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8BE432-95E9-461B-B318-03E3E222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priority cases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9A2ACBC-4E65-4654-B1DD-31C4CDF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1AF7D0-F05E-47C4-A625-2DE5D6D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1A8A80C-F11D-42AC-892C-54EFF190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model rationales per case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C492C53-565E-47A0-A5BE-9930EF07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3B59A30-0DC3-4D75-9282-98DC1AD2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393EC2-8D7F-419B-AFFA-7702129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reviewer fields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84A8D51-3846-4A1A-BD2B-8769155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B774E2-6CF6-4198-AE55-C9A404F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207A30A-3AE8-43C5-8B14-7A2B23B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workbook sheets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6C9EA19-3143-480F-937B-14DDD634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417320"/>
            <a:ext cx="14173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5DAB1D-4429-491A-8144-A604801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563624"/>
            <a:ext cx="108813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9EAFE2-171E-413C-B2E6-33B64D1E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984248"/>
            <a:ext cx="10881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labels overwritten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0CDCF16-151C-41D5-BAA7-A9000AD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20116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0F766E"/>
                </a:solidFill>
              </a:rPr>
              <a:t>REVIEW SEQUENCE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C2FAB1F-307C-4C4B-8BB2-A44EA68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46C81C7-9DDF-4080-83FA-6E22843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78AF53-8AB6-469E-B326-A2ACC0B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Evidence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D367FD1-1708-4316-906E-E44B481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Read passage, human rationale, codes, and five model explanations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471BA10-F930-4DA2-B90C-AA888AE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43AB85-9062-4239-91DC-339C9A0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5F4BD11-3360-4A60-BD12-6C9ADC4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Boundary check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10E2C05-FC1D-4220-B03A-CBC31DB7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Was prior practice, failure, and change type actually named?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AB7E26D-5D08-4062-9905-492BB67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8C0846E-8168-4370-B3E3-8426DF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2AC2A93-A109-4300-BA53-BFA345A9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Adjudication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8F9CA19-E9DC-4A4C-A00B-B683268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Confirm label, revise codebook, or mark more context needed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DCD070A-3A21-4FE7-BED0-5BB5A7F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BB8D77E-99B0-4810-A1C1-CAEF52F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70B53D9-F120-4E58-BC6C-0EB8EED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Decision log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D88DE68-50F4-4A6F-8EC3-8717992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Capture reviewer, notes, confidence, and final conclusion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8951274-9571-43D0-8989-8168D5E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91C1C"/>
                </a:solidFill>
              </a:rPr>
              <a:t>The dashboard updates from reviewer dropdowns and keeps raw model outputs intact for traceability.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EF32C0F-4B6C-4A08-977A-98B7654B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9692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The workbook is designed for collaborative analysis of unanimous false negatives—not automatic relabeling.</a:t>
            </a:r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C4D9C6-BCCA-46C7-910F-E4E1BDE66A7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D3D7D1C8-AE23-AA48-DF65-C742588DBE47}" type="slidenum">
              <a:rPr b="0"/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1759149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5E3609-7548-4F16-8657-2650CAD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Next week: add context, adjudicate, then rerun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386C8B-DBBC-4D43-846C-9C1B2A9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841248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ptos"/>
                <a:ea typeface="Aptos"/>
                <a:cs typeface="Aptos"/>
              </a:rPr>
              <a:t>Metadata enrichment is the next stage—not part of this week’s completed work.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BA729C-6E4D-4C77-A45A-9DD93D80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70CEE6-0742-4824-AC9C-EE1A4F4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8BE432-95E9-461B-B318-03E3E222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unanimous cases first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9A2ACBC-4E65-4654-B1DD-31C4CDF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1AF7D0-F05E-47C4-A625-2DE5D6D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1A8A80C-F11D-42AC-892C-54EFF190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new context fields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C492C53-565E-47A0-A5BE-9930EF07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3B59A30-0DC3-4D75-9282-98DC1AD2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393EC2-8D7F-419B-AFFA-7702129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adjudicated test set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84A8D51-3846-4A1A-BD2B-8769155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17320"/>
            <a:ext cx="21488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B774E2-6CF6-4198-AE55-C9A404F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563624"/>
            <a:ext cx="18196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334155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207A30A-3AE8-43C5-8B14-7A2B23B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984248"/>
            <a:ext cx="1819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models rerun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6C9EA19-3143-480F-937B-14DDD634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417320"/>
            <a:ext cx="141732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5DAB1D-4429-491A-8144-A604801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563624"/>
            <a:ext cx="108813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9EAFE2-171E-413C-B2E6-33B64D1E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984248"/>
            <a:ext cx="10881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revised baseline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0CDCF16-151C-41D5-BAA7-A9000AD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20116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0F766E"/>
                </a:solidFill>
              </a:rPr>
              <a:t>NEXT-WEEK PLAN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C2FAB1F-307C-4C4B-8BB2-A44EA68C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46C81C7-9DDF-4080-83FA-6E22843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78AF53-8AB6-469E-B326-A2ACC0B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Context merge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D367FD1-1708-4316-906E-E44B481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Add previous and next paragraphs around each passage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471BA10-F930-4DA2-B90C-AA888AE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43AB85-9062-4239-91DC-339C9A0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5F4BD11-3360-4A60-BD12-6C9ADC4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9159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Document structure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10E2C05-FC1D-4220-B03A-CBC31DB7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Add section heading and verified document title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AB7E26D-5D08-4062-9905-492BB67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8C0846E-8168-4370-B3E3-8426DF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2AC2A93-A109-4300-BA53-BFA345A9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Team adjudication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8F9CA19-E9DC-4A4C-A00B-B683268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Resolve diagnosis, additive-change, lessons, and boundary cases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DCD070A-3A21-4FE7-BED0-5BB5A7F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46120"/>
            <a:ext cx="2331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BB8D77E-99B0-4810-A1C1-CAEF52F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401568"/>
            <a:ext cx="3474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70B53D9-F120-4E58-BC6C-0EB8EED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8328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220"/>
                </a:solidFill>
              </a:rPr>
              <a:t>Controlled rerun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D88DE68-50F4-4A6F-8EC3-8717992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950208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</a:rPr>
              <a:t>Compare context-aware recall without losing precision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8951274-9571-43D0-8989-8168D5E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91C1C"/>
                </a:solidFill>
              </a:rPr>
              <a:t>Planned enrichment fields: previous paragraph, next paragraph, section heading, and verified document title.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EF32C0F-4B6C-4A08-977A-98B7654B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9692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Success means fewer high-confidence false negatives plus a documented decision on ambiguous human labels.</a:t>
            </a:r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C4D9C6-BCCA-46C7-910F-E4E1BDE66A7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BA58DA2A-B818-18A9-29C1-B697728D5BCE}" type="slidenum">
              <a:rPr b="0"/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1759149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2026-07-10T12:29:54.1790000Z</dcterms:created>
  <dcterms:modified xsi:type="dcterms:W3CDTF">2026-07-10T12:29:54.1790000Z</dcterms:modified>
</coreProperties>
</file>
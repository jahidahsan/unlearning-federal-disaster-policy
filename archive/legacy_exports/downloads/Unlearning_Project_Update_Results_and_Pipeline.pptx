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opening frames the deck around what was built, what was measured, and how the best model decision should be interpreted.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deliverables, not detailed numbers. It gives the team a clear arc from experimentation to pipeline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remind the audience that binary score is only one part of the coding task; target, agency, and rationale also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why the team should not anchor on the initial Claude 100%. It was useful as a smoke test, not a final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clarifies that each result comes from a different benchmark state; scores should not be blindly compared without noting changes in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crucial for trust: it shows we are not overclaiming leaked few-shot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results slide. Emphasize both the numeric winner and the caveat about few-shot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the audience a usable answer to “which model is best?” while making clear that production should use consensus.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about prompt strategy rather than just model rankings. It supports the production pipeline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that local context was valuable diagnostically even if it did not improve accuracy. It exposed boundary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likely the most important analytic result. It explains why the models reject EPA positives and why adjudication should precede more prompt optimization.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transitions from benchmark results to the production workflow. It shows that the output is useful for actual coding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language that can be used directly in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action steps. The main priority is label adjudication, then a truly clean model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slide for detailed metric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58368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153B59"/>
          </a:solidFill>
          <a:ln w="12700">
            <a:solidFill>
              <a:srgbClr val="153B5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713232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37B7D7"/>
                </a:solidFill>
              </a:rPr>
              <a:t>Research update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5087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Unlearning Project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06654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BFA"/>
                </a:solidFill>
              </a:rPr>
              <a:t>Model benchmark results, data-quality findings, and the production labeling pipeline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971800"/>
            <a:ext cx="5394960" cy="0"/>
          </a:xfrm>
          <a:prstGeom prst="line">
            <a:avLst/>
          </a:prstGeom>
          <a:noFill/>
          <a:ln w="31750">
            <a:solidFill>
              <a:srgbClr val="37B7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2461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Key conclusion: treat “best model” as a task-specific decision—Gemini leads cleaned F1, GPT-5.6 Terra leads cleaned accuracy among comparable example strategies, and consensus labeling is the safest production choice.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61813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8DD"/>
                </a:solidFill>
              </a:rPr>
              <a:t>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7D7"/>
          </a:solidFill>
          <a:ln w="12700">
            <a:solidFill>
              <a:srgbClr val="37B7D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work was completed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The project moved from prompt testing to a reusable document-labeling workflow.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Unlearning project · model benchmarking and production labeling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14400" y="2971800"/>
            <a:ext cx="10241280" cy="0"/>
          </a:xfrm>
          <a:prstGeom prst="line">
            <a:avLst/>
          </a:prstGeom>
          <a:noFill/>
          <a:ln w="25400">
            <a:solidFill>
              <a:srgbClr val="CBD8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670048"/>
            <a:ext cx="530352" cy="530352"/>
          </a:xfrm>
          <a:prstGeom prst="ellipse">
            <a:avLst/>
          </a:prstGeom>
          <a:solidFill>
            <a:srgbClr val="2A80B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16352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Prompt A/B tests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822192"/>
            <a:ext cx="1828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Direct, definitions, examples, metadata variants across providers.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44368" y="2670048"/>
            <a:ext cx="530352" cy="530352"/>
          </a:xfrm>
          <a:prstGeom prst="ellipse">
            <a:avLst/>
          </a:prstGeom>
          <a:solidFill>
            <a:srgbClr val="2A80B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2816352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70048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Expanded benchmark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3822192"/>
            <a:ext cx="1828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Moved beyond 11 positive-only prompts into 49 mixed-label rows.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57216" y="2670048"/>
            <a:ext cx="530352" cy="530352"/>
          </a:xfrm>
          <a:prstGeom prst="ellipse">
            <a:avLst/>
          </a:prstGeom>
          <a:solidFill>
            <a:srgbClr val="2A80B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2816352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82896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Current codebook + local context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0016" y="3822192"/>
            <a:ext cx="1828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Built a 42-row local-context test set with updated coding definitions.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70064" y="2670048"/>
            <a:ext cx="530352" cy="530352"/>
          </a:xfrm>
          <a:prstGeom prst="ellipse">
            <a:avLst/>
          </a:prstGeom>
          <a:solidFill>
            <a:srgbClr val="2A80B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0064" y="2816352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95744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Data-quality audit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12864" y="3822192"/>
            <a:ext cx="1828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Removed duplicate rows and exact test/example leakage from post-hoc scoring.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82912" y="2670048"/>
            <a:ext cx="530352" cy="530352"/>
          </a:xfrm>
          <a:prstGeom prst="ellipse">
            <a:avLst/>
          </a:prstGeom>
          <a:solidFill>
            <a:srgbClr val="4C956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82912" y="2816352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08592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Production pipeline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25712" y="3822192"/>
            <a:ext cx="18288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Multi-document annotation notebook with reliability, consensus, and highlighted PDFs.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" y="11430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1143000"/>
            <a:ext cx="73152" cy="868680"/>
          </a:xfrm>
          <a:prstGeom prst="rect">
            <a:avLst/>
          </a:prstGeom>
          <a:solidFill>
            <a:srgbClr val="37B7D7"/>
          </a:solidFill>
          <a:ln w="12700">
            <a:solidFill>
              <a:srgbClr val="37B7D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12710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Why this matters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60120" y="155448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The work is no longer just “which prompt scored highest.” It now includes benchmark validity, label/codebook alignment, and a scalable pipeline for new documents.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11430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1143000"/>
            <a:ext cx="73152" cy="86868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12710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Current artifact set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46520" y="155448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Cleaned metrics workbook · local-context notebook · production multi-document annotation notebook · updated codebook guidance.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6144768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38F"/>
                </a:solidFill>
              </a:rPr>
              <a:t>Source: v2–v5 notebooks, local-context notebook, cleaned metrics audit, production annotation pipeline.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7D7"/>
          </a:solidFill>
          <a:ln w="12700">
            <a:solidFill>
              <a:srgbClr val="37B7D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evaluation task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Each paragraph is classified for unlearning, target type, agency, rationale, and confidence.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Unlearning project · model benchmarking and production labeling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103120" y="2514600"/>
            <a:ext cx="868680" cy="0"/>
          </a:xfrm>
          <a:prstGeom prst="line">
            <a:avLst/>
          </a:prstGeom>
          <a:noFill/>
          <a:ln w="25400">
            <a:solidFill>
              <a:srgbClr val="A9BBD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97680" y="2514600"/>
            <a:ext cx="868680" cy="0"/>
          </a:xfrm>
          <a:prstGeom prst="line">
            <a:avLst/>
          </a:prstGeom>
          <a:noFill/>
          <a:ln w="25400">
            <a:solidFill>
              <a:srgbClr val="A9BBD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92240" y="2514600"/>
            <a:ext cx="868680" cy="0"/>
          </a:xfrm>
          <a:prstGeom prst="line">
            <a:avLst/>
          </a:prstGeom>
          <a:noFill/>
          <a:ln w="25400">
            <a:solidFill>
              <a:srgbClr val="A9BBD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86800" y="2514600"/>
            <a:ext cx="868680" cy="0"/>
          </a:xfrm>
          <a:prstGeom prst="line">
            <a:avLst/>
          </a:prstGeom>
          <a:noFill/>
          <a:ln w="25400">
            <a:solidFill>
              <a:srgbClr val="A9BBD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" y="20574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A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860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Document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paragraphs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88920" y="20574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E57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22860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Codebook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definitions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83480" y="20574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2860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LLM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labeling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78040" y="20574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22860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Consensus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reliability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72600" y="20574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C95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22860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Annotated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PDF outputs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977640"/>
            <a:ext cx="2834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977640"/>
            <a:ext cx="73152" cy="932688"/>
          </a:xfrm>
          <a:prstGeom prst="rect">
            <a:avLst/>
          </a:prstGeom>
          <a:solidFill>
            <a:srgbClr val="2A80B9"/>
          </a:solidFill>
          <a:ln w="12700">
            <a:solidFill>
              <a:srgbClr val="2A80B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1056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Binary decision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4400" y="4389120"/>
            <a:ext cx="2450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Is institutional unlearning present in the target paragraph?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30752" y="3977640"/>
            <a:ext cx="36576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30752" y="3977640"/>
            <a:ext cx="73152" cy="93268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59352" y="41056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Target label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959352" y="4389120"/>
            <a:ext cx="3273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If Yes: Leadership, laws/plans/policies, capabilities, funds/resources, miscellaneous organizational, or none.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07808" y="3977640"/>
            <a:ext cx="36118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07808" y="3977640"/>
            <a:ext cx="73152" cy="932688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36408" y="410565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Interpretation output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836408" y="4389120"/>
            <a:ext cx="32278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Every model returns rationale, confidence, agency, and evidence signals for review.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6144768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38F"/>
                </a:solidFill>
              </a:rPr>
              <a:t>Production notebook uses paragraph extraction, model predictions, agreement statistics, and editable PDF annotations.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7D7"/>
          </a:solidFill>
          <a:ln w="12700">
            <a:solidFill>
              <a:srgbClr val="37B7D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early 100% result was not enough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The first benchmark mostly measured recall on positive cases—not full classification quality.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Unlearning project · model benchmarking and production labeling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80B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legacy GPT Test rows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0896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95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11/11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1947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all human labels were Yes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0" y="1417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34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0" y="1947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negative rows to test false positives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51560" y="2788920"/>
            <a:ext cx="6583680" cy="0"/>
          </a:xfrm>
          <a:prstGeom prst="line">
            <a:avLst/>
          </a:prstGeom>
          <a:noFill/>
          <a:ln w="16510">
            <a:solidFill>
              <a:srgbClr val="C8D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26680" y="2788920"/>
            <a:ext cx="777240" cy="0"/>
          </a:xfrm>
          <a:prstGeom prst="line">
            <a:avLst/>
          </a:prstGeom>
          <a:noFill/>
          <a:ln w="27940">
            <a:solidFill>
              <a:srgbClr val="37B7D7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641080" y="1417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641080" y="1947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expanded mixed-label rows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397764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977640"/>
            <a:ext cx="73152" cy="960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1056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Interpretation shift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" y="438912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The old 100% result should be reported as “11/11 Yes recall on a positive-only pilot,” not as general accuracy.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397764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977640"/>
            <a:ext cx="73152" cy="9601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10565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What changed next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7960" y="4389120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Expanded tests introduced No labels, multiple documents, stricter definitions, local context, and data-quality checks.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144768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38F"/>
                </a:solidFill>
              </a:rPr>
              <a:t>Source: original v4 notebook and expanded 49-row benchmark.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7D7"/>
          </a:solidFill>
          <a:ln w="12700">
            <a:solidFill>
              <a:srgbClr val="37B7D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evolution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The experiment became more realistic, but also more sensitive to label and codebook choices.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Unlearning project · model benchmarking and production labeling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30936" y="1207008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B1F33"/>
                </a:solidFill>
              </a:rPr>
              <a:t>Stage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56816" y="120700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B1F33"/>
                </a:solidFill>
              </a:rPr>
              <a:t>Input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14216" y="120700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B1F33"/>
                </a:solidFill>
              </a:rPr>
              <a:t>Main purpose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71816" y="1207008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B1F33"/>
                </a:solidFill>
              </a:rPr>
              <a:t>Caution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1499616"/>
            <a:ext cx="11018520" cy="0"/>
          </a:xfrm>
          <a:prstGeom prst="line">
            <a:avLst/>
          </a:prstGeom>
          <a:noFill/>
          <a:ln w="15240">
            <a:solidFill>
              <a:srgbClr val="AFC1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1600200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F33"/>
                </a:solidFill>
              </a:rPr>
              <a:t>Pilot A/B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1956816" y="1600200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11 rows · all Yes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14216" y="1600200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Prompt feasibility; provider/API debugging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71816" y="1600200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No negatives, so no specificity/F1 validation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2221992"/>
            <a:ext cx="11018520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2258568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F33"/>
                </a:solidFill>
              </a:rPr>
              <a:t>Expanded 49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956816" y="2258568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39 Yes · 10 No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14216" y="2258568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Mixed-label model comparison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671816" y="2258568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Contained duplicate rows and test/example leakage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880360"/>
            <a:ext cx="11018520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2916936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F33"/>
                </a:solidFill>
              </a:rPr>
              <a:t>Cleaned post-hoc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1956816" y="2916936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46 or 40 rows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14216" y="2916936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Adjusted scores after removing duplicates/leakage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671816" y="2916936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Still diagnostic; best use is model triage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4360" y="3538728"/>
            <a:ext cx="11018520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" y="3575304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F33"/>
                </a:solidFill>
              </a:rPr>
              <a:t>Local context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1956816" y="3575304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42 rows · current codebook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14216" y="3575304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Tested ±2 source paragraph context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671816" y="3575304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Revealed EPA/codebook tension, not a simple context win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4360" y="4197096"/>
            <a:ext cx="11018520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4233672"/>
            <a:ext cx="125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F33"/>
                </a:solidFill>
              </a:rPr>
              <a:t>Production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1956816" y="4233672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New PDFs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14216" y="4233672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Paragraph labeling, reliability, annotated PDFs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671816" y="4233672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Needs clean examples and final codebook choice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4360" y="4855464"/>
            <a:ext cx="11018520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144768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38F"/>
                </a:solidFill>
              </a:rPr>
              <a:t>Source: v2/v3/v4/v5 notebooks, local-context notebook, cleaned metrics audit, production pipeline.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7D7"/>
          </a:solidFill>
          <a:ln w="12700">
            <a:solidFill>
              <a:srgbClr val="37B7D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Data-quality audit changed the benchmark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Duplicates and test/example leakage were removed before recalculating cleaned accuracy and F1.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Unlearning project · model benchmarking and production labeling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7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2926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00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34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21305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near-duplicate test rows removed from all updated-v4 conditions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371600"/>
            <a:ext cx="2926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600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87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19472" y="21305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exact test/example overlaps removed from few-shot scores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412480" y="1371600"/>
            <a:ext cx="2926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05088" y="1600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95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705088" y="21305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rows removed from local-context test set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333756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337560"/>
            <a:ext cx="73152" cy="11430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4655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Implication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3749040"/>
            <a:ext cx="4553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Example-based results remain useful for diagnosis, but they still require a clean rerun because leaked examples were visible during generation.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33756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337560"/>
            <a:ext cx="73152" cy="1143000"/>
          </a:xfrm>
          <a:prstGeom prst="rect">
            <a:avLst/>
          </a:prstGeom>
          <a:solidFill>
            <a:srgbClr val="2A80B9"/>
          </a:solidFill>
          <a:ln w="12700">
            <a:solidFill>
              <a:srgbClr val="2A80B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4655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Scoring denominators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3749040"/>
            <a:ext cx="4553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Updated-v4 direct/definitions: 46 rows. Updated-v4 few-shot: 40 rows. Local-context: 42 rows.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6144768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38F"/>
                </a:solidFill>
              </a:rPr>
              <a:t>Source: Unlearning_PostHoc_Cleaned_Metrics.xlsx removed-row audit.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7D7"/>
          </a:solidFill>
          <a:ln w="12700">
            <a:solidFill>
              <a:srgbClr val="37B7D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Cleaned leaderboard: best observed settings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After duplicate/leakage adjustment, the winner depends on whether we prioritize F1 or accuracy.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Unlearning project · model benchmarking and production labeling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13898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Gemini direct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429000" y="1417320"/>
            <a:ext cx="3042721" cy="25603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1721" y="1417320"/>
            <a:ext cx="706319" cy="256032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87768" y="1389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F33"/>
                </a:solidFill>
              </a:rPr>
              <a:t>81.2%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31520" y="18470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GPT-5.6 Terra + examples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429000" y="1874520"/>
            <a:ext cx="3025475" cy="256032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54475" y="1874520"/>
            <a:ext cx="723565" cy="256032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8470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F33"/>
                </a:solidFill>
              </a:rPr>
              <a:t>80.7%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731520" y="23042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Claude Sonnet 5 + examples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429000" y="2331720"/>
            <a:ext cx="3023601" cy="256032"/>
          </a:xfrm>
          <a:prstGeom prst="rect">
            <a:avLst/>
          </a:prstGeom>
          <a:solidFill>
            <a:srgbClr val="2A80B9"/>
          </a:solidFill>
          <a:ln w="12700">
            <a:solidFill>
              <a:srgbClr val="2A80B9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2601" y="2331720"/>
            <a:ext cx="725439" cy="256032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87768" y="23042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F33"/>
                </a:solidFill>
              </a:rPr>
              <a:t>80.7%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731520" y="27614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Claude + examples + metadata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429000" y="2788920"/>
            <a:ext cx="2999232" cy="256032"/>
          </a:xfrm>
          <a:prstGeom prst="rect">
            <a:avLst/>
          </a:prstGeom>
          <a:solidFill>
            <a:srgbClr val="2A80B9"/>
          </a:solidFill>
          <a:ln w="12700">
            <a:solidFill>
              <a:srgbClr val="2A80B9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8232" y="2788920"/>
            <a:ext cx="749808" cy="256032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87768" y="27614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F33"/>
                </a:solidFill>
              </a:rPr>
              <a:t>80.0%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731520" y="32186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Gemini + examples + metadata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3429000" y="3246120"/>
            <a:ext cx="2950120" cy="25603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9120" y="3246120"/>
            <a:ext cx="798920" cy="256032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87768" y="32186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F33"/>
                </a:solidFill>
              </a:rPr>
              <a:t>78.7%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731520" y="36758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GPT + examples + metadata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3429000" y="3703320"/>
            <a:ext cx="2999232" cy="256032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8232" y="3703320"/>
            <a:ext cx="749808" cy="256032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87768" y="3675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F33"/>
                </a:solidFill>
              </a:rPr>
              <a:t>80.0%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8275320" y="137160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1371600"/>
            <a:ext cx="73152" cy="9601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14996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Best cleaned F1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503920" y="17830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Gemini 3.1 Flash Lite using the direct strategy: 81.2% F1 on 46 cleaned rows.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75320" y="26060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5320" y="2606040"/>
            <a:ext cx="73152" cy="105156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27340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Best cleaned accuracy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503920" y="301752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GPT-5.6 Terra using examples without metadata: 72.5% accuracy and 80.7% F1 on 40 cleaned rows.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275320" y="397764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75320" y="3977640"/>
            <a:ext cx="73152" cy="960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41056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Caveat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503920" y="438912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Few-shot scores are post-hoc adjusted, not fully leakage-free generation. Treat them as promising but not final.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2920" y="6144768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38F"/>
                </a:solidFill>
              </a:rPr>
              <a:t>Metric shown: Yes-class F1 after duplicate/leakage adjustment.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7D7"/>
          </a:solidFill>
          <a:ln w="12700">
            <a:solidFill>
              <a:srgbClr val="37B7D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model decision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The clean answer is not one model for every goal; it is a recommended operating strategy.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Unlearning project · model benchmarking and production labeling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13232" y="1234440"/>
            <a:ext cx="2790292" cy="34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B1F33"/>
                </a:solidFill>
              </a:rPr>
              <a:t>Model / Strategy</a:t>
            </a:r>
            <a:endParaRPr lang="en-US" sz="890" dirty="0"/>
          </a:p>
        </p:txBody>
      </p:sp>
      <p:sp>
        <p:nvSpPr>
          <p:cNvPr id="8" name="Text 6"/>
          <p:cNvSpPr/>
          <p:nvPr/>
        </p:nvSpPr>
        <p:spPr>
          <a:xfrm>
            <a:off x="3558388" y="1234440"/>
            <a:ext cx="932231" cy="34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B1F33"/>
                </a:solidFill>
              </a:rPr>
              <a:t>Clean N</a:t>
            </a:r>
            <a:endParaRPr lang="en-US" sz="890" dirty="0"/>
          </a:p>
        </p:txBody>
      </p:sp>
      <p:sp>
        <p:nvSpPr>
          <p:cNvPr id="9" name="Text 7"/>
          <p:cNvSpPr/>
          <p:nvPr/>
        </p:nvSpPr>
        <p:spPr>
          <a:xfrm>
            <a:off x="4545482" y="1234440"/>
            <a:ext cx="932231" cy="34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B1F33"/>
                </a:solidFill>
              </a:rPr>
              <a:t>Accuracy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5532577" y="1234440"/>
            <a:ext cx="932231" cy="34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B1F33"/>
                </a:solidFill>
              </a:rPr>
              <a:t>F1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685800" y="1652190"/>
            <a:ext cx="5806440" cy="0"/>
          </a:xfrm>
          <a:prstGeom prst="line">
            <a:avLst/>
          </a:prstGeom>
          <a:noFill/>
          <a:ln w="15240">
            <a:solidFill>
              <a:srgbClr val="AFC1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806593"/>
            <a:ext cx="2790292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Gemini 3.1 Flash Lite · Direct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558388" y="1806593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46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545482" y="1806593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71.7%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532577" y="1806593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81.2%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85800" y="2187767"/>
            <a:ext cx="580644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342170"/>
            <a:ext cx="2790292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GPT-5.6 Terra · Examples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558388" y="2342170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40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545482" y="2342170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72.5%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532577" y="2342170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80.7%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85800" y="2723344"/>
            <a:ext cx="580644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2877747"/>
            <a:ext cx="2790292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Claude Sonnet 5 · Examples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558388" y="2877747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40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545482" y="2877747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70.0%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5532577" y="2877747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80.6%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85800" y="3258922"/>
            <a:ext cx="580644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413325"/>
            <a:ext cx="2790292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Gemini · Local context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3558388" y="3413325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42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545482" y="3413325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54.8%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532577" y="3413325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59.6%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85800" y="3794499"/>
            <a:ext cx="580644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3948902"/>
            <a:ext cx="2790292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Claude · Local context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3558388" y="3948902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42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545482" y="3948902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45.2%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5532577" y="3948902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43.9%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85800" y="4330076"/>
            <a:ext cx="580644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484479"/>
            <a:ext cx="2790292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GPT · Local context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3558388" y="4484479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42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545482" y="4484479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40.5%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5532577" y="4484479"/>
            <a:ext cx="932231" cy="31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35.9%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85800" y="4865653"/>
            <a:ext cx="580644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95160" y="1234440"/>
            <a:ext cx="4343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95160" y="1234440"/>
            <a:ext cx="73152" cy="8686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136245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Current best single-model pick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223760" y="164592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For cleaned benchmark F1: Gemini 3.1 Flash Lite with the direct prompt.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995160" y="2377440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95160" y="2377440"/>
            <a:ext cx="73152" cy="96012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3760" y="250545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Most conservative high-accuracy pick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223760" y="278892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GPT-5.6 Terra + examples had the highest cleaned accuracy, but should be rerun without any leakage.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95160" y="3657600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95160" y="3657600"/>
            <a:ext cx="73152" cy="960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378561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Recommended production choice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7223760" y="40690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Use all three providers and model agreement as a review signal; do not rely on a single model for final coding yet.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02920" y="6144768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38F"/>
                </a:solidFill>
              </a:rPr>
              <a:t>Source: cleaned post-hoc metrics and local-context results.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7D7"/>
          </a:solidFill>
          <a:ln w="12700">
            <a:solidFill>
              <a:srgbClr val="37B7D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strategy findings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Examples helped Claude and OpenAI, while Gemini performed strongest with the direct prompt.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Unlearning project · model benchmarking and production labeling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1261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Claude Sonnet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12435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A6978"/>
                </a:solidFill>
              </a:rPr>
              <a:t>Direct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246120" y="1517904"/>
            <a:ext cx="731520" cy="658368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941893"/>
            <a:ext cx="731520" cy="234379"/>
          </a:xfrm>
          <a:prstGeom prst="rect">
            <a:avLst/>
          </a:prstGeom>
          <a:solidFill>
            <a:srgbClr val="2A80B9"/>
          </a:solidFill>
          <a:ln w="12700">
            <a:solidFill>
              <a:srgbClr val="2A80B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222199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F33"/>
                </a:solidFill>
              </a:rPr>
              <a:t>36%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480560" y="12435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A6978"/>
                </a:solidFill>
              </a:rPr>
              <a:t>Defs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663440" y="1517904"/>
            <a:ext cx="731520" cy="658368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715414"/>
            <a:ext cx="731520" cy="460858"/>
          </a:xfrm>
          <a:prstGeom prst="rect">
            <a:avLst/>
          </a:prstGeom>
          <a:solidFill>
            <a:srgbClr val="2A80B9"/>
          </a:solidFill>
          <a:ln w="12700">
            <a:solidFill>
              <a:srgbClr val="2A80B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222199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F33"/>
                </a:solidFill>
              </a:rPr>
              <a:t>70%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5897880" y="12435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A6978"/>
                </a:solidFill>
              </a:rPr>
              <a:t>Ex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080760" y="1517904"/>
            <a:ext cx="731520" cy="658368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645627"/>
            <a:ext cx="731520" cy="530645"/>
          </a:xfrm>
          <a:prstGeom prst="rect">
            <a:avLst/>
          </a:prstGeom>
          <a:solidFill>
            <a:srgbClr val="2A80B9"/>
          </a:solidFill>
          <a:ln w="12700">
            <a:solidFill>
              <a:srgbClr val="2A80B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6752" y="222199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F33"/>
                </a:solidFill>
              </a:rPr>
              <a:t>81%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315200" y="12435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A6978"/>
                </a:solidFill>
              </a:rPr>
              <a:t>Ex+meta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498080" y="1517904"/>
            <a:ext cx="731520" cy="658368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0" y="1649578"/>
            <a:ext cx="731520" cy="526694"/>
          </a:xfrm>
          <a:prstGeom prst="rect">
            <a:avLst/>
          </a:prstGeom>
          <a:solidFill>
            <a:srgbClr val="2A80B9"/>
          </a:solidFill>
          <a:ln w="12700">
            <a:solidFill>
              <a:srgbClr val="2A80B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222199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F33"/>
                </a:solidFill>
              </a:rPr>
              <a:t>80%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731520" y="26791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Gemini 3.1 Flash Lite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63240" y="266090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A6978"/>
                </a:solidFill>
              </a:rPr>
              <a:t>Direct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246120" y="2935224"/>
            <a:ext cx="731520" cy="658368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3058997"/>
            <a:ext cx="731520" cy="534595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82112" y="363931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F33"/>
                </a:solidFill>
              </a:rPr>
              <a:t>81%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480560" y="266090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A6978"/>
                </a:solidFill>
              </a:rPr>
              <a:t>Defs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663440" y="2935224"/>
            <a:ext cx="731520" cy="658368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094549"/>
            <a:ext cx="731520" cy="499043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363931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F33"/>
                </a:solidFill>
              </a:rPr>
              <a:t>76%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5897880" y="266090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A6978"/>
                </a:solidFill>
              </a:rPr>
              <a:t>Ex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080760" y="2935224"/>
            <a:ext cx="731520" cy="658368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3097183"/>
            <a:ext cx="731520" cy="496409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16752" y="363931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F33"/>
                </a:solidFill>
              </a:rPr>
              <a:t>75%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7315200" y="266090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A6978"/>
                </a:solidFill>
              </a:rPr>
              <a:t>Ex+meta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7498080" y="2935224"/>
            <a:ext cx="731520" cy="658368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3075456"/>
            <a:ext cx="731520" cy="518136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34072" y="363931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F33"/>
                </a:solidFill>
              </a:rPr>
              <a:t>79%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731520" y="4096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GPT-5.6 Terra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063240" y="407822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A6978"/>
                </a:solidFill>
              </a:rPr>
              <a:t>Direct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3246120" y="4352544"/>
            <a:ext cx="731520" cy="658368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46120" y="4542154"/>
            <a:ext cx="731520" cy="468758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82112" y="505663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F33"/>
                </a:solidFill>
              </a:rPr>
              <a:t>71%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4480560" y="407822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A6978"/>
                </a:solidFill>
              </a:rPr>
              <a:t>Defs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4663440" y="4352544"/>
            <a:ext cx="731520" cy="658368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4606016"/>
            <a:ext cx="731520" cy="404896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99432" y="505663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F33"/>
                </a:solidFill>
              </a:rPr>
              <a:t>62%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5897880" y="407822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A6978"/>
                </a:solidFill>
              </a:rPr>
              <a:t>Ex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6080760" y="4352544"/>
            <a:ext cx="731520" cy="658368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80760" y="4479609"/>
            <a:ext cx="731520" cy="531303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16752" y="505663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F33"/>
                </a:solidFill>
              </a:rPr>
              <a:t>81%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7315200" y="407822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A6978"/>
                </a:solidFill>
              </a:rPr>
              <a:t>Ex+meta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7498080" y="4352544"/>
            <a:ext cx="731520" cy="658368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98080" y="4484218"/>
            <a:ext cx="731520" cy="526694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34072" y="505663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B1F33"/>
                </a:solidFill>
              </a:rPr>
              <a:t>80%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8412480" y="132588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12480" y="1325880"/>
            <a:ext cx="73152" cy="10972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41080" y="14538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Pattern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8641080" y="173736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Few-shot prompting generally raised recall, but can invite leakage and higher cost. The direct prompt is strongest for Gemini in the cleaned comparison.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412480" y="29718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12480" y="2971800"/>
            <a:ext cx="73152" cy="109728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41080" y="30998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Action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8641080" y="338328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Keep strategies provider-specific: Gemini direct; OpenAI and Claude with carefully curated, leakage-safe examples.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02920" y="6144768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38F"/>
                </a:solidFill>
              </a:rPr>
              <a:t>Metric shown: cleaned Yes-class F1 by provider and prompt strategy.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7D7"/>
          </a:solidFill>
          <a:ln w="12700">
            <a:solidFill>
              <a:srgbClr val="37B7D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context experiment: useful, but not a simple improvement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Adding ±2 source paragraphs clarified why the models reject many EPA positives under the stricter codebook.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Unlearning project · model benchmarking and production labeling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13232" y="1234440"/>
            <a:ext cx="2319833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B1F33"/>
                </a:solidFill>
              </a:rPr>
              <a:t>Model / Strategy</a:t>
            </a:r>
            <a:endParaRPr lang="en-US" sz="890" dirty="0"/>
          </a:p>
        </p:txBody>
      </p:sp>
      <p:sp>
        <p:nvSpPr>
          <p:cNvPr id="8" name="Text 6"/>
          <p:cNvSpPr/>
          <p:nvPr/>
        </p:nvSpPr>
        <p:spPr>
          <a:xfrm>
            <a:off x="3087929" y="1234440"/>
            <a:ext cx="76901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B1F33"/>
                </a:solidFill>
              </a:rPr>
              <a:t>Clean N</a:t>
            </a:r>
            <a:endParaRPr lang="en-US" sz="890" dirty="0"/>
          </a:p>
        </p:txBody>
      </p:sp>
      <p:sp>
        <p:nvSpPr>
          <p:cNvPr id="9" name="Text 7"/>
          <p:cNvSpPr/>
          <p:nvPr/>
        </p:nvSpPr>
        <p:spPr>
          <a:xfrm>
            <a:off x="3911803" y="1234440"/>
            <a:ext cx="76901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B1F33"/>
                </a:solidFill>
              </a:rPr>
              <a:t>Accuracy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4735678" y="1234440"/>
            <a:ext cx="769010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B1F33"/>
                </a:solidFill>
              </a:rPr>
              <a:t>F1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685800" y="1635633"/>
            <a:ext cx="4846320" cy="0"/>
          </a:xfrm>
          <a:prstGeom prst="line">
            <a:avLst/>
          </a:prstGeom>
          <a:noFill/>
          <a:ln w="15240">
            <a:solidFill>
              <a:srgbClr val="AFC1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785366"/>
            <a:ext cx="2319833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Gemini · local context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087929" y="1785366"/>
            <a:ext cx="76901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42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911803" y="1785366"/>
            <a:ext cx="76901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54.8%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735678" y="1785366"/>
            <a:ext cx="76901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59.6%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85800" y="2149983"/>
            <a:ext cx="484632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299716"/>
            <a:ext cx="2319833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Claude · local context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087929" y="2299716"/>
            <a:ext cx="76901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42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911803" y="2299716"/>
            <a:ext cx="76901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45.2%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735678" y="2299716"/>
            <a:ext cx="76901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43.9%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85800" y="2664333"/>
            <a:ext cx="484632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2814066"/>
            <a:ext cx="2319833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GPT · local context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087929" y="2814066"/>
            <a:ext cx="76901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42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3911803" y="2814066"/>
            <a:ext cx="76901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40.5%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735678" y="2814066"/>
            <a:ext cx="76901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35.9%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85800" y="3178683"/>
            <a:ext cx="484632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Positive recall by document source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17920" y="17647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</a:rPr>
              <a:t>EPA positives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001000" y="1719072"/>
            <a:ext cx="502920" cy="329184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0" y="208483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F33"/>
                </a:solidFill>
              </a:rPr>
              <a:t>0%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8823960" y="1719072"/>
            <a:ext cx="502920" cy="329184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23960" y="208483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F33"/>
                </a:solidFill>
              </a:rPr>
              <a:t>0%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9646920" y="1719072"/>
            <a:ext cx="502920" cy="329184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46920" y="208483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F33"/>
                </a:solidFill>
              </a:rPr>
              <a:t>0%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6217920" y="25146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</a:rPr>
              <a:t>GAO positives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8001000" y="2468880"/>
            <a:ext cx="251460" cy="329184"/>
          </a:xfrm>
          <a:prstGeom prst="rect">
            <a:avLst/>
          </a:prstGeom>
          <a:solidFill>
            <a:srgbClr val="2A80B9"/>
          </a:solidFill>
          <a:ln w="12700">
            <a:solidFill>
              <a:srgbClr val="2A80B9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52460" y="2468880"/>
            <a:ext cx="251460" cy="329184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01000" y="283464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F33"/>
                </a:solidFill>
              </a:rPr>
              <a:t>50%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8823960" y="2468880"/>
            <a:ext cx="402336" cy="329184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26296" y="2468880"/>
            <a:ext cx="100584" cy="329184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23960" y="283464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F33"/>
                </a:solidFill>
              </a:rPr>
              <a:t>80%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9646920" y="2468880"/>
            <a:ext cx="201168" cy="329184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48088" y="2468880"/>
            <a:ext cx="301752" cy="329184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46920" y="283464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F33"/>
                </a:solidFill>
              </a:rPr>
              <a:t>40%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6217920" y="32644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</a:rPr>
              <a:t>Post-Katrina positives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8001000" y="3218688"/>
            <a:ext cx="335448" cy="329184"/>
          </a:xfrm>
          <a:prstGeom prst="rect">
            <a:avLst/>
          </a:prstGeom>
          <a:solidFill>
            <a:srgbClr val="2A80B9"/>
          </a:solidFill>
          <a:ln w="12700">
            <a:solidFill>
              <a:srgbClr val="2A80B9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36448" y="3218688"/>
            <a:ext cx="167472" cy="329184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01000" y="358444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F33"/>
                </a:solidFill>
              </a:rPr>
              <a:t>67%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8823960" y="3218688"/>
            <a:ext cx="502920" cy="329184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23960" y="358444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F33"/>
                </a:solidFill>
              </a:rPr>
              <a:t>100%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9646920" y="3218688"/>
            <a:ext cx="251460" cy="329184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98380" y="3218688"/>
            <a:ext cx="251460" cy="329184"/>
          </a:xfrm>
          <a:prstGeom prst="rect">
            <a:avLst/>
          </a:prstGeom>
          <a:solidFill>
            <a:srgbClr val="E4ECF4"/>
          </a:solidFill>
          <a:ln w="12700">
            <a:solidFill>
              <a:srgbClr val="E4ECF4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46920" y="358444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F33"/>
                </a:solidFill>
              </a:rPr>
              <a:t>50%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7936992" y="406908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EAF1F7"/>
          </a:solidFill>
          <a:ln w="12700">
            <a:solidFill>
              <a:srgbClr val="EAF1F7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91856" y="412394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A80B9"/>
                </a:solidFill>
              </a:rPr>
              <a:t>Claude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759952" y="406908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EAF1F7"/>
          </a:solidFill>
          <a:ln w="12700">
            <a:solidFill>
              <a:srgbClr val="EAF1F7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814816" y="412394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B9AAA"/>
                </a:solidFill>
              </a:rPr>
              <a:t>Gemini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9582912" y="406908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EAF1F7"/>
          </a:solidFill>
          <a:ln w="12700">
            <a:solidFill>
              <a:srgbClr val="EAF1F7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37776" y="412394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4C956C"/>
                </a:solidFill>
              </a:rPr>
              <a:t>GPT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85800" y="397764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5800" y="3977640"/>
            <a:ext cx="73152" cy="1051560"/>
          </a:xfrm>
          <a:prstGeom prst="rect">
            <a:avLst/>
          </a:prstGeom>
          <a:solidFill>
            <a:srgbClr val="C3423F"/>
          </a:solidFill>
          <a:ln w="12700">
            <a:solidFill>
              <a:srgbClr val="C3423F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" y="410565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Main insight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914400" y="4389120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All three models scored 0% recall on human-positive EPA rows. This is more likely a codebook/label-boundary issue than a model-only failure.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217920" y="46177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17920" y="4617720"/>
            <a:ext cx="73152" cy="6858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46520" y="47457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Context design note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6446520" y="5029200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The local-context field repeated the target paragraph. A target-once rerun is needed before making final claims about context.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502920" y="6144768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38F"/>
                </a:solidFill>
              </a:rPr>
              <a:t>Source: 42-row local-context notebook.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7D7"/>
          </a:solidFill>
          <a:ln w="12700">
            <a:solidFill>
              <a:srgbClr val="37B7D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important insight: label–codebook mismatch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The models and the current codebook are stricter than several human-positive EPA labels.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Unlearning project · model benchmarking and production labeling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44805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00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Broad human-label interpretation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24712" y="2084832"/>
            <a:ext cx="384048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50" dirty="0">
                <a:solidFill>
                  <a:srgbClr val="1E293B"/>
                </a:solidFill>
              </a:rPr>
              <a:t>Coordination improved after failure</a:t>
            </a:r>
            <a:endParaRPr lang="en-US" sz="1250" dirty="0"/>
          </a:p>
          <a:p>
            <a:r>
              <a:rPr lang="en-US" sz="1250" dirty="0">
                <a:solidFill>
                  <a:srgbClr val="1E293B"/>
                </a:solidFill>
              </a:rPr>
              <a:t>Training or user guides were added</a:t>
            </a:r>
            <a:endParaRPr lang="en-US" sz="1250" dirty="0"/>
          </a:p>
          <a:p>
            <a:r>
              <a:rPr lang="en-US" sz="1250" dirty="0">
                <a:solidFill>
                  <a:srgbClr val="1E293B"/>
                </a:solidFill>
              </a:rPr>
              <a:t>New staff, labs, or capacity were provided</a:t>
            </a:r>
            <a:endParaRPr lang="en-US" sz="1250" dirty="0"/>
          </a:p>
          <a:p>
            <a:r>
              <a:rPr lang="en-US" sz="1250" dirty="0">
                <a:solidFill>
                  <a:srgbClr val="1E293B"/>
                </a:solidFill>
              </a:rPr>
              <a:t>Planning meetings or protocols were established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12280" y="1325880"/>
            <a:ext cx="44805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600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Current strict codebook interpretation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14032" y="2084832"/>
            <a:ext cx="384048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50" dirty="0">
                <a:solidFill>
                  <a:srgbClr val="1E293B"/>
                </a:solidFill>
              </a:rPr>
              <a:t>Prior practice is identified</a:t>
            </a:r>
            <a:endParaRPr lang="en-US" sz="1250" dirty="0"/>
          </a:p>
          <a:p>
            <a:r>
              <a:rPr lang="en-US" sz="1250" dirty="0">
                <a:solidFill>
                  <a:srgbClr val="1E293B"/>
                </a:solidFill>
              </a:rPr>
              <a:t>Failure is tied to that prior practice</a:t>
            </a:r>
            <a:endParaRPr lang="en-US" sz="1250" dirty="0"/>
          </a:p>
          <a:p>
            <a:r>
              <a:rPr lang="en-US" sz="1250" dirty="0">
                <a:solidFill>
                  <a:srgbClr val="1E293B"/>
                </a:solidFill>
              </a:rPr>
              <a:t>Text proposes rejection, replacement, or fundamental rethinking</a:t>
            </a:r>
            <a:endParaRPr lang="en-US" sz="1250" dirty="0"/>
          </a:p>
          <a:p>
            <a:r>
              <a:rPr lang="en-US" sz="1250" dirty="0">
                <a:solidFill>
                  <a:srgbClr val="1E293B"/>
                </a:solidFill>
              </a:rPr>
              <a:t>Routine improvement alone is excluded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68112" y="2907792"/>
            <a:ext cx="777240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349240" y="35204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</a:rPr>
              <a:t>Boundary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</a:rPr>
              <a:t>review needed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25880" y="5166360"/>
            <a:ext cx="9418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5880" y="5166360"/>
            <a:ext cx="73152" cy="6858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5294376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Interpretation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554480" y="5577840"/>
            <a:ext cx="9034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Optimizing models before resolving this boundary risks training them to reproduce inconsistent labels rather than the codebook.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144768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38F"/>
                </a:solidFill>
              </a:rPr>
              <a:t>Source: false-negative review, local-context outputs, updated codebook logic.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7D7"/>
          </a:solidFill>
          <a:ln w="12700">
            <a:solidFill>
              <a:srgbClr val="37B7D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pipeline now built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The latest notebook turns the benchmark work into a reusable labeling workflow for new documents.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Unlearning project · model benchmarking and production labeling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D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66420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Input PDFs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9385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A6978"/>
                </a:solidFill>
              </a:rPr>
              <a:t>One or multiple documents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04872" y="1901952"/>
            <a:ext cx="438912" cy="0"/>
          </a:xfrm>
          <a:prstGeom prst="line">
            <a:avLst/>
          </a:prstGeom>
          <a:noFill/>
          <a:ln w="25400">
            <a:solidFill>
              <a:srgbClr val="A9BBD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141732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166420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Extract paragraphs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81528" y="19385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A6978"/>
                </a:solidFill>
              </a:rPr>
              <a:t>Page + coordinates retained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45152" y="1901952"/>
            <a:ext cx="438912" cy="0"/>
          </a:xfrm>
          <a:prstGeom prst="line">
            <a:avLst/>
          </a:prstGeom>
          <a:noFill/>
          <a:ln w="25400">
            <a:solidFill>
              <a:srgbClr val="A9BBD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2080" y="141732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D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1808" y="166420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Label with 3 models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21808" y="19385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A6978"/>
                </a:solidFill>
              </a:rPr>
              <a:t>Best provider-specific strategy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85432" y="1901952"/>
            <a:ext cx="438912" cy="0"/>
          </a:xfrm>
          <a:prstGeom prst="line">
            <a:avLst/>
          </a:prstGeom>
          <a:noFill/>
          <a:ln w="25400">
            <a:solidFill>
              <a:srgbClr val="A9BBD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52360" y="141732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D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2088" y="166420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Measure agreement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62088" y="19385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A6978"/>
                </a:solidFill>
              </a:rPr>
              <a:t>Kappa, alpha, percent agreement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125712" y="1901952"/>
            <a:ext cx="438912" cy="0"/>
          </a:xfrm>
          <a:prstGeom prst="line">
            <a:avLst/>
          </a:prstGeom>
          <a:noFill/>
          <a:ln w="25400">
            <a:solidFill>
              <a:srgbClr val="A9BBD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92640" y="141732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E7F4EC"/>
          </a:solidFill>
          <a:ln w="15240">
            <a:solidFill>
              <a:srgbClr val="4C95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166420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Export outputs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02368" y="19385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A6978"/>
                </a:solidFill>
              </a:rPr>
              <a:t>Excel/CSV + annotated PDFs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68680" y="324612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3246120"/>
            <a:ext cx="73152" cy="914400"/>
          </a:xfrm>
          <a:prstGeom prst="rect">
            <a:avLst/>
          </a:prstGeom>
          <a:solidFill>
            <a:srgbClr val="2A80B9"/>
          </a:solidFill>
          <a:ln w="12700">
            <a:solidFill>
              <a:srgbClr val="2A80B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37413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Model set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97280" y="365760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OpenAI GPT-5.6 Terra · Claude Sonnet 5 · Gemini 3.1 Flash Lite.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80560" y="324612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3246120"/>
            <a:ext cx="73152" cy="9144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37413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Quality controls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709160" y="365760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 same-document examples, exact/near-duplicate checks, resumable provider-specific result files.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92440" y="324612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92440" y="3246120"/>
            <a:ext cx="73152" cy="9144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337413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Research output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321040" y="365760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Majority-vote labels, disagreement review queue, intercoder reliability, and editable PDF annotations.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" y="6144768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38F"/>
                </a:solidFill>
              </a:rPr>
              <a:t>Source: Unlearning_Production_MultiDocument_Annotation_Pipeline.ipynb.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7D7"/>
          </a:solidFill>
          <a:ln w="12700">
            <a:solidFill>
              <a:srgbClr val="37B7D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report the “best model”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Use precise wording so the team does not overclaim from post-hoc cleaned results.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Unlearning project · model benchmarking and production labeling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34440"/>
            <a:ext cx="73152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36245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Best cleaned F1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645920"/>
            <a:ext cx="4828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Gemini 3.1 Flash Lite, direct prompt: 81.2% F1 and 71.7% accuracy on 46 cleaned rows.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423160"/>
            <a:ext cx="73152" cy="9144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5511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Best cleaned accuracy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2834640"/>
            <a:ext cx="4828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GPT-5.6 Terra with examples: 72.5% accuracy and 80.7% F1 on 40 cleaned rows.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611880"/>
            <a:ext cx="73152" cy="9144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73989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Best production strategy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4023360"/>
            <a:ext cx="4828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Run all three providers and use consensus plus disagreement review rather than selecting one model as final coder.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29400" y="1234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Suggested one-sentence summary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29400" y="1691640"/>
            <a:ext cx="4389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057400"/>
            <a:ext cx="38404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“Gemini direct is the strongest single-model result by cleaned F1, GPT-5.6 Terra is strongest by cleaned accuracy among example-based strategies, and the safest next step is a three-model consensus pipeline with adjudication of EPA boundary cases.”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6144768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38F"/>
                </a:solidFill>
              </a:rPr>
              <a:t>All best-model claims should be paired with the duplicate/leakage caveat and the EPA adjudication caveat.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7D7"/>
          </a:solidFill>
          <a:ln w="12700">
            <a:solidFill>
              <a:srgbClr val="37B7D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Move from benchmark iteration to adjudication and production labeling.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Unlearning project · model benchmarking and production labeling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3560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63040" y="1234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Adjudicate EPA boundary cases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56362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978"/>
                </a:solidFill>
              </a:rPr>
              <a:t>Decide whether capacity/coordination improvements count as unlearning under the current codebook.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468880"/>
            <a:ext cx="411480" cy="411480"/>
          </a:xfrm>
          <a:prstGeom prst="ellipse">
            <a:avLst/>
          </a:prstGeom>
          <a:solidFill>
            <a:srgbClr val="2A80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7860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63040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Run a leakage-free benchmark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270662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978"/>
                </a:solidFill>
              </a:rPr>
              <a:t>Curate examples outside the test set and rerun the best strategies.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611880"/>
            <a:ext cx="411480" cy="411480"/>
          </a:xfrm>
          <a:prstGeom prst="ellipse">
            <a:avLst/>
          </a:prstGeom>
          <a:solidFill>
            <a:srgbClr val="2A80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2160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63040" y="3520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Fix local-context input design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84962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978"/>
                </a:solidFill>
              </a:rPr>
              <a:t>Send target once; use adjacent paragraphs only for context.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754880"/>
            <a:ext cx="411480" cy="411480"/>
          </a:xfrm>
          <a:prstGeom prst="ellipse">
            <a:avLst/>
          </a:prstGeom>
          <a:solidFill>
            <a:srgbClr val="2A80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6460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63040" y="4663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Use production pipeline on new PDFs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99262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978"/>
                </a:solidFill>
              </a:rPr>
              <a:t>Export model labels, consensus, reliability, and annotated PDFs for human review.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60920" y="13258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1325880"/>
            <a:ext cx="73152" cy="1051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45389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Decision point for the team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173736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Before optimizing prompts further, align the human labels with the codebook definition of unlearning.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60920" y="30632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3063240"/>
            <a:ext cx="73152" cy="105156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319125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Immediate usable output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347472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The pipeline can already label new PDFs and produce review-ready annotated documents.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144768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38F"/>
                </a:solidFill>
              </a:rPr>
              <a:t>Recommended order: adjudicate labels → rerun clean benchmark → annotate new documents.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7D7"/>
          </a:solidFill>
          <a:ln w="12700">
            <a:solidFill>
              <a:srgbClr val="37B7D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cleaned accuracy and F1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978"/>
                </a:solidFill>
              </a:rPr>
              <a:t>Detailed scores after removing duplicate rows and exact test/example leakage.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Unlearning project · model benchmarking and production labeling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58952" y="1143000"/>
            <a:ext cx="3081528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B1F33"/>
                </a:solidFill>
              </a:rPr>
              <a:t>Model / Strategy</a:t>
            </a:r>
            <a:endParaRPr lang="en-US" sz="890" dirty="0"/>
          </a:p>
        </p:txBody>
      </p:sp>
      <p:sp>
        <p:nvSpPr>
          <p:cNvPr id="8" name="Text 6"/>
          <p:cNvSpPr/>
          <p:nvPr/>
        </p:nvSpPr>
        <p:spPr>
          <a:xfrm>
            <a:off x="3895344" y="1143000"/>
            <a:ext cx="1033272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B1F33"/>
                </a:solidFill>
              </a:rPr>
              <a:t>Clean N</a:t>
            </a:r>
            <a:endParaRPr lang="en-US" sz="890" dirty="0"/>
          </a:p>
        </p:txBody>
      </p:sp>
      <p:sp>
        <p:nvSpPr>
          <p:cNvPr id="9" name="Text 7"/>
          <p:cNvSpPr/>
          <p:nvPr/>
        </p:nvSpPr>
        <p:spPr>
          <a:xfrm>
            <a:off x="4983480" y="1143000"/>
            <a:ext cx="1033272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B1F33"/>
                </a:solidFill>
              </a:rPr>
              <a:t>Accuracy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6071616" y="1143000"/>
            <a:ext cx="1033272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B1F33"/>
                </a:solidFill>
              </a:rPr>
              <a:t>F1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731520" y="1485351"/>
            <a:ext cx="6400800" cy="0"/>
          </a:xfrm>
          <a:prstGeom prst="line">
            <a:avLst/>
          </a:prstGeom>
          <a:noFill/>
          <a:ln w="15240">
            <a:solidFill>
              <a:srgbClr val="AFC1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618488"/>
            <a:ext cx="308152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Claude · Direct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895344" y="1618488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46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983480" y="1618488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37.0%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071616" y="1618488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35.6%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31520" y="1924263"/>
            <a:ext cx="640080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057400"/>
            <a:ext cx="308152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Claude · Definitions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895344" y="2057400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46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983480" y="2057400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60.9%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071616" y="2057400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70.0%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31520" y="2363175"/>
            <a:ext cx="640080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2496312"/>
            <a:ext cx="308152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Claude · Examples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895344" y="2496312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40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983480" y="2496312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70.0%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6071616" y="2496312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80.6%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31520" y="2802087"/>
            <a:ext cx="640080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2935224"/>
            <a:ext cx="308152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Gemini · Direct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3895344" y="2935224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46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983480" y="2935224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71.7%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071616" y="2935224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81.2%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31520" y="3240999"/>
            <a:ext cx="640080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374136"/>
            <a:ext cx="308152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Gemini · Definitions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3895344" y="3374136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46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983480" y="3374136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65.2%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071616" y="3374136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75.8%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731520" y="3679911"/>
            <a:ext cx="640080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3813048"/>
            <a:ext cx="308152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Gemini · Examples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3895344" y="3813048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40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983480" y="3813048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62.5%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071616" y="3813048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75.4%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731520" y="4118823"/>
            <a:ext cx="640080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" y="4251960"/>
            <a:ext cx="308152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GPT · Direct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3895344" y="4251960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46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4983480" y="4251960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63.0%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6071616" y="4251960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71.2%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731520" y="4557735"/>
            <a:ext cx="640080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" y="4690872"/>
            <a:ext cx="308152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GPT · Definitions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3895344" y="4690872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46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4983480" y="4690872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56.5%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6071616" y="4690872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61.5%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731520" y="4996647"/>
            <a:ext cx="640080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" y="5129784"/>
            <a:ext cx="308152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GPT · Examples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3895344" y="5129784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40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4983480" y="5129784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72.5%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6071616" y="5129784"/>
            <a:ext cx="1033272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80.7%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731520" y="5435559"/>
            <a:ext cx="6400800" cy="0"/>
          </a:xfrm>
          <a:prstGeom prst="line">
            <a:avLst/>
          </a:prstGeom>
          <a:noFill/>
          <a:ln w="7620">
            <a:solidFill>
              <a:srgbClr val="DDE8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98080" y="123444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98080" y="1234440"/>
            <a:ext cx="73152" cy="1143000"/>
          </a:xfrm>
          <a:prstGeom prst="rect">
            <a:avLst/>
          </a:prstGeom>
          <a:solidFill>
            <a:srgbClr val="2A80B9"/>
          </a:solidFill>
          <a:ln w="12700">
            <a:solidFill>
              <a:srgbClr val="2A80B9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26680" y="136245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Reading the table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726680" y="164592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Direct and definitions prompts use 46 cleaned rows. Example prompts use 40 cleaned rows because leaked example/test overlaps were also removed.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498080" y="288036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DE8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98080" y="2880360"/>
            <a:ext cx="73152" cy="11430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26680" y="300837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Caution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7726680" y="329184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Because example prompts saw leaked examples during generation, these cleaned few-shot scores are diagnostic—not final benchmark claims.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02920" y="6144768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7838F"/>
                </a:solidFill>
              </a:rPr>
              <a:t>Source: Unlearning_PostHoc_Cleaned_Metrics.xlsx.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Unlearning Project: Model Benchmark Results and Production Pipeline</dc:title>
  <dc:subject>Unlearning project results and model strategy</dc:subject>
  <dc:creator>OpenAI</dc:creator>
  <cp:lastModifiedBy>OpenAI</cp:lastModifiedBy>
  <cp:revision>1</cp:revision>
  <dcterms:created xsi:type="dcterms:W3CDTF">2026-07-17T13:07:14Z</dcterms:created>
  <dcterms:modified xsi:type="dcterms:W3CDTF">2026-07-17T13:07:14Z</dcterms:modified>
</cp:coreProperties>
</file>
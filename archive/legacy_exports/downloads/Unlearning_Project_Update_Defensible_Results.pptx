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27648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4652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B7280"/>
                </a:solidFill>
              </a:rPr>
              <a:t>Unlearning project · model benchmarking and production annotation workflow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4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4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960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Unlearning Project Update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</a:rPr>
              <a:t>Model validation, production document labeling, and insights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6492240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487168"/>
            <a:ext cx="77724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This work now supports a complete coding workflow: model comparison, rationale-based labels, inter-coder reliability, consensus coding, and editable PDF annotations for new documents.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32520" y="105156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75B5"/>
                </a:solidFill>
              </a:rPr>
              <a:t>42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732520" y="1508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validation passages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8732520" y="173736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777777"/>
                </a:solidFill>
              </a:rPr>
              <a:t>mixed Yes/No set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8732520" y="205740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48235"/>
                </a:solidFill>
              </a:rPr>
              <a:t>91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8732520" y="2514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unique new-document paragraphs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8732520" y="274320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777777"/>
                </a:solidFill>
              </a:rPr>
              <a:t>production pilot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8732520" y="30632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030A0"/>
                </a:solidFill>
              </a:rPr>
              <a:t>κ 0.49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732520" y="3520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inter-model reliability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8732520" y="37490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777777"/>
                </a:solidFill>
              </a:rPr>
              <a:t>binary unlearning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713232" y="60533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July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4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has been achieved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859536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</a:rPr>
              <a:t>The project moved from prompt testing to an end-to-end coding workflow that can be applied to new documents.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1060704" y="1609344"/>
            <a:ext cx="2164842" cy="0"/>
          </a:xfrm>
          <a:prstGeom prst="line">
            <a:avLst/>
          </a:prstGeom>
          <a:noFill/>
          <a:ln w="1778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49224" y="1444752"/>
            <a:ext cx="347472" cy="347472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938528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365D"/>
                </a:solidFill>
              </a:rPr>
              <a:t>Codebook-aligned prompts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73152" y="217627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67085"/>
                </a:solidFill>
              </a:rPr>
              <a:t>Binary unlearning + target categories + rationale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3701034" y="1609344"/>
            <a:ext cx="2164842" cy="0"/>
          </a:xfrm>
          <a:prstGeom prst="line">
            <a:avLst/>
          </a:prstGeom>
          <a:noFill/>
          <a:ln w="1778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89554" y="1444752"/>
            <a:ext cx="347472" cy="347472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04922" y="1938528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365D"/>
                </a:solidFill>
              </a:rPr>
              <a:t>Provider comparison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2713482" y="217627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67085"/>
                </a:solidFill>
              </a:rPr>
              <a:t>OpenAI, Anthropic, Google evaluated side by side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6341364" y="1609344"/>
            <a:ext cx="2164842" cy="0"/>
          </a:xfrm>
          <a:prstGeom prst="line">
            <a:avLst/>
          </a:prstGeom>
          <a:noFill/>
          <a:ln w="1778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29884" y="1444752"/>
            <a:ext cx="347472" cy="34747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5252" y="1938528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365D"/>
                </a:solidFill>
              </a:rPr>
              <a:t>Defensible benchmark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5353812" y="217627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67085"/>
                </a:solidFill>
              </a:rPr>
              <a:t>Consistent 42-row validation set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8981694" y="1609344"/>
            <a:ext cx="2164842" cy="0"/>
          </a:xfrm>
          <a:prstGeom prst="line">
            <a:avLst/>
          </a:prstGeom>
          <a:noFill/>
          <a:ln w="1778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570214" y="1444752"/>
            <a:ext cx="347472" cy="34747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85582" y="1938528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365D"/>
                </a:solidFill>
              </a:rPr>
              <a:t>Production notebook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7994142" y="217627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67085"/>
                </a:solidFill>
              </a:rPr>
              <a:t>New PDFs → paragraph labels → consensus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11210544" y="1444752"/>
            <a:ext cx="347472" cy="34747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25912" y="1938528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365D"/>
                </a:solidFill>
              </a:rPr>
              <a:t>Annotated output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10634472" y="217627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67085"/>
                </a:solidFill>
              </a:rPr>
              <a:t>Editable highlights and popup comments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777240" y="3127248"/>
            <a:ext cx="3429000" cy="1078992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3127248"/>
            <a:ext cx="54864" cy="107899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3246120"/>
            <a:ext cx="3154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365D"/>
                </a:solidFill>
              </a:rPr>
              <a:t>Benchmarking completed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932688" y="3520440"/>
            <a:ext cx="3136392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The models were evaluated on the same 42 local-context passages with the current operational codebook and the same evidence-oriented output structure.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34840" y="3127248"/>
            <a:ext cx="3429000" cy="1078992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34840" y="3127248"/>
            <a:ext cx="54864" cy="1078992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0288" y="3246120"/>
            <a:ext cx="3154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365D"/>
                </a:solidFill>
              </a:rPr>
              <a:t>Inter-model review added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4590288" y="3520440"/>
            <a:ext cx="3136392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The production notebook treats each provider as a model coder and calculates agreement, Cohen’s kappa, Fleiss’ kappa, and Krippendorff’s alpha.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92440" y="3127248"/>
            <a:ext cx="3429000" cy="1078992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92440" y="3127248"/>
            <a:ext cx="54864" cy="1078992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47888" y="3246120"/>
            <a:ext cx="3154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365D"/>
                </a:solidFill>
              </a:rPr>
              <a:t>Document annotation working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8247888" y="3520440"/>
            <a:ext cx="3136392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The new notebook labels paragraph-level evidence, creates a review workbook, and adds PDF highlights with model rationales for review.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03504" y="6126480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777777"/>
                </a:solidFill>
              </a:rPr>
              <a:t>Inputs summarized: local-context validation notebook and production multi-document annotation notebook.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4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result: Gemini is the strongest single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859536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</a:rPr>
              <a:t>On the defended 42-row validation set, Gemini had the highest accuracy and Yes-class F1.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1344168" y="3794760"/>
            <a:ext cx="4700016" cy="0"/>
          </a:xfrm>
          <a:prstGeom prst="line">
            <a:avLst/>
          </a:prstGeom>
          <a:noFill/>
          <a:ln w="8890">
            <a:solidFill>
              <a:srgbClr val="E6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73075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667085"/>
                </a:solidFill>
              </a:rPr>
              <a:t>0%</a:t>
            </a:r>
            <a:endParaRPr lang="en-US" sz="660" dirty="0"/>
          </a:p>
        </p:txBody>
      </p:sp>
      <p:sp>
        <p:nvSpPr>
          <p:cNvPr id="7" name="Shape 5"/>
          <p:cNvSpPr/>
          <p:nvPr/>
        </p:nvSpPr>
        <p:spPr>
          <a:xfrm>
            <a:off x="1344168" y="2798064"/>
            <a:ext cx="4700016" cy="0"/>
          </a:xfrm>
          <a:prstGeom prst="line">
            <a:avLst/>
          </a:prstGeom>
          <a:noFill/>
          <a:ln w="8890">
            <a:solidFill>
              <a:srgbClr val="E6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73405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667085"/>
                </a:solidFill>
              </a:rPr>
              <a:t>50%</a:t>
            </a:r>
            <a:endParaRPr lang="en-US" sz="660" dirty="0"/>
          </a:p>
        </p:txBody>
      </p:sp>
      <p:sp>
        <p:nvSpPr>
          <p:cNvPr id="9" name="Shape 7"/>
          <p:cNvSpPr/>
          <p:nvPr/>
        </p:nvSpPr>
        <p:spPr>
          <a:xfrm>
            <a:off x="1344168" y="1801368"/>
            <a:ext cx="4700016" cy="0"/>
          </a:xfrm>
          <a:prstGeom prst="line">
            <a:avLst/>
          </a:prstGeom>
          <a:noFill/>
          <a:ln w="8890">
            <a:solidFill>
              <a:srgbClr val="E6EA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73736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667085"/>
                </a:solidFill>
              </a:rPr>
              <a:t>100%</a:t>
            </a:r>
            <a:endParaRPr lang="en-US" sz="660" dirty="0"/>
          </a:p>
        </p:txBody>
      </p:sp>
      <p:sp>
        <p:nvSpPr>
          <p:cNvPr id="11" name="Shape 9"/>
          <p:cNvSpPr/>
          <p:nvPr/>
        </p:nvSpPr>
        <p:spPr>
          <a:xfrm>
            <a:off x="1344168" y="3794760"/>
            <a:ext cx="4700016" cy="0"/>
          </a:xfrm>
          <a:prstGeom prst="line">
            <a:avLst/>
          </a:prstGeom>
          <a:noFill/>
          <a:ln w="10160">
            <a:solidFill>
              <a:srgbClr val="A6A6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72664" y="2893747"/>
            <a:ext cx="353765" cy="901013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36088" y="2729155"/>
            <a:ext cx="454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45.2%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2178042" y="2919661"/>
            <a:ext cx="353765" cy="875099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1466" y="2755069"/>
            <a:ext cx="454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43.9%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380744" y="3867912"/>
            <a:ext cx="149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</a:rPr>
              <a:t>Claude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3239336" y="2702381"/>
            <a:ext cx="353765" cy="1092379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2760" y="2537789"/>
            <a:ext cx="454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54.8%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3744714" y="2606698"/>
            <a:ext cx="353765" cy="1188062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8138" y="2442106"/>
            <a:ext cx="454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59.6%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2947416" y="3867912"/>
            <a:ext cx="149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</a:rPr>
              <a:t>Gemini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4806008" y="2987436"/>
            <a:ext cx="353765" cy="807324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69432" y="2822844"/>
            <a:ext cx="454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40.5%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5311386" y="3079132"/>
            <a:ext cx="353765" cy="715628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74810" y="2914540"/>
            <a:ext cx="454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35.9%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514088" y="3867912"/>
            <a:ext cx="149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</a:rPr>
              <a:t>OpenAI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1472184" y="1472184"/>
            <a:ext cx="128016" cy="128016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36776" y="144932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2937"/>
                </a:solidFill>
              </a:rPr>
              <a:t>Accuracy</a:t>
            </a:r>
            <a:endParaRPr lang="en-US" sz="710" dirty="0"/>
          </a:p>
        </p:txBody>
      </p:sp>
      <p:sp>
        <p:nvSpPr>
          <p:cNvPr id="29" name="Shape 27"/>
          <p:cNvSpPr/>
          <p:nvPr/>
        </p:nvSpPr>
        <p:spPr>
          <a:xfrm>
            <a:off x="2752344" y="1472184"/>
            <a:ext cx="128016" cy="128016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16936" y="144932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2937"/>
                </a:solidFill>
              </a:rPr>
              <a:t>Yes-F1</a:t>
            </a:r>
            <a:endParaRPr lang="en-US" sz="710" dirty="0"/>
          </a:p>
        </p:txBody>
      </p:sp>
      <p:sp>
        <p:nvSpPr>
          <p:cNvPr id="31" name="Shape 29"/>
          <p:cNvSpPr/>
          <p:nvPr/>
        </p:nvSpPr>
        <p:spPr>
          <a:xfrm>
            <a:off x="6583680" y="1325880"/>
            <a:ext cx="4617720" cy="960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0" y="1325880"/>
            <a:ext cx="54864" cy="96012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39128" y="144475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365D"/>
                </a:solidFill>
              </a:rPr>
              <a:t>Best single model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6739128" y="1719072"/>
            <a:ext cx="4325112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Gemini 3.1 Flash Lite produced the strongest balance on the validation set: 54.8% accuracy and 59.6% Yes-class F1.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583680" y="2487168"/>
            <a:ext cx="4617720" cy="960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0" y="2487168"/>
            <a:ext cx="54864" cy="96012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39128" y="2606040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365D"/>
                </a:solidFill>
              </a:rPr>
              <a:t>Conservative alternatives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6739128" y="2880360"/>
            <a:ext cx="4325112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Claude and OpenAI produced no false positives in this run, which makes them useful as precision-oriented coders within an ensemble.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583680" y="3657600"/>
            <a:ext cx="4617720" cy="960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83680" y="3657600"/>
            <a:ext cx="54864" cy="9601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39128" y="377647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365D"/>
                </a:solidFill>
              </a:rPr>
              <a:t>Practical decision</a:t>
            </a:r>
            <a:endParaRPr lang="en-US" sz="1120" dirty="0"/>
          </a:p>
        </p:txBody>
      </p:sp>
      <p:sp>
        <p:nvSpPr>
          <p:cNvPr id="42" name="Text 40"/>
          <p:cNvSpPr/>
          <p:nvPr/>
        </p:nvSpPr>
        <p:spPr>
          <a:xfrm>
            <a:off x="6739128" y="4050792"/>
            <a:ext cx="4325112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For production, use the three-provider ensemble rather than only one model. Gemini contributes recall; OpenAI and Claude provide conservative checks.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03504" y="6126480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777777"/>
                </a:solidFill>
              </a:rPr>
              <a:t>Validation set: 42 local-context passages. F1 is the Yes-class F1 for binary unlearning.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4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Confusion matrices explain the tradeoff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859536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</a:rPr>
              <a:t>The three models differ less by headline score and more by how cautiously they assign Unlearning = Yes.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365D"/>
                </a:solidFill>
              </a:rPr>
              <a:t>Claude Sonnet 5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Accuracy 45.2% · F1 43.9%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106424" y="2048256"/>
            <a:ext cx="1348740" cy="923544"/>
          </a:xfrm>
          <a:prstGeom prst="rect">
            <a:avLst/>
          </a:prstGeom>
          <a:solidFill>
            <a:srgbClr val="E2F0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112264"/>
            <a:ext cx="1307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48235"/>
                </a:solidFill>
              </a:rPr>
              <a:t>TN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43000" y="2304288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10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487168" y="2048256"/>
            <a:ext cx="1348740" cy="923544"/>
          </a:xfrm>
          <a:prstGeom prst="rect">
            <a:avLst/>
          </a:prstGeom>
          <a:solidFill>
            <a:srgbClr val="F4CC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23744" y="2112264"/>
            <a:ext cx="1307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61C00"/>
                </a:solidFill>
              </a:rPr>
              <a:t>FP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523744" y="2304288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0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106424" y="3003804"/>
            <a:ext cx="1348740" cy="923544"/>
          </a:xfrm>
          <a:prstGeom prst="rect">
            <a:avLst/>
          </a:prstGeom>
          <a:solidFill>
            <a:srgbClr val="FFF2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067812"/>
            <a:ext cx="1307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55A11"/>
                </a:solidFill>
              </a:rPr>
              <a:t>FN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143000" y="3259836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23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487168" y="3003804"/>
            <a:ext cx="1348740" cy="923544"/>
          </a:xfrm>
          <a:prstGeom prst="rect">
            <a:avLst/>
          </a:prstGeom>
          <a:solidFill>
            <a:srgbClr val="DDEB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23744" y="3067812"/>
            <a:ext cx="1307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030A0"/>
                </a:solidFill>
              </a:rPr>
              <a:t>TP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523744" y="3259836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9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06424" y="1847088"/>
            <a:ext cx="13487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67085"/>
                </a:solidFill>
              </a:rPr>
              <a:t>Pred No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487168" y="1847088"/>
            <a:ext cx="13487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67085"/>
                </a:solidFill>
              </a:rPr>
              <a:t>Pred Yes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 rot="16200000">
            <a:off x="612648" y="2185416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7085"/>
                </a:solidFill>
              </a:rPr>
              <a:t>Actual No</a:t>
            </a:r>
            <a:endParaRPr lang="en-US" sz="620" dirty="0"/>
          </a:p>
        </p:txBody>
      </p:sp>
      <p:sp>
        <p:nvSpPr>
          <p:cNvPr id="22" name="Text 20"/>
          <p:cNvSpPr/>
          <p:nvPr/>
        </p:nvSpPr>
        <p:spPr>
          <a:xfrm rot="16200000">
            <a:off x="612648" y="3131820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7085"/>
                </a:solidFill>
              </a:rPr>
              <a:t>Actual Yes</a:t>
            </a:r>
            <a:endParaRPr lang="en-US" sz="620" dirty="0"/>
          </a:p>
        </p:txBody>
      </p:sp>
      <p:sp>
        <p:nvSpPr>
          <p:cNvPr id="23" name="Text 21"/>
          <p:cNvSpPr/>
          <p:nvPr/>
        </p:nvSpPr>
        <p:spPr>
          <a:xfrm>
            <a:off x="4407408" y="13716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365D"/>
                </a:solidFill>
              </a:rPr>
              <a:t>Gemini 3.1 Flash Lite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4407408" y="161848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Accuracy 54.8% · F1 59.6%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919472" y="2048256"/>
            <a:ext cx="1348740" cy="923544"/>
          </a:xfrm>
          <a:prstGeom prst="rect">
            <a:avLst/>
          </a:prstGeom>
          <a:solidFill>
            <a:srgbClr val="E2F0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2112264"/>
            <a:ext cx="1307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48235"/>
                </a:solidFill>
              </a:rPr>
              <a:t>TN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956048" y="2304288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9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300216" y="2048256"/>
            <a:ext cx="1348740" cy="923544"/>
          </a:xfrm>
          <a:prstGeom prst="rect">
            <a:avLst/>
          </a:prstGeom>
          <a:solidFill>
            <a:srgbClr val="F4CC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2112264"/>
            <a:ext cx="1307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61C00"/>
                </a:solidFill>
              </a:rPr>
              <a:t>FP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336792" y="2304288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1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4919472" y="3003804"/>
            <a:ext cx="1348740" cy="923544"/>
          </a:xfrm>
          <a:prstGeom prst="rect">
            <a:avLst/>
          </a:prstGeom>
          <a:solidFill>
            <a:srgbClr val="FFF2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3067812"/>
            <a:ext cx="1307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55A11"/>
                </a:solidFill>
              </a:rPr>
              <a:t>FN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956048" y="3259836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18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300216" y="3003804"/>
            <a:ext cx="1348740" cy="923544"/>
          </a:xfrm>
          <a:prstGeom prst="rect">
            <a:avLst/>
          </a:prstGeom>
          <a:solidFill>
            <a:srgbClr val="DDEB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36792" y="3067812"/>
            <a:ext cx="1307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48235"/>
                </a:solidFill>
              </a:rPr>
              <a:t>TP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336792" y="3259836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14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4919472" y="1847088"/>
            <a:ext cx="13487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67085"/>
                </a:solidFill>
              </a:rPr>
              <a:t>Pred No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6300216" y="1847088"/>
            <a:ext cx="13487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67085"/>
                </a:solidFill>
              </a:rPr>
              <a:t>Pred Yes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 rot="16200000">
            <a:off x="4425696" y="2185416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7085"/>
                </a:solidFill>
              </a:rPr>
              <a:t>Actual No</a:t>
            </a:r>
            <a:endParaRPr lang="en-US" sz="620" dirty="0"/>
          </a:p>
        </p:txBody>
      </p:sp>
      <p:sp>
        <p:nvSpPr>
          <p:cNvPr id="40" name="Text 38"/>
          <p:cNvSpPr/>
          <p:nvPr/>
        </p:nvSpPr>
        <p:spPr>
          <a:xfrm rot="16200000">
            <a:off x="4425696" y="3131820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7085"/>
                </a:solidFill>
              </a:rPr>
              <a:t>Actual Yes</a:t>
            </a:r>
            <a:endParaRPr lang="en-US" sz="620" dirty="0"/>
          </a:p>
        </p:txBody>
      </p:sp>
      <p:sp>
        <p:nvSpPr>
          <p:cNvPr id="41" name="Text 39"/>
          <p:cNvSpPr/>
          <p:nvPr/>
        </p:nvSpPr>
        <p:spPr>
          <a:xfrm>
            <a:off x="8229600" y="13716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365D"/>
                </a:solidFill>
              </a:rPr>
              <a:t>GPT-5.6 Terra</a:t>
            </a:r>
            <a:endParaRPr lang="en-US" sz="1120" dirty="0"/>
          </a:p>
        </p:txBody>
      </p:sp>
      <p:sp>
        <p:nvSpPr>
          <p:cNvPr id="42" name="Text 40"/>
          <p:cNvSpPr/>
          <p:nvPr/>
        </p:nvSpPr>
        <p:spPr>
          <a:xfrm>
            <a:off x="8229600" y="161848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Accuracy 40.5% · F1 35.9%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741664" y="2048256"/>
            <a:ext cx="1348740" cy="923544"/>
          </a:xfrm>
          <a:prstGeom prst="rect">
            <a:avLst/>
          </a:prstGeom>
          <a:solidFill>
            <a:srgbClr val="E2F0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78240" y="2112264"/>
            <a:ext cx="1307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48235"/>
                </a:solidFill>
              </a:rPr>
              <a:t>TN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8778240" y="2304288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10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10122408" y="2048256"/>
            <a:ext cx="1348740" cy="923544"/>
          </a:xfrm>
          <a:prstGeom prst="rect">
            <a:avLst/>
          </a:prstGeom>
          <a:solidFill>
            <a:srgbClr val="F4CC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158984" y="2112264"/>
            <a:ext cx="1307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61C00"/>
                </a:solidFill>
              </a:rPr>
              <a:t>FP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0158984" y="2304288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0</a:t>
            </a:r>
            <a:endParaRPr lang="en-US" sz="1700" dirty="0"/>
          </a:p>
        </p:txBody>
      </p:sp>
      <p:sp>
        <p:nvSpPr>
          <p:cNvPr id="49" name="Shape 47"/>
          <p:cNvSpPr/>
          <p:nvPr/>
        </p:nvSpPr>
        <p:spPr>
          <a:xfrm>
            <a:off x="8741664" y="3003804"/>
            <a:ext cx="1348740" cy="923544"/>
          </a:xfrm>
          <a:prstGeom prst="rect">
            <a:avLst/>
          </a:prstGeom>
          <a:solidFill>
            <a:srgbClr val="FFF2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778240" y="3067812"/>
            <a:ext cx="1307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55A11"/>
                </a:solidFill>
              </a:rPr>
              <a:t>FN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778240" y="3259836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25</a:t>
            </a:r>
            <a:endParaRPr lang="en-US" sz="1700" dirty="0"/>
          </a:p>
        </p:txBody>
      </p:sp>
      <p:sp>
        <p:nvSpPr>
          <p:cNvPr id="52" name="Shape 50"/>
          <p:cNvSpPr/>
          <p:nvPr/>
        </p:nvSpPr>
        <p:spPr>
          <a:xfrm>
            <a:off x="10122408" y="3003804"/>
            <a:ext cx="1348740" cy="923544"/>
          </a:xfrm>
          <a:prstGeom prst="rect">
            <a:avLst/>
          </a:prstGeom>
          <a:solidFill>
            <a:srgbClr val="DDEB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158984" y="3067812"/>
            <a:ext cx="1307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F75B5"/>
                </a:solidFill>
              </a:rPr>
              <a:t>TP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0158984" y="3259836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7</a:t>
            </a:r>
            <a:endParaRPr lang="en-US" sz="1700" dirty="0"/>
          </a:p>
        </p:txBody>
      </p:sp>
      <p:sp>
        <p:nvSpPr>
          <p:cNvPr id="55" name="Text 53"/>
          <p:cNvSpPr/>
          <p:nvPr/>
        </p:nvSpPr>
        <p:spPr>
          <a:xfrm>
            <a:off x="8741664" y="1847088"/>
            <a:ext cx="13487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67085"/>
                </a:solidFill>
              </a:rPr>
              <a:t>Pred No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10122408" y="1847088"/>
            <a:ext cx="13487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67085"/>
                </a:solidFill>
              </a:rPr>
              <a:t>Pred Yes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 rot="16200000">
            <a:off x="8247888" y="2185416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7085"/>
                </a:solidFill>
              </a:rPr>
              <a:t>Actual No</a:t>
            </a:r>
            <a:endParaRPr lang="en-US" sz="620" dirty="0"/>
          </a:p>
        </p:txBody>
      </p:sp>
      <p:sp>
        <p:nvSpPr>
          <p:cNvPr id="58" name="Text 56"/>
          <p:cNvSpPr/>
          <p:nvPr/>
        </p:nvSpPr>
        <p:spPr>
          <a:xfrm rot="16200000">
            <a:off x="8247888" y="3131820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7085"/>
                </a:solidFill>
              </a:rPr>
              <a:t>Actual Yes</a:t>
            </a:r>
            <a:endParaRPr lang="en-US" sz="620" dirty="0"/>
          </a:p>
        </p:txBody>
      </p:sp>
      <p:sp>
        <p:nvSpPr>
          <p:cNvPr id="59" name="Shape 57"/>
          <p:cNvSpPr/>
          <p:nvPr/>
        </p:nvSpPr>
        <p:spPr>
          <a:xfrm>
            <a:off x="868680" y="4663440"/>
            <a:ext cx="10378440" cy="6858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68680" y="4663440"/>
            <a:ext cx="54864" cy="68580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24128" y="4782312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365D"/>
                </a:solidFill>
              </a:rPr>
              <a:t>Insight</a:t>
            </a:r>
            <a:endParaRPr lang="en-US" sz="1120" dirty="0"/>
          </a:p>
        </p:txBody>
      </p:sp>
      <p:sp>
        <p:nvSpPr>
          <p:cNvPr id="62" name="Text 60"/>
          <p:cNvSpPr/>
          <p:nvPr/>
        </p:nvSpPr>
        <p:spPr>
          <a:xfrm>
            <a:off x="1024128" y="5056632"/>
            <a:ext cx="10085832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Gemini identifies the most human-positive passages while adding only one false positive. Claude and OpenAI are stricter, which is valuable for flagging high-confidence positives but misses more Yes cases.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03504" y="6126480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777777"/>
                </a:solidFill>
              </a:rPr>
              <a:t>Confusion matrices: Actual label on rows; model prediction on columns.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4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notebook: new document labeled end-to-end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859536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</a:rPr>
              <a:t>The workflow successfully processed a new PDF and generated model-coded paragraph annotations.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75B5"/>
                </a:solidFill>
              </a:rPr>
              <a:t>1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PDF processed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2788920" y="1234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48235"/>
                </a:solidFill>
              </a:rPr>
              <a:t>96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2788920" y="1691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paragraph occurrences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4800600" y="1234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030A0"/>
                </a:solidFill>
              </a:rPr>
              <a:t>91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800600" y="1691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unique paragraph texts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6812280" y="1234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55A11"/>
                </a:solidFill>
              </a:rPr>
              <a:t>273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812280" y="1691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provider decisions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6812280" y="192024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777777"/>
                </a:solidFill>
              </a:rPr>
              <a:t>91 × 3 models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8823960" y="1234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61C00"/>
                </a:solidFill>
              </a:rPr>
              <a:t>18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8823960" y="1691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PDF annotations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8823960" y="192024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777777"/>
                </a:solidFill>
              </a:rPr>
              <a:t>verified on reopen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1106424" y="3136392"/>
            <a:ext cx="2141982" cy="0"/>
          </a:xfrm>
          <a:prstGeom prst="line">
            <a:avLst/>
          </a:prstGeom>
          <a:noFill/>
          <a:ln w="1778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94944" y="2971800"/>
            <a:ext cx="347472" cy="347472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" y="3465576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365D"/>
                </a:solidFill>
              </a:rPr>
              <a:t>Extract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118872" y="3703320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67085"/>
                </a:solidFill>
              </a:rPr>
              <a:t>PDF blocks and coordinates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3723894" y="3136392"/>
            <a:ext cx="2141982" cy="0"/>
          </a:xfrm>
          <a:prstGeom prst="line">
            <a:avLst/>
          </a:prstGeom>
          <a:noFill/>
          <a:ln w="1778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312414" y="2971800"/>
            <a:ext cx="347472" cy="347472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27782" y="3465576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365D"/>
                </a:solidFill>
              </a:rPr>
              <a:t>Deduplicate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2736342" y="3703320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67085"/>
                </a:solidFill>
              </a:rPr>
              <a:t>Cache repeated text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6341364" y="3136392"/>
            <a:ext cx="2141982" cy="0"/>
          </a:xfrm>
          <a:prstGeom prst="line">
            <a:avLst/>
          </a:prstGeom>
          <a:noFill/>
          <a:ln w="1778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929884" y="2971800"/>
            <a:ext cx="347472" cy="34747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5252" y="3465576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365D"/>
                </a:solidFill>
              </a:rPr>
              <a:t>Label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5353812" y="3703320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67085"/>
                </a:solidFill>
              </a:rPr>
              <a:t>OpenAI + Claude + Gemini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8958834" y="3136392"/>
            <a:ext cx="2141982" cy="0"/>
          </a:xfrm>
          <a:prstGeom prst="line">
            <a:avLst/>
          </a:prstGeom>
          <a:noFill/>
          <a:ln w="1778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547354" y="2971800"/>
            <a:ext cx="347472" cy="34747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62722" y="3465576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365D"/>
                </a:solidFill>
              </a:rPr>
              <a:t>Consensus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7971282" y="3703320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67085"/>
                </a:solidFill>
              </a:rPr>
              <a:t>Majority vote + review priority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11164824" y="2971800"/>
            <a:ext cx="347472" cy="34747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80192" y="3465576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365D"/>
                </a:solidFill>
              </a:rPr>
              <a:t>Annotate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10588752" y="3703320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67085"/>
                </a:solidFill>
              </a:rPr>
              <a:t>Highlights and popup comments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603504" y="6126480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777777"/>
                </a:solidFill>
              </a:rPr>
              <a:t>Production pilot document: “What if Hurricane Katrina Hit in 2020? The Need for Strategic Management of Disasters.”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4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consensus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859536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</a:rPr>
              <a:t>Most paragraphs were unanimous negatives; the pipeline surfaced a focused review queue.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868680" y="145389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F2937"/>
                </a:solidFill>
              </a:rPr>
              <a:t>Unanimous No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2651760" y="1463040"/>
            <a:ext cx="3246120" cy="219456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1760" y="1463040"/>
            <a:ext cx="3164967" cy="219456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0" y="14356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365D"/>
                </a:solidFill>
              </a:rPr>
              <a:t>78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868680" y="202082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One-model Yes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2651760" y="2029968"/>
            <a:ext cx="3246120" cy="219456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2029968"/>
            <a:ext cx="365189" cy="219456"/>
          </a:xfrm>
          <a:prstGeom prst="rect">
            <a:avLst/>
          </a:prstGeom>
          <a:solidFill>
            <a:srgbClr val="A61C00"/>
          </a:solidFill>
          <a:ln w="12700">
            <a:solidFill>
              <a:srgbClr val="A61C0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200253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365D"/>
                </a:solidFill>
              </a:rPr>
              <a:t>9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868680" y="25877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Majority Yes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651760" y="2596896"/>
            <a:ext cx="3246120" cy="219456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2596896"/>
            <a:ext cx="202883" cy="219456"/>
          </a:xfrm>
          <a:prstGeom prst="rect">
            <a:avLst/>
          </a:prstGeom>
          <a:solidFill>
            <a:srgbClr val="BF9000"/>
          </a:solidFill>
          <a:ln w="12700">
            <a:solidFill>
              <a:srgbClr val="BF900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2569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365D"/>
                </a:solidFill>
              </a:rPr>
              <a:t>5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868680" y="315468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Unanimous Yes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651760" y="3163824"/>
            <a:ext cx="3246120" cy="219456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51760" y="3163824"/>
            <a:ext cx="162306" cy="219456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313639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365D"/>
                </a:solidFill>
              </a:rPr>
              <a:t>4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812280" y="1371600"/>
            <a:ext cx="4389120" cy="1024128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1371600"/>
            <a:ext cx="54864" cy="1024128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67728" y="1490472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365D"/>
                </a:solidFill>
              </a:rPr>
              <a:t>Review queue created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6967728" y="1764792"/>
            <a:ext cx="409651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The notebook highlighted 18 passages: 9 consensus-positive passages plus 9 one-model-positive passages requiring review.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12280" y="2651760"/>
            <a:ext cx="4389120" cy="1024128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2651760"/>
            <a:ext cx="54864" cy="1024128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67728" y="2770632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365D"/>
                </a:solidFill>
              </a:rPr>
              <a:t>Annotation verification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6967728" y="3044952"/>
            <a:ext cx="409651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The annotated PDF reopened successfully and contained all 18 reported annotations, confirming the document output is usable for review.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12280" y="3931920"/>
            <a:ext cx="4389120" cy="1024128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12280" y="3931920"/>
            <a:ext cx="54864" cy="1024128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4050792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365D"/>
                </a:solidFill>
              </a:rPr>
              <a:t>Interpretation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6967728" y="4325112"/>
            <a:ext cx="409651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The model ensemble is acting as a triage tool: it narrows a 96-paragraph document to a small set of passages worth human adjudication.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03504" y="6126480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777777"/>
                </a:solidFill>
              </a:rPr>
              <a:t>Consensus buckets shown on paragraph occurrences from the production pilot run.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4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Inter-coder reliability: model coders agree strongly on the binary task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859536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</a:rPr>
              <a:t>Agreement is high, while kappa values show the task still has meaningful boundary cases.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1298448" y="3931920"/>
            <a:ext cx="5020056" cy="0"/>
          </a:xfrm>
          <a:prstGeom prst="line">
            <a:avLst/>
          </a:prstGeom>
          <a:noFill/>
          <a:ln w="8890">
            <a:solidFill>
              <a:srgbClr val="E6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86791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667085"/>
                </a:solidFill>
              </a:rPr>
              <a:t>0%</a:t>
            </a:r>
            <a:endParaRPr lang="en-US" sz="660" dirty="0"/>
          </a:p>
        </p:txBody>
      </p:sp>
      <p:sp>
        <p:nvSpPr>
          <p:cNvPr id="7" name="Shape 5"/>
          <p:cNvSpPr/>
          <p:nvPr/>
        </p:nvSpPr>
        <p:spPr>
          <a:xfrm>
            <a:off x="1298448" y="2820924"/>
            <a:ext cx="5020056" cy="0"/>
          </a:xfrm>
          <a:prstGeom prst="line">
            <a:avLst/>
          </a:prstGeom>
          <a:noFill/>
          <a:ln w="8890">
            <a:solidFill>
              <a:srgbClr val="E6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5691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667085"/>
                </a:solidFill>
              </a:rPr>
              <a:t>50%</a:t>
            </a:r>
            <a:endParaRPr lang="en-US" sz="660" dirty="0"/>
          </a:p>
        </p:txBody>
      </p:sp>
      <p:sp>
        <p:nvSpPr>
          <p:cNvPr id="9" name="Shape 7"/>
          <p:cNvSpPr/>
          <p:nvPr/>
        </p:nvSpPr>
        <p:spPr>
          <a:xfrm>
            <a:off x="1298448" y="1709928"/>
            <a:ext cx="5020056" cy="0"/>
          </a:xfrm>
          <a:prstGeom prst="line">
            <a:avLst/>
          </a:prstGeom>
          <a:noFill/>
          <a:ln w="8890">
            <a:solidFill>
              <a:srgbClr val="E6EA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4592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667085"/>
                </a:solidFill>
              </a:rPr>
              <a:t>100%</a:t>
            </a:r>
            <a:endParaRPr lang="en-US" sz="660" dirty="0"/>
          </a:p>
        </p:txBody>
      </p:sp>
      <p:sp>
        <p:nvSpPr>
          <p:cNvPr id="11" name="Shape 9"/>
          <p:cNvSpPr/>
          <p:nvPr/>
        </p:nvSpPr>
        <p:spPr>
          <a:xfrm>
            <a:off x="1298448" y="3931920"/>
            <a:ext cx="5020056" cy="0"/>
          </a:xfrm>
          <a:prstGeom prst="line">
            <a:avLst/>
          </a:prstGeom>
          <a:noFill/>
          <a:ln w="10160">
            <a:solidFill>
              <a:srgbClr val="A6A6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9312" y="1881021"/>
            <a:ext cx="377854" cy="2050899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12736" y="1716429"/>
            <a:ext cx="4858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92.3%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2189103" y="2838700"/>
            <a:ext cx="377854" cy="10932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52527" y="2674108"/>
            <a:ext cx="4858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49.2%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335024" y="40050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</a:rPr>
              <a:t>OpenAI–Claude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3322664" y="1978789"/>
            <a:ext cx="377854" cy="1953131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86088" y="1814197"/>
            <a:ext cx="4858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87.9%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3862455" y="2900916"/>
            <a:ext cx="377854" cy="1031004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5879" y="2736324"/>
            <a:ext cx="4858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46.4%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008376" y="40050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</a:rPr>
              <a:t>OpenAI–Gemini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4996016" y="1954347"/>
            <a:ext cx="377854" cy="1977573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9440" y="1789755"/>
            <a:ext cx="4858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89.0%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5535807" y="2758708"/>
            <a:ext cx="377854" cy="1173212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99231" y="2594116"/>
            <a:ext cx="4858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52.8%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681728" y="40050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</a:rPr>
              <a:t>Claude–Gemini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1426464" y="1380744"/>
            <a:ext cx="128016" cy="128016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91056" y="135788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2937"/>
                </a:solidFill>
              </a:rPr>
              <a:t>Agreement</a:t>
            </a:r>
            <a:endParaRPr lang="en-US" sz="710" dirty="0"/>
          </a:p>
        </p:txBody>
      </p:sp>
      <p:sp>
        <p:nvSpPr>
          <p:cNvPr id="29" name="Shape 27"/>
          <p:cNvSpPr/>
          <p:nvPr/>
        </p:nvSpPr>
        <p:spPr>
          <a:xfrm>
            <a:off x="2706624" y="1380744"/>
            <a:ext cx="128016" cy="128016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71216" y="135788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2937"/>
                </a:solidFill>
              </a:rPr>
              <a:t>Cohen κ ×100</a:t>
            </a:r>
            <a:endParaRPr lang="en-US" sz="710" dirty="0"/>
          </a:p>
        </p:txBody>
      </p:sp>
      <p:sp>
        <p:nvSpPr>
          <p:cNvPr id="31" name="Text 29"/>
          <p:cNvSpPr/>
          <p:nvPr/>
        </p:nvSpPr>
        <p:spPr>
          <a:xfrm>
            <a:off x="7040880" y="132588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48235"/>
                </a:solidFill>
              </a:rPr>
              <a:t>84.6%</a:t>
            </a:r>
            <a:endParaRPr lang="en-US" sz="2500" dirty="0"/>
          </a:p>
        </p:txBody>
      </p:sp>
      <p:sp>
        <p:nvSpPr>
          <p:cNvPr id="32" name="Text 30"/>
          <p:cNvSpPr/>
          <p:nvPr/>
        </p:nvSpPr>
        <p:spPr>
          <a:xfrm>
            <a:off x="7040880" y="17830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unanimous agreement</a:t>
            </a:r>
            <a:endParaRPr lang="en-US" sz="870" dirty="0"/>
          </a:p>
        </p:txBody>
      </p:sp>
      <p:sp>
        <p:nvSpPr>
          <p:cNvPr id="33" name="Text 31"/>
          <p:cNvSpPr/>
          <p:nvPr/>
        </p:nvSpPr>
        <p:spPr>
          <a:xfrm>
            <a:off x="7040880" y="2011680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777777"/>
                </a:solidFill>
              </a:rPr>
              <a:t>unique paragraphs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9235440" y="132588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030A0"/>
                </a:solidFill>
              </a:rPr>
              <a:t>0.491</a:t>
            </a:r>
            <a:endParaRPr lang="en-US" sz="2500" dirty="0"/>
          </a:p>
        </p:txBody>
      </p:sp>
      <p:sp>
        <p:nvSpPr>
          <p:cNvPr id="35" name="Text 33"/>
          <p:cNvSpPr/>
          <p:nvPr/>
        </p:nvSpPr>
        <p:spPr>
          <a:xfrm>
            <a:off x="9235440" y="17830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Fleiss’ κ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9235440" y="2011680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777777"/>
                </a:solidFill>
              </a:rPr>
              <a:t>3 model coders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7040880" y="246888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75B5"/>
                </a:solidFill>
              </a:rPr>
              <a:t>0.492</a:t>
            </a:r>
            <a:endParaRPr lang="en-US" sz="2500" dirty="0"/>
          </a:p>
        </p:txBody>
      </p:sp>
      <p:sp>
        <p:nvSpPr>
          <p:cNvPr id="38" name="Text 36"/>
          <p:cNvSpPr/>
          <p:nvPr/>
        </p:nvSpPr>
        <p:spPr>
          <a:xfrm>
            <a:off x="7040880" y="29260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Krippendorff α</a:t>
            </a:r>
            <a:endParaRPr lang="en-US" sz="870" dirty="0"/>
          </a:p>
        </p:txBody>
      </p:sp>
      <p:sp>
        <p:nvSpPr>
          <p:cNvPr id="39" name="Text 37"/>
          <p:cNvSpPr/>
          <p:nvPr/>
        </p:nvSpPr>
        <p:spPr>
          <a:xfrm>
            <a:off x="7040880" y="3154680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777777"/>
                </a:solidFill>
              </a:rPr>
              <a:t>nominal labels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9235440" y="246888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55A11"/>
                </a:solidFill>
              </a:rPr>
              <a:t>91</a:t>
            </a:r>
            <a:endParaRPr lang="en-US" sz="2500" dirty="0"/>
          </a:p>
        </p:txBody>
      </p:sp>
      <p:sp>
        <p:nvSpPr>
          <p:cNvPr id="41" name="Text 39"/>
          <p:cNvSpPr/>
          <p:nvPr/>
        </p:nvSpPr>
        <p:spPr>
          <a:xfrm>
            <a:off x="9235440" y="29260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unique units</a:t>
            </a:r>
            <a:endParaRPr lang="en-US" sz="870" dirty="0"/>
          </a:p>
        </p:txBody>
      </p:sp>
      <p:sp>
        <p:nvSpPr>
          <p:cNvPr id="42" name="Text 40"/>
          <p:cNvSpPr/>
          <p:nvPr/>
        </p:nvSpPr>
        <p:spPr>
          <a:xfrm>
            <a:off x="9235440" y="3154680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777777"/>
                </a:solidFill>
              </a:rPr>
              <a:t>production run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6903720" y="3794760"/>
            <a:ext cx="4434840" cy="960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03720" y="3794760"/>
            <a:ext cx="54864" cy="96012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59168" y="3913632"/>
            <a:ext cx="4160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365D"/>
                </a:solidFill>
              </a:rPr>
              <a:t>Key readout</a:t>
            </a:r>
            <a:endParaRPr lang="en-US" sz="1120" dirty="0"/>
          </a:p>
        </p:txBody>
      </p:sp>
      <p:sp>
        <p:nvSpPr>
          <p:cNvPr id="46" name="Text 44"/>
          <p:cNvSpPr/>
          <p:nvPr/>
        </p:nvSpPr>
        <p:spPr>
          <a:xfrm>
            <a:off x="7059168" y="4187952"/>
            <a:ext cx="4142232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The three providers agree on the binary unlearning decision for most unique paragraphs, making consensus coding defensible as a screening layer before human review.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03504" y="6126480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777777"/>
                </a:solidFill>
              </a:rPr>
              <a:t>Reliability metrics from the production notebook on 91 unique paragraph texts.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4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Target-label reliability shows where human review adds value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859536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</a:rPr>
              <a:t>Models agree more on whether unlearning is present than on the exact target category.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1344168" y="3931920"/>
            <a:ext cx="5660136" cy="0"/>
          </a:xfrm>
          <a:prstGeom prst="line">
            <a:avLst/>
          </a:prstGeom>
          <a:noFill/>
          <a:ln w="8890">
            <a:solidFill>
              <a:srgbClr val="E6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86791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667085"/>
                </a:solidFill>
              </a:rPr>
              <a:t>0%</a:t>
            </a:r>
            <a:endParaRPr lang="en-US" sz="660" dirty="0"/>
          </a:p>
        </p:txBody>
      </p:sp>
      <p:sp>
        <p:nvSpPr>
          <p:cNvPr id="7" name="Shape 5"/>
          <p:cNvSpPr/>
          <p:nvPr/>
        </p:nvSpPr>
        <p:spPr>
          <a:xfrm>
            <a:off x="1344168" y="2820924"/>
            <a:ext cx="5660136" cy="0"/>
          </a:xfrm>
          <a:prstGeom prst="line">
            <a:avLst/>
          </a:prstGeom>
          <a:noFill/>
          <a:ln w="8890">
            <a:solidFill>
              <a:srgbClr val="E6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75691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667085"/>
                </a:solidFill>
              </a:rPr>
              <a:t>50%</a:t>
            </a:r>
            <a:endParaRPr lang="en-US" sz="660" dirty="0"/>
          </a:p>
        </p:txBody>
      </p:sp>
      <p:sp>
        <p:nvSpPr>
          <p:cNvPr id="9" name="Shape 7"/>
          <p:cNvSpPr/>
          <p:nvPr/>
        </p:nvSpPr>
        <p:spPr>
          <a:xfrm>
            <a:off x="1344168" y="1709928"/>
            <a:ext cx="5660136" cy="0"/>
          </a:xfrm>
          <a:prstGeom prst="line">
            <a:avLst/>
          </a:prstGeom>
          <a:noFill/>
          <a:ln w="8890">
            <a:solidFill>
              <a:srgbClr val="E6EA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64592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667085"/>
                </a:solidFill>
              </a:rPr>
              <a:t>100%</a:t>
            </a:r>
            <a:endParaRPr lang="en-US" sz="660" dirty="0"/>
          </a:p>
        </p:txBody>
      </p:sp>
      <p:sp>
        <p:nvSpPr>
          <p:cNvPr id="11" name="Shape 9"/>
          <p:cNvSpPr/>
          <p:nvPr/>
        </p:nvSpPr>
        <p:spPr>
          <a:xfrm>
            <a:off x="1344168" y="3931920"/>
            <a:ext cx="5660136" cy="0"/>
          </a:xfrm>
          <a:prstGeom prst="line">
            <a:avLst/>
          </a:prstGeom>
          <a:noFill/>
          <a:ln w="10160">
            <a:solidFill>
              <a:srgbClr val="A6A6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3281" y="2052115"/>
            <a:ext cx="322122" cy="1879805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6705" y="1887523"/>
            <a:ext cx="4141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84.6%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2103455" y="2840922"/>
            <a:ext cx="322122" cy="1090998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66879" y="2676330"/>
            <a:ext cx="4141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49.1%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2563628" y="2838700"/>
            <a:ext cx="322122" cy="109322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27052" y="2674108"/>
            <a:ext cx="4141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49.2%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1380744" y="4005072"/>
            <a:ext cx="181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</a:rPr>
              <a:t>Binary unlearning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3529993" y="2052115"/>
            <a:ext cx="322122" cy="1879805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93417" y="1887523"/>
            <a:ext cx="4141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84.6%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3990167" y="2845366"/>
            <a:ext cx="322122" cy="1086554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53591" y="2680774"/>
            <a:ext cx="4141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48.9%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4450340" y="2840922"/>
            <a:ext cx="322122" cy="1090998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13764" y="2676330"/>
            <a:ext cx="4141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49.1%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3267456" y="4005072"/>
            <a:ext cx="181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</a:rPr>
              <a:t>Target incl. none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5416705" y="3438638"/>
            <a:ext cx="322122" cy="493282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80129" y="3274046"/>
            <a:ext cx="4141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22.2%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5876879" y="3534183"/>
            <a:ext cx="322122" cy="397737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40303" y="3369591"/>
            <a:ext cx="4141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17.9%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6337052" y="3500854"/>
            <a:ext cx="322122" cy="431066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0476" y="3336262"/>
            <a:ext cx="4141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19.4%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5154168" y="4005072"/>
            <a:ext cx="181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</a:rPr>
              <a:t>Target when any model says Yes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1472184" y="1380744"/>
            <a:ext cx="128016" cy="128016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36776" y="135788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2937"/>
                </a:solidFill>
              </a:rPr>
              <a:t>Unanimous</a:t>
            </a:r>
            <a:endParaRPr lang="en-US" sz="710" dirty="0"/>
          </a:p>
        </p:txBody>
      </p:sp>
      <p:sp>
        <p:nvSpPr>
          <p:cNvPr id="35" name="Shape 33"/>
          <p:cNvSpPr/>
          <p:nvPr/>
        </p:nvSpPr>
        <p:spPr>
          <a:xfrm>
            <a:off x="2752344" y="1380744"/>
            <a:ext cx="128016" cy="128016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16936" y="135788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2937"/>
                </a:solidFill>
              </a:rPr>
              <a:t>Fleiss κ ×100</a:t>
            </a:r>
            <a:endParaRPr lang="en-US" sz="710" dirty="0"/>
          </a:p>
        </p:txBody>
      </p:sp>
      <p:sp>
        <p:nvSpPr>
          <p:cNvPr id="37" name="Shape 35"/>
          <p:cNvSpPr/>
          <p:nvPr/>
        </p:nvSpPr>
        <p:spPr>
          <a:xfrm>
            <a:off x="4032504" y="1380744"/>
            <a:ext cx="128016" cy="128016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97096" y="135788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2937"/>
                </a:solidFill>
              </a:rPr>
              <a:t>Alpha ×100</a:t>
            </a:r>
            <a:endParaRPr lang="en-US" sz="710" dirty="0"/>
          </a:p>
        </p:txBody>
      </p:sp>
      <p:sp>
        <p:nvSpPr>
          <p:cNvPr id="39" name="Shape 37"/>
          <p:cNvSpPr/>
          <p:nvPr/>
        </p:nvSpPr>
        <p:spPr>
          <a:xfrm>
            <a:off x="7680960" y="1371600"/>
            <a:ext cx="3520440" cy="100584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80960" y="1371600"/>
            <a:ext cx="54864" cy="100584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36408" y="1490472"/>
            <a:ext cx="3246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365D"/>
                </a:solidFill>
              </a:rPr>
              <a:t>Insight</a:t>
            </a:r>
            <a:endParaRPr lang="en-US" sz="1120" dirty="0"/>
          </a:p>
        </p:txBody>
      </p:sp>
      <p:sp>
        <p:nvSpPr>
          <p:cNvPr id="42" name="Text 40"/>
          <p:cNvSpPr/>
          <p:nvPr/>
        </p:nvSpPr>
        <p:spPr>
          <a:xfrm>
            <a:off x="7836408" y="1764792"/>
            <a:ext cx="322783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Binary detection is stable enough for triage. Target labels are harder, especially among passages that at least one model marks as positive.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680960" y="2651760"/>
            <a:ext cx="3520440" cy="100584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80960" y="2651760"/>
            <a:ext cx="54864" cy="100584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36408" y="2770632"/>
            <a:ext cx="3246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365D"/>
                </a:solidFill>
              </a:rPr>
              <a:t>Use in practice</a:t>
            </a:r>
            <a:endParaRPr lang="en-US" sz="1120" dirty="0"/>
          </a:p>
        </p:txBody>
      </p:sp>
      <p:sp>
        <p:nvSpPr>
          <p:cNvPr id="46" name="Text 44"/>
          <p:cNvSpPr/>
          <p:nvPr/>
        </p:nvSpPr>
        <p:spPr>
          <a:xfrm>
            <a:off x="7836408" y="3044952"/>
            <a:ext cx="322783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Treat target category as a review field. Consensus target labels can guide coders, but positive passages should receive human target adjudication.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680960" y="3931920"/>
            <a:ext cx="3520440" cy="100584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80960" y="3931920"/>
            <a:ext cx="54864" cy="100584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36408" y="4050792"/>
            <a:ext cx="3246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365D"/>
                </a:solidFill>
              </a:rPr>
              <a:t>Defensible framing</a:t>
            </a:r>
            <a:endParaRPr lang="en-US" sz="1120" dirty="0"/>
          </a:p>
        </p:txBody>
      </p:sp>
      <p:sp>
        <p:nvSpPr>
          <p:cNvPr id="50" name="Text 48"/>
          <p:cNvSpPr/>
          <p:nvPr/>
        </p:nvSpPr>
        <p:spPr>
          <a:xfrm>
            <a:off x="7836408" y="4325112"/>
            <a:ext cx="322783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The model ensemble is strongest as a discovery and prioritization system, not a replacement for final human coding.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03504" y="6126480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777777"/>
                </a:solidFill>
              </a:rPr>
              <a:t>Target reliability computed on unique paragraph texts; “any model says Yes” subset contains 18 unique texts.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4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insights for the team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859536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</a:rPr>
              <a:t>The current results support a clear workflow and a clear interpretation of model behavior.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777240" y="1325880"/>
            <a:ext cx="3429000" cy="960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25880"/>
            <a:ext cx="54864" cy="96012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444752"/>
            <a:ext cx="3154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365D"/>
                </a:solidFill>
              </a:rPr>
              <a:t>1. Gemini is the best single-model screen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932688" y="1719072"/>
            <a:ext cx="3136392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It produced the strongest validation F1 and recovered the most human-positive passages on the defended 42-row set.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34840" y="1325880"/>
            <a:ext cx="3429000" cy="960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325880"/>
            <a:ext cx="54864" cy="9601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444752"/>
            <a:ext cx="3154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365D"/>
                </a:solidFill>
              </a:rPr>
              <a:t>2. Three-model consensus is better for production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4590288" y="1719072"/>
            <a:ext cx="3136392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Provider disagreement is informative. It surfaces passages that are ambiguous enough to deserve review.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92440" y="1325880"/>
            <a:ext cx="3429000" cy="960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325880"/>
            <a:ext cx="54864" cy="96012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444752"/>
            <a:ext cx="3154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365D"/>
                </a:solidFill>
              </a:rPr>
              <a:t>3. Binary labels are more reliable than target labels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8247888" y="1719072"/>
            <a:ext cx="3136392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Agreement is solid for Unlearning = Yes/No, while target categories need human adjudication for positives.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77240" y="2788920"/>
            <a:ext cx="3429000" cy="960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2788920"/>
            <a:ext cx="54864" cy="96012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2907792"/>
            <a:ext cx="3154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365D"/>
                </a:solidFill>
              </a:rPr>
              <a:t>4. The pipeline now produces review-ready artifacts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932688" y="3182112"/>
            <a:ext cx="3136392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For a new document, the notebook exports predictions, reliability tables, consensus labels, review queues, and annotated PDFs.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34840" y="2788920"/>
            <a:ext cx="3429000" cy="960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2788920"/>
            <a:ext cx="54864" cy="960120"/>
          </a:xfrm>
          <a:prstGeom prst="rect">
            <a:avLst/>
          </a:prstGeom>
          <a:solidFill>
            <a:srgbClr val="A61C00"/>
          </a:solidFill>
          <a:ln w="12700">
            <a:solidFill>
              <a:srgbClr val="A61C0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2907792"/>
            <a:ext cx="3154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365D"/>
                </a:solidFill>
              </a:rPr>
              <a:t>5. Human effort is now focused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4590288" y="3182112"/>
            <a:ext cx="3136392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Instead of reading every paragraph equally, reviewers can focus first on majority-Yes, unanimous-Yes, and one-model-Yes passages.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092440" y="2788920"/>
            <a:ext cx="3429000" cy="960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92440" y="2788920"/>
            <a:ext cx="54864" cy="96012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47888" y="2907792"/>
            <a:ext cx="3154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365D"/>
                </a:solidFill>
              </a:rPr>
              <a:t>6. Scaling is straightforward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247888" y="3182112"/>
            <a:ext cx="3136392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The same notebook is already structured for multiple PDFs, cached duplicate paragraphs, and provider-specific resumable outputs.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03504" y="6126480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777777"/>
                </a:solidFill>
              </a:rPr>
              <a:t>Presentation focuses on defendable accomplishments, current results, and operational insights.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4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path forward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859536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</a:rPr>
              <a:t>Use the pipeline as a human-in-the-loop coding accelerator.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1106424" y="1581912"/>
            <a:ext cx="2141982" cy="0"/>
          </a:xfrm>
          <a:prstGeom prst="line">
            <a:avLst/>
          </a:prstGeom>
          <a:noFill/>
          <a:ln w="1778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94944" y="1417320"/>
            <a:ext cx="347472" cy="347472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" y="1911096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365D"/>
                </a:solidFill>
              </a:rPr>
              <a:t>Run next PDFs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118872" y="2148840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67085"/>
                </a:solidFill>
              </a:rPr>
              <a:t>Batch documents through the production notebook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3723894" y="1581912"/>
            <a:ext cx="2141982" cy="0"/>
          </a:xfrm>
          <a:prstGeom prst="line">
            <a:avLst/>
          </a:prstGeom>
          <a:noFill/>
          <a:ln w="1778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12414" y="1417320"/>
            <a:ext cx="347472" cy="34747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27782" y="1911096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365D"/>
                </a:solidFill>
              </a:rPr>
              <a:t>Review 3 buckets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2736342" y="2148840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67085"/>
                </a:solidFill>
              </a:rPr>
              <a:t>Unanimous Yes, Majority Yes, One-model Yes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6341364" y="1581912"/>
            <a:ext cx="2141982" cy="0"/>
          </a:xfrm>
          <a:prstGeom prst="line">
            <a:avLst/>
          </a:prstGeom>
          <a:noFill/>
          <a:ln w="1778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29884" y="1417320"/>
            <a:ext cx="347472" cy="34747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5252" y="1911096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365D"/>
                </a:solidFill>
              </a:rPr>
              <a:t>Adjudicate targets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5353812" y="2148840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67085"/>
                </a:solidFill>
              </a:rPr>
              <a:t>Finalize target type for positives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8958834" y="1581912"/>
            <a:ext cx="2141982" cy="0"/>
          </a:xfrm>
          <a:prstGeom prst="line">
            <a:avLst/>
          </a:prstGeom>
          <a:noFill/>
          <a:ln w="1778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547354" y="1417320"/>
            <a:ext cx="347472" cy="34747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62722" y="1911096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365D"/>
                </a:solidFill>
              </a:rPr>
              <a:t>Update examples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7971282" y="2148840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67085"/>
                </a:solidFill>
              </a:rPr>
              <a:t>Use only high-confidence adjudicated examples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11164824" y="1417320"/>
            <a:ext cx="347472" cy="347472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80192" y="1911096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365D"/>
                </a:solidFill>
              </a:rPr>
              <a:t>Report corpus trends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10588752" y="2148840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67085"/>
                </a:solidFill>
              </a:rPr>
              <a:t>Document-level and agency-level patterns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777240" y="3383280"/>
            <a:ext cx="521208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3383280"/>
            <a:ext cx="54864" cy="105156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3502152"/>
            <a:ext cx="4937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365D"/>
                </a:solidFill>
              </a:rPr>
              <a:t>Immediate recommendation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932688" y="3776472"/>
            <a:ext cx="4919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Use Gemini as the strongest single-model benchmark result, but use the full three-model ensemble in production because it provides agreement metrics and a review queue.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63640" y="3383280"/>
            <a:ext cx="521208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3383280"/>
            <a:ext cx="54864" cy="105156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19088" y="3502152"/>
            <a:ext cx="4937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365D"/>
                </a:solidFill>
              </a:rPr>
              <a:t>Deliverable recommendation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6419088" y="3776472"/>
            <a:ext cx="4919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For each new document, deliver the annotated PDF plus an Excel workbook with paragraph labels, rationales, consensus, and reliability outputs.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3504" y="6126480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777777"/>
                </a:solidFill>
              </a:rPr>
              <a:t>Next step: run the production pipeline across the next batch of disaster-policy documents.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4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Unlearning Project Update: Results and Production Pipeline</dc:title>
  <dc:subject>Unlearning project results and production pipeline</dc:subject>
  <dc:creator>OpenAI</dc:creator>
  <cp:lastModifiedBy>OpenAI</cp:lastModifiedBy>
  <cp:revision>1</cp:revision>
  <dcterms:created xsi:type="dcterms:W3CDTF">2026-07-17T13:34:59Z</dcterms:created>
  <dcterms:modified xsi:type="dcterms:W3CDTF">2026-07-17T13:34:59Z</dcterms:modified>
</cp:coreProperties>
</file>
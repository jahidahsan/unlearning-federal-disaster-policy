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Successful</c:v>
                </c:pt>
              </c:strCache>
            </c:strRef>
          </c:tx>
          <c:spPr>
            <a:solidFill>
              <a:srgbClr val="1580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Gemini</c:v>
                  </c:pt>
                  <c:pt idx="1">
                    <c:v>Openai</c:v>
                  </c:pt>
                  <c:pt idx="2">
                    <c:v>Anthropic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</c:v>
                </c:pt>
                <c:pt idx="1">
                  <c:v>44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Error / missing output</c:v>
                </c:pt>
              </c:strCache>
            </c:strRef>
          </c:tx>
          <c:spPr>
            <a:solidFill>
              <a:srgbClr val="B91C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Gemini</c:v>
                  </c:pt>
                  <c:pt idx="1">
                    <c:v>Openai</c:v>
                  </c:pt>
                  <c:pt idx="2">
                    <c:v>Anthropic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Yes recall (%)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Direct</c:v>
                  </c:pt>
                  <c:pt idx="1">
                    <c:v>Definitions</c:v>
                  </c:pt>
                  <c:pt idx="2">
                    <c:v>Defs + examples</c:v>
                  </c:pt>
                  <c:pt idx="3">
                    <c:v>Defs + ex. + metadata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9.1</c:v>
                </c:pt>
                <c:pt idx="1">
                  <c:v>27.3</c:v>
                </c:pt>
                <c:pt idx="2">
                  <c:v>36.4</c:v>
                </c:pt>
                <c:pt idx="3">
                  <c:v>36.4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tokens / passage</c:v>
                </c:pt>
              </c:strCache>
            </c:strRef>
          </c:tx>
          <c:spPr>
            <a:solidFill>
              <a:srgbClr val="6D28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Direct</c:v>
                  </c:pt>
                  <c:pt idx="1">
                    <c:v>Definitions</c:v>
                  </c:pt>
                  <c:pt idx="2">
                    <c:v>Defs + examples</c:v>
                  </c:pt>
                  <c:pt idx="3">
                    <c:v>Defs + ex. + metadata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322</c:v>
                </c:pt>
                <c:pt idx="1">
                  <c:v>2050</c:v>
                </c:pt>
                <c:pt idx="2">
                  <c:v>3073</c:v>
                </c:pt>
                <c:pt idx="3">
                  <c:v>3656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cost, milli-USD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Direct</c:v>
                  </c:pt>
                  <c:pt idx="1">
                    <c:v>Definitions</c:v>
                  </c:pt>
                  <c:pt idx="2">
                    <c:v>Defs + examples</c:v>
                  </c:pt>
                  <c:pt idx="3">
                    <c:v>Defs + ex. + metadata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1.26</c:v>
                </c:pt>
                <c:pt idx="1">
                  <c:v>5.19</c:v>
                </c:pt>
                <c:pt idx="2">
                  <c:v>7.45</c:v>
                </c:pt>
                <c:pt idx="3">
                  <c:v>8.7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Partial Yes recall (%)</c:v>
                </c:pt>
              </c:strCache>
            </c:strRef>
          </c:tx>
          <c:spPr>
            <a:solidFill>
              <a:srgbClr val="B4530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Direct</c:v>
                  </c:pt>
                  <c:pt idx="1">
                    <c:v>Definitions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OpenAI correct Yes predictions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Direct</c:v>
                  </c:pt>
                  <c:pt idx="1">
                    <c:v>Definitions</c:v>
                  </c:pt>
                  <c:pt idx="2">
                    <c:v>Defs + examples</c:v>
                  </c:pt>
                  <c:pt idx="3">
                    <c:v>Defs + ex. + metadata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"/>
          <c:min val="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the actual-file results. OpenAI has complete coverage; Gemini is partial due quota; Anthropic/Claude rows are errors and should not be interpreted as model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important because the actual file is not a complete 3-provider comparison. It contains a complete OpenAI run, partial Gemini returned results, and Anthropic error 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OpenAI is the only complete model run. This slide is therefore the strongest results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supports an actionable cost-performance choice rather than just accuracy reporting.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acknowledges the user’s point: the actual file includes some Gemini results, but they are partial.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Row-level matrix enables manual review and decisions about prompt revisions.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proposing a concrete next step and avoiding overclaiming from partial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46520"/>
            <a:ext cx="109728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548640"/>
            <a:ext cx="3200400" cy="3200400"/>
          </a:xfrm>
          <a:prstGeom prst="arc">
            <a:avLst/>
          </a:prstGeom>
          <a:noFill/>
          <a:ln w="25400">
            <a:solidFill>
              <a:srgbClr val="0F766E">
                <a:alpha val="8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3794760"/>
            <a:ext cx="2743200" cy="2743200"/>
          </a:xfrm>
          <a:prstGeom prst="arc">
            <a:avLst/>
          </a:prstGeom>
          <a:noFill/>
          <a:ln w="20320">
            <a:solidFill>
              <a:srgbClr val="6D28D9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097280"/>
            <a:ext cx="6583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Unlearning Prompt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A/B Test Results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04672" y="27432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BD5E1"/>
                </a:solidFill>
              </a:rPr>
              <a:t>Presentation-ready summary generated from the actual prediction file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04672" y="3273552"/>
            <a:ext cx="374904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359359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</a:rPr>
              <a:t>97 rows in file · 53 successful predictions · 44 error rows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4672" y="3922776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CBD5E1"/>
                </a:solidFill>
              </a:rPr>
              <a:t>11 test passages · 4 prompt variants · OpenAI complete + Gemini partial + Anthropic errors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804672" y="425196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Ground truth in this file: all passages are labeled Unlearning = Yes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04672" y="623620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94A3B8"/>
                </a:solidFill>
              </a:rPr>
              <a:t>Source: predictions_most.csv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audit: usable results are uneven by provider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OpenAI completed all expected calls; Gemini returned a small partial sample; Anthropic rows are errors in this file.</a:t>
            </a:r>
            <a:endParaRPr lang="en-US" sz="108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20574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3816" y="1444752"/>
            <a:ext cx="180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97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13816" y="1828800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rows in uploaded file</a:t>
            </a:r>
            <a:endParaRPr lang="en-US" sz="870" dirty="0"/>
          </a:p>
        </p:txBody>
      </p:sp>
      <p:sp>
        <p:nvSpPr>
          <p:cNvPr id="7" name="Shape 5"/>
          <p:cNvSpPr/>
          <p:nvPr/>
        </p:nvSpPr>
        <p:spPr>
          <a:xfrm>
            <a:off x="2926080" y="1325880"/>
            <a:ext cx="20574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54096" y="1444752"/>
            <a:ext cx="180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80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53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054096" y="1828800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successful predictions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5166360" y="1325880"/>
            <a:ext cx="20574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94376" y="1444752"/>
            <a:ext cx="180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B91C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294376" y="1828800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error rows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7406640" y="1325880"/>
            <a:ext cx="20574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34656" y="1444752"/>
            <a:ext cx="180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6D28D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534656" y="1828800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expected calls/provider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9646920" y="1325880"/>
            <a:ext cx="17830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74936" y="1444752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$0.0234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774936" y="1828800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successful-call cost</a:t>
            </a:r>
            <a:endParaRPr lang="en-US" sz="87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731520" y="2788920"/>
          <a:ext cx="502920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/>
          <p:nvPr/>
        </p:nvSpPr>
        <p:spPr>
          <a:xfrm>
            <a:off x="6172200" y="2788920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F766E"/>
                </a:solidFill>
              </a:rPr>
              <a:t>COVERAGE BY PROMPT VARIANT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6172200" y="3127248"/>
            <a:ext cx="1234440" cy="310896"/>
          </a:xfrm>
          <a:prstGeom prst="rect">
            <a:avLst/>
          </a:prstGeom>
          <a:solidFill>
            <a:srgbClr val="11182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99632" y="3200400"/>
            <a:ext cx="1179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</a:rPr>
              <a:t>Provider</a:t>
            </a:r>
            <a:endParaRPr lang="en-US" sz="670" dirty="0"/>
          </a:p>
        </p:txBody>
      </p:sp>
      <p:sp>
        <p:nvSpPr>
          <p:cNvPr id="23" name="Shape 20"/>
          <p:cNvSpPr/>
          <p:nvPr/>
        </p:nvSpPr>
        <p:spPr>
          <a:xfrm>
            <a:off x="7571232" y="3127248"/>
            <a:ext cx="768096" cy="310896"/>
          </a:xfrm>
          <a:prstGeom prst="rect">
            <a:avLst/>
          </a:prstGeom>
          <a:solidFill>
            <a:srgbClr val="11182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598664" y="3200400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</a:rPr>
              <a:t>Direct</a:t>
            </a:r>
            <a:endParaRPr lang="en-US" sz="670" dirty="0"/>
          </a:p>
        </p:txBody>
      </p:sp>
      <p:sp>
        <p:nvSpPr>
          <p:cNvPr id="25" name="Shape 22"/>
          <p:cNvSpPr/>
          <p:nvPr/>
        </p:nvSpPr>
        <p:spPr>
          <a:xfrm>
            <a:off x="8531352" y="3127248"/>
            <a:ext cx="768096" cy="310896"/>
          </a:xfrm>
          <a:prstGeom prst="rect">
            <a:avLst/>
          </a:prstGeom>
          <a:solidFill>
            <a:srgbClr val="11182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558784" y="3200400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</a:rPr>
              <a:t>Defs</a:t>
            </a:r>
            <a:endParaRPr lang="en-US" sz="670" dirty="0"/>
          </a:p>
        </p:txBody>
      </p:sp>
      <p:sp>
        <p:nvSpPr>
          <p:cNvPr id="27" name="Shape 24"/>
          <p:cNvSpPr/>
          <p:nvPr/>
        </p:nvSpPr>
        <p:spPr>
          <a:xfrm>
            <a:off x="9509760" y="3127248"/>
            <a:ext cx="896112" cy="310896"/>
          </a:xfrm>
          <a:prstGeom prst="rect">
            <a:avLst/>
          </a:prstGeom>
          <a:solidFill>
            <a:srgbClr val="11182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537192" y="3200400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</a:rPr>
              <a:t>Defs + ex.</a:t>
            </a:r>
            <a:endParaRPr lang="en-US" sz="670" dirty="0"/>
          </a:p>
        </p:txBody>
      </p:sp>
      <p:sp>
        <p:nvSpPr>
          <p:cNvPr id="29" name="Shape 26"/>
          <p:cNvSpPr/>
          <p:nvPr/>
        </p:nvSpPr>
        <p:spPr>
          <a:xfrm>
            <a:off x="10561320" y="3127248"/>
            <a:ext cx="932688" cy="310896"/>
          </a:xfrm>
          <a:prstGeom prst="rect">
            <a:avLst/>
          </a:prstGeom>
          <a:solidFill>
            <a:srgbClr val="11182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588752" y="3200400"/>
            <a:ext cx="877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</a:rPr>
              <a:t>Defs + meta</a:t>
            </a:r>
            <a:endParaRPr lang="en-US" sz="670" dirty="0"/>
          </a:p>
        </p:txBody>
      </p:sp>
      <p:sp>
        <p:nvSpPr>
          <p:cNvPr id="31" name="Shape 28"/>
          <p:cNvSpPr/>
          <p:nvPr/>
        </p:nvSpPr>
        <p:spPr>
          <a:xfrm>
            <a:off x="6172200" y="3438144"/>
            <a:ext cx="12344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217920" y="3547872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11827"/>
                </a:solidFill>
              </a:rPr>
              <a:t>OpenAI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7571232" y="3438144"/>
            <a:ext cx="768096" cy="393192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598664" y="3547872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5803D"/>
                </a:solidFill>
              </a:rPr>
              <a:t>11/11</a:t>
            </a:r>
            <a:endParaRPr lang="en-US" sz="730" dirty="0"/>
          </a:p>
        </p:txBody>
      </p:sp>
      <p:sp>
        <p:nvSpPr>
          <p:cNvPr id="35" name="Shape 32"/>
          <p:cNvSpPr/>
          <p:nvPr/>
        </p:nvSpPr>
        <p:spPr>
          <a:xfrm>
            <a:off x="8531352" y="3438144"/>
            <a:ext cx="768096" cy="393192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558784" y="3547872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5803D"/>
                </a:solidFill>
              </a:rPr>
              <a:t>11/11</a:t>
            </a:r>
            <a:endParaRPr lang="en-US" sz="730" dirty="0"/>
          </a:p>
        </p:txBody>
      </p:sp>
      <p:sp>
        <p:nvSpPr>
          <p:cNvPr id="37" name="Shape 34"/>
          <p:cNvSpPr/>
          <p:nvPr/>
        </p:nvSpPr>
        <p:spPr>
          <a:xfrm>
            <a:off x="9509760" y="3438144"/>
            <a:ext cx="896112" cy="393192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537192" y="3547872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5803D"/>
                </a:solidFill>
              </a:rPr>
              <a:t>11/11</a:t>
            </a:r>
            <a:endParaRPr lang="en-US" sz="730" dirty="0"/>
          </a:p>
        </p:txBody>
      </p:sp>
      <p:sp>
        <p:nvSpPr>
          <p:cNvPr id="39" name="Shape 36"/>
          <p:cNvSpPr/>
          <p:nvPr/>
        </p:nvSpPr>
        <p:spPr>
          <a:xfrm>
            <a:off x="10561320" y="3438144"/>
            <a:ext cx="932688" cy="393192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588752" y="3547872"/>
            <a:ext cx="877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5803D"/>
                </a:solidFill>
              </a:rPr>
              <a:t>11/11</a:t>
            </a:r>
            <a:endParaRPr lang="en-US" sz="730" dirty="0"/>
          </a:p>
        </p:txBody>
      </p:sp>
      <p:sp>
        <p:nvSpPr>
          <p:cNvPr id="41" name="Shape 38"/>
          <p:cNvSpPr/>
          <p:nvPr/>
        </p:nvSpPr>
        <p:spPr>
          <a:xfrm>
            <a:off x="6172200" y="3831336"/>
            <a:ext cx="12344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217920" y="3941064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11827"/>
                </a:solidFill>
              </a:rPr>
              <a:t>Gemini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7571232" y="3831336"/>
            <a:ext cx="768096" cy="393192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598664" y="3941064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5803D"/>
                </a:solidFill>
              </a:rPr>
              <a:t>7/7</a:t>
            </a:r>
            <a:endParaRPr lang="en-US" sz="730" dirty="0"/>
          </a:p>
        </p:txBody>
      </p:sp>
      <p:sp>
        <p:nvSpPr>
          <p:cNvPr id="45" name="Shape 42"/>
          <p:cNvSpPr/>
          <p:nvPr/>
        </p:nvSpPr>
        <p:spPr>
          <a:xfrm>
            <a:off x="8531352" y="3831336"/>
            <a:ext cx="768096" cy="393192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558784" y="3941064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5803D"/>
                </a:solidFill>
              </a:rPr>
              <a:t>2/2</a:t>
            </a:r>
            <a:endParaRPr lang="en-US" sz="730" dirty="0"/>
          </a:p>
        </p:txBody>
      </p:sp>
      <p:sp>
        <p:nvSpPr>
          <p:cNvPr id="47" name="Shape 44"/>
          <p:cNvSpPr/>
          <p:nvPr/>
        </p:nvSpPr>
        <p:spPr>
          <a:xfrm>
            <a:off x="9509760" y="3831336"/>
            <a:ext cx="896112" cy="393192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537192" y="3941064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B91C1C"/>
                </a:solidFill>
              </a:rPr>
              <a:t>0/0</a:t>
            </a:r>
            <a:endParaRPr lang="en-US" sz="730" dirty="0"/>
          </a:p>
        </p:txBody>
      </p:sp>
      <p:sp>
        <p:nvSpPr>
          <p:cNvPr id="49" name="Shape 46"/>
          <p:cNvSpPr/>
          <p:nvPr/>
        </p:nvSpPr>
        <p:spPr>
          <a:xfrm>
            <a:off x="10561320" y="3831336"/>
            <a:ext cx="932688" cy="393192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10588752" y="3941064"/>
            <a:ext cx="877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B91C1C"/>
                </a:solidFill>
              </a:rPr>
              <a:t>0/0</a:t>
            </a:r>
            <a:endParaRPr lang="en-US" sz="730" dirty="0"/>
          </a:p>
        </p:txBody>
      </p:sp>
      <p:sp>
        <p:nvSpPr>
          <p:cNvPr id="51" name="Shape 48"/>
          <p:cNvSpPr/>
          <p:nvPr/>
        </p:nvSpPr>
        <p:spPr>
          <a:xfrm>
            <a:off x="6172200" y="4224528"/>
            <a:ext cx="12344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217920" y="4334256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11827"/>
                </a:solidFill>
              </a:rPr>
              <a:t>Anthropic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7571232" y="4224528"/>
            <a:ext cx="768096" cy="393192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598664" y="4334256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B91C1C"/>
                </a:solidFill>
              </a:rPr>
              <a:t>0/11</a:t>
            </a:r>
            <a:endParaRPr lang="en-US" sz="730" dirty="0"/>
          </a:p>
        </p:txBody>
      </p:sp>
      <p:sp>
        <p:nvSpPr>
          <p:cNvPr id="55" name="Shape 52"/>
          <p:cNvSpPr/>
          <p:nvPr/>
        </p:nvSpPr>
        <p:spPr>
          <a:xfrm>
            <a:off x="8531352" y="4224528"/>
            <a:ext cx="768096" cy="393192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8558784" y="4334256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B91C1C"/>
                </a:solidFill>
              </a:rPr>
              <a:t>0/11</a:t>
            </a:r>
            <a:endParaRPr lang="en-US" sz="730" dirty="0"/>
          </a:p>
        </p:txBody>
      </p:sp>
      <p:sp>
        <p:nvSpPr>
          <p:cNvPr id="57" name="Shape 54"/>
          <p:cNvSpPr/>
          <p:nvPr/>
        </p:nvSpPr>
        <p:spPr>
          <a:xfrm>
            <a:off x="9509760" y="4224528"/>
            <a:ext cx="896112" cy="393192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9537192" y="4334256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B91C1C"/>
                </a:solidFill>
              </a:rPr>
              <a:t>0/11</a:t>
            </a:r>
            <a:endParaRPr lang="en-US" sz="730" dirty="0"/>
          </a:p>
        </p:txBody>
      </p:sp>
      <p:sp>
        <p:nvSpPr>
          <p:cNvPr id="59" name="Shape 56"/>
          <p:cNvSpPr/>
          <p:nvPr/>
        </p:nvSpPr>
        <p:spPr>
          <a:xfrm>
            <a:off x="10561320" y="4224528"/>
            <a:ext cx="932688" cy="393192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10588752" y="4334256"/>
            <a:ext cx="877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B91C1C"/>
                </a:solidFill>
              </a:rPr>
              <a:t>0/11</a:t>
            </a:r>
            <a:endParaRPr lang="en-US" sz="730" dirty="0"/>
          </a:p>
        </p:txBody>
      </p:sp>
      <p:sp>
        <p:nvSpPr>
          <p:cNvPr id="61" name="Shape 58"/>
          <p:cNvSpPr/>
          <p:nvPr/>
        </p:nvSpPr>
        <p:spPr>
          <a:xfrm>
            <a:off x="6172200" y="4709160"/>
            <a:ext cx="50749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6172200" y="4709160"/>
            <a:ext cx="54864" cy="8229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6336792" y="484632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Interpretation rule</a:t>
            </a:r>
            <a:endParaRPr lang="en-US" sz="1300" dirty="0"/>
          </a:p>
        </p:txBody>
      </p:sp>
      <p:sp>
        <p:nvSpPr>
          <p:cNvPr id="64" name="Text 61"/>
          <p:cNvSpPr/>
          <p:nvPr/>
        </p:nvSpPr>
        <p:spPr>
          <a:xfrm>
            <a:off x="6336792" y="5193792"/>
            <a:ext cx="48006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334155"/>
                </a:solidFill>
              </a:rPr>
              <a:t>Only successful rows are analyzed. Anthropic error rows should be treated as pipeline/API-call failures, not Claude model performance.</a:t>
            </a:r>
            <a:endParaRPr lang="en-US" sz="1030" dirty="0"/>
          </a:p>
        </p:txBody>
      </p:sp>
      <p:sp>
        <p:nvSpPr>
          <p:cNvPr id="65" name="Text 62"/>
          <p:cNvSpPr/>
          <p:nvPr/>
        </p:nvSpPr>
        <p:spPr>
          <a:xfrm>
            <a:off x="594360" y="6519672"/>
            <a:ext cx="9966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Because all ground-truth labels are Yes, accuracy in this deck means Yes recall rather than full classification performance.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OpenAI complete run: examples improved Yes recall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OpenAI has 44 usable rows: 11 passages across all four prompt variants.</a:t>
            </a:r>
            <a:endParaRPr lang="en-US" sz="108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417320"/>
          <a:ext cx="704088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321040" y="141732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F766E"/>
                </a:solidFill>
              </a:rPr>
              <a:t>TAKEAWAY</a:t>
            </a:r>
            <a:endParaRPr lang="en-US" sz="820" dirty="0"/>
          </a:p>
        </p:txBody>
      </p:sp>
      <p:sp>
        <p:nvSpPr>
          <p:cNvPr id="6" name="Text 3"/>
          <p:cNvSpPr/>
          <p:nvPr/>
        </p:nvSpPr>
        <p:spPr>
          <a:xfrm>
            <a:off x="8321040" y="17647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Best observed prompt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321040" y="20574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Definitions + examples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321040" y="24688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4 / 11 Yes labels recovered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321040" y="2907792"/>
            <a:ext cx="2743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21040" y="3182112"/>
            <a:ext cx="288036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Definitions alone helped, but examples added another gain. Metadata did not improve recall over examples-only in this small file.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321040" y="4617720"/>
            <a:ext cx="2880360" cy="777240"/>
          </a:xfrm>
          <a:prstGeom prst="roundRect">
            <a:avLst>
              <a:gd name="adj" fmla="val 7059"/>
            </a:avLst>
          </a:prstGeom>
          <a:solidFill>
            <a:srgbClr val="FEF3C7"/>
          </a:solidFill>
          <a:ln w="7620">
            <a:solidFill>
              <a:srgbClr val="B4530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03920" y="477316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</a:rPr>
              <a:t>Caution: single-class test set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503920" y="500176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Add No labels before using precision/F1.</a:t>
            </a:r>
            <a:endParaRPr lang="en-US" sz="940" dirty="0"/>
          </a:p>
        </p:txBody>
      </p:sp>
      <p:sp>
        <p:nvSpPr>
          <p:cNvPr id="14" name="Text 11"/>
          <p:cNvSpPr/>
          <p:nvPr/>
        </p:nvSpPr>
        <p:spPr>
          <a:xfrm>
            <a:off x="594360" y="6519672"/>
            <a:ext cx="9966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OpenAI model in file: gpt-5.4-nano. Ground truth has only Yes labels; no false-positive analysis is possible.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OpenAI cost/performance tradeoff favors examples without metadata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metadata variant consumed more tokens but tied examples-only on Yes recall.</a:t>
            </a:r>
            <a:endParaRPr lang="en-US" sz="108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85800" y="1325880"/>
          <a:ext cx="50749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63640" y="1325880"/>
          <a:ext cx="50749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749808" y="544068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Average tokens per passage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6327648" y="544068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Total estimated cost by prompt variant, in milli-dollars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914400" y="5870448"/>
            <a:ext cx="100584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914400" y="5870448"/>
            <a:ext cx="54864" cy="411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78992" y="6007608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Practical decision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078992" y="6355080"/>
            <a:ext cx="9784080" cy="-192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334155"/>
                </a:solidFill>
              </a:rPr>
              <a:t>Choose definitions + examples without metadata as the next baseline: it tied metadata on recall while metadata used about 19.0% more tokens.</a:t>
            </a:r>
            <a:endParaRPr lang="en-US" sz="1030" dirty="0"/>
          </a:p>
        </p:txBody>
      </p:sp>
      <p:sp>
        <p:nvSpPr>
          <p:cNvPr id="12" name="Text 8"/>
          <p:cNvSpPr/>
          <p:nvPr/>
        </p:nvSpPr>
        <p:spPr>
          <a:xfrm>
            <a:off x="594360" y="6519672"/>
            <a:ext cx="9966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OpenAI successful-call total: 100,100 tokens and $0.0226.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Gemini returned partial results; Anthropic rows are not usable yet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results should be shown as pipeline status, not a full cross-LLM comparison.</a:t>
            </a:r>
            <a:endParaRPr lang="en-US" sz="1080" dirty="0"/>
          </a:p>
        </p:txBody>
      </p:sp>
      <p:sp>
        <p:nvSpPr>
          <p:cNvPr id="4" name="Shape 2"/>
          <p:cNvSpPr/>
          <p:nvPr/>
        </p:nvSpPr>
        <p:spPr>
          <a:xfrm>
            <a:off x="713232" y="1371600"/>
            <a:ext cx="21031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490472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41248" y="187452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Gemini successful rows</a:t>
            </a:r>
            <a:endParaRPr lang="en-US" sz="870" dirty="0"/>
          </a:p>
        </p:txBody>
      </p:sp>
      <p:sp>
        <p:nvSpPr>
          <p:cNvPr id="7" name="Shape 5"/>
          <p:cNvSpPr/>
          <p:nvPr/>
        </p:nvSpPr>
        <p:spPr>
          <a:xfrm>
            <a:off x="3063240" y="1371600"/>
            <a:ext cx="21031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91256" y="1490472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B91C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44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191256" y="187452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Anthropic error rows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5413248" y="1371600"/>
            <a:ext cx="21031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41264" y="1490472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B91C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41264" y="187452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Anthropic predictions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7763256" y="1371600"/>
            <a:ext cx="21031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91272" y="1490472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B4530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 / 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891272" y="187452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Gemini variants returned</a:t>
            </a:r>
            <a:endParaRPr lang="en-US" sz="87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777240" y="2880360"/>
          <a:ext cx="475488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6080760" y="2880360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F766E"/>
                </a:solidFill>
              </a:rPr>
              <a:t>WHAT THE PARTIAL GEMINI DATA SAYS</a:t>
            </a:r>
            <a:endParaRPr lang="en-US" sz="820" dirty="0"/>
          </a:p>
        </p:txBody>
      </p:sp>
      <p:sp>
        <p:nvSpPr>
          <p:cNvPr id="18" name="Text 15"/>
          <p:cNvSpPr/>
          <p:nvPr/>
        </p:nvSpPr>
        <p:spPr>
          <a:xfrm>
            <a:off x="6080760" y="3246120"/>
            <a:ext cx="45262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</a:rPr>
              <a:t>Direct: 0/7 correct, 0.0% recall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</a:rPr>
              <a:t>Definitions: 1/2 correct, 50.0% recall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080760" y="4251960"/>
            <a:ext cx="48006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334155"/>
                </a:solidFill>
              </a:rPr>
              <a:t>Gemini cannot be compared fairly with OpenAI yet because only 9 rows returned before quota stopped the run. The examples variants have no Gemini rows in this file.</a:t>
            </a:r>
            <a:endParaRPr lang="en-US" sz="1210" dirty="0"/>
          </a:p>
        </p:txBody>
      </p:sp>
      <p:sp>
        <p:nvSpPr>
          <p:cNvPr id="20" name="Shape 17"/>
          <p:cNvSpPr/>
          <p:nvPr/>
        </p:nvSpPr>
        <p:spPr>
          <a:xfrm>
            <a:off x="6080760" y="5248656"/>
            <a:ext cx="4709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80760" y="54406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91C1C"/>
                </a:solidFill>
              </a:rPr>
              <a:t>Anthropic parse/error note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080760" y="566928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All Anthropic rows have status = error, so the file contains no Claude predictions to score.</a:t>
            </a:r>
            <a:endParaRPr lang="en-US" sz="1080" dirty="0"/>
          </a:p>
        </p:txBody>
      </p:sp>
      <p:sp>
        <p:nvSpPr>
          <p:cNvPr id="23" name="Text 20"/>
          <p:cNvSpPr/>
          <p:nvPr/>
        </p:nvSpPr>
        <p:spPr>
          <a:xfrm>
            <a:off x="594360" y="6519672"/>
            <a:ext cx="9966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Next run should resume only failed/missing Claude and Gemini rows after fixing the Anthropic wrapper and Gemini quota/billing.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Row-level audit: where predictions changed by prompt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OpenAI results are complete; Gemini shown only where the file contains returned rows.</a:t>
            </a:r>
            <a:endParaRPr lang="en-US" sz="108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576072" cy="384048"/>
          </a:xfrm>
          <a:prstGeom prst="rect">
            <a:avLst/>
          </a:prstGeom>
          <a:solidFill>
            <a:srgbClr val="111827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1208" y="1316736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</a:rPr>
              <a:t>Row</a:t>
            </a:r>
            <a:endParaRPr lang="en-US" sz="580" dirty="0"/>
          </a:p>
        </p:txBody>
      </p:sp>
      <p:sp>
        <p:nvSpPr>
          <p:cNvPr id="6" name="Shape 4"/>
          <p:cNvSpPr/>
          <p:nvPr/>
        </p:nvSpPr>
        <p:spPr>
          <a:xfrm>
            <a:off x="1078992" y="1261872"/>
            <a:ext cx="557784" cy="384048"/>
          </a:xfrm>
          <a:prstGeom prst="rect">
            <a:avLst/>
          </a:prstGeom>
          <a:solidFill>
            <a:srgbClr val="111827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316736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</a:rPr>
              <a:t>OAI</a:t>
            </a:r>
            <a:endParaRPr lang="en-US" sz="580" dirty="0"/>
          </a:p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</a:rPr>
              <a:t>Direct</a:t>
            </a:r>
            <a:endParaRPr lang="en-US" sz="580" dirty="0"/>
          </a:p>
        </p:txBody>
      </p:sp>
      <p:sp>
        <p:nvSpPr>
          <p:cNvPr id="8" name="Shape 6"/>
          <p:cNvSpPr/>
          <p:nvPr/>
        </p:nvSpPr>
        <p:spPr>
          <a:xfrm>
            <a:off x="1636776" y="1261872"/>
            <a:ext cx="566928" cy="384048"/>
          </a:xfrm>
          <a:prstGeom prst="rect">
            <a:avLst/>
          </a:prstGeom>
          <a:solidFill>
            <a:srgbClr val="111827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55064" y="1316736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</a:rPr>
              <a:t>OAI</a:t>
            </a:r>
            <a:endParaRPr lang="en-US" sz="580" dirty="0"/>
          </a:p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</a:rPr>
              <a:t>Defs</a:t>
            </a:r>
            <a:endParaRPr lang="en-US" sz="580" dirty="0"/>
          </a:p>
        </p:txBody>
      </p:sp>
      <p:sp>
        <p:nvSpPr>
          <p:cNvPr id="10" name="Shape 8"/>
          <p:cNvSpPr/>
          <p:nvPr/>
        </p:nvSpPr>
        <p:spPr>
          <a:xfrm>
            <a:off x="2203704" y="1261872"/>
            <a:ext cx="658368" cy="384048"/>
          </a:xfrm>
          <a:prstGeom prst="rect">
            <a:avLst/>
          </a:prstGeom>
          <a:solidFill>
            <a:srgbClr val="111827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21992" y="1316736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</a:rPr>
              <a:t>OAI</a:t>
            </a:r>
            <a:endParaRPr lang="en-US" sz="580" dirty="0"/>
          </a:p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</a:rPr>
              <a:t>Ex.</a:t>
            </a:r>
            <a:endParaRPr lang="en-US" sz="580" dirty="0"/>
          </a:p>
        </p:txBody>
      </p:sp>
      <p:sp>
        <p:nvSpPr>
          <p:cNvPr id="12" name="Shape 10"/>
          <p:cNvSpPr/>
          <p:nvPr/>
        </p:nvSpPr>
        <p:spPr>
          <a:xfrm>
            <a:off x="2862072" y="1261872"/>
            <a:ext cx="749808" cy="384048"/>
          </a:xfrm>
          <a:prstGeom prst="rect">
            <a:avLst/>
          </a:prstGeom>
          <a:solidFill>
            <a:srgbClr val="111827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0360" y="1316736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</a:rPr>
              <a:t>OAI</a:t>
            </a:r>
            <a:endParaRPr lang="en-US" sz="580" dirty="0"/>
          </a:p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</a:rPr>
              <a:t>Meta</a:t>
            </a:r>
            <a:endParaRPr lang="en-US" sz="580" dirty="0"/>
          </a:p>
        </p:txBody>
      </p:sp>
      <p:sp>
        <p:nvSpPr>
          <p:cNvPr id="14" name="Shape 12"/>
          <p:cNvSpPr/>
          <p:nvPr/>
        </p:nvSpPr>
        <p:spPr>
          <a:xfrm>
            <a:off x="3611880" y="1261872"/>
            <a:ext cx="658368" cy="384048"/>
          </a:xfrm>
          <a:prstGeom prst="rect">
            <a:avLst/>
          </a:prstGeom>
          <a:solidFill>
            <a:srgbClr val="111827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30168" y="1316736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</a:rPr>
              <a:t>Gem</a:t>
            </a:r>
            <a:endParaRPr lang="en-US" sz="580" dirty="0"/>
          </a:p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</a:rPr>
              <a:t>Direct</a:t>
            </a:r>
            <a:endParaRPr lang="en-US" sz="580" dirty="0"/>
          </a:p>
        </p:txBody>
      </p:sp>
      <p:sp>
        <p:nvSpPr>
          <p:cNvPr id="16" name="Shape 14"/>
          <p:cNvSpPr/>
          <p:nvPr/>
        </p:nvSpPr>
        <p:spPr>
          <a:xfrm>
            <a:off x="4270248" y="1261872"/>
            <a:ext cx="658368" cy="384048"/>
          </a:xfrm>
          <a:prstGeom prst="rect">
            <a:avLst/>
          </a:prstGeom>
          <a:solidFill>
            <a:srgbClr val="111827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88536" y="1316736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</a:rPr>
              <a:t>Gem</a:t>
            </a:r>
            <a:endParaRPr lang="en-US" sz="580" dirty="0"/>
          </a:p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</a:rPr>
              <a:t>Defs</a:t>
            </a:r>
            <a:endParaRPr lang="en-US" sz="580" dirty="0"/>
          </a:p>
        </p:txBody>
      </p:sp>
      <p:sp>
        <p:nvSpPr>
          <p:cNvPr id="18" name="Shape 16"/>
          <p:cNvSpPr/>
          <p:nvPr/>
        </p:nvSpPr>
        <p:spPr>
          <a:xfrm>
            <a:off x="4928616" y="1261872"/>
            <a:ext cx="6199632" cy="384048"/>
          </a:xfrm>
          <a:prstGeom prst="rect">
            <a:avLst/>
          </a:prstGeom>
          <a:solidFill>
            <a:srgbClr val="111827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46904" y="1316736"/>
            <a:ext cx="6163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</a:rPr>
              <a:t>Passage snippet</a:t>
            </a:r>
            <a:endParaRPr lang="en-US" sz="580" dirty="0"/>
          </a:p>
        </p:txBody>
      </p:sp>
      <p:sp>
        <p:nvSpPr>
          <p:cNvPr id="20" name="Shape 18"/>
          <p:cNvSpPr/>
          <p:nvPr/>
        </p:nvSpPr>
        <p:spPr>
          <a:xfrm>
            <a:off x="502920" y="1645920"/>
            <a:ext cx="576072" cy="338328"/>
          </a:xfrm>
          <a:prstGeom prst="rect">
            <a:avLst/>
          </a:prstGeom>
          <a:solidFill>
            <a:srgbClr val="F1F5F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" y="1719072"/>
            <a:ext cx="5303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111827"/>
                </a:solidFill>
              </a:rPr>
              <a:t>14:2</a:t>
            </a:r>
            <a:endParaRPr lang="en-US" sz="610" dirty="0"/>
          </a:p>
        </p:txBody>
      </p:sp>
      <p:sp>
        <p:nvSpPr>
          <p:cNvPr id="22" name="Shape 20"/>
          <p:cNvSpPr/>
          <p:nvPr/>
        </p:nvSpPr>
        <p:spPr>
          <a:xfrm>
            <a:off x="1078992" y="1645920"/>
            <a:ext cx="557784" cy="338328"/>
          </a:xfrm>
          <a:prstGeom prst="rect">
            <a:avLst/>
          </a:prstGeom>
          <a:solidFill>
            <a:srgbClr val="FEE2E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01852" y="1719072"/>
            <a:ext cx="512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B91C1C"/>
                </a:solidFill>
              </a:rPr>
              <a:t>No</a:t>
            </a:r>
            <a:endParaRPr lang="en-US" sz="610" dirty="0"/>
          </a:p>
        </p:txBody>
      </p:sp>
      <p:sp>
        <p:nvSpPr>
          <p:cNvPr id="24" name="Shape 22"/>
          <p:cNvSpPr/>
          <p:nvPr/>
        </p:nvSpPr>
        <p:spPr>
          <a:xfrm>
            <a:off x="1636776" y="1645920"/>
            <a:ext cx="566928" cy="338328"/>
          </a:xfrm>
          <a:prstGeom prst="rect">
            <a:avLst/>
          </a:prstGeom>
          <a:solidFill>
            <a:srgbClr val="DCFCE7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59636" y="1719072"/>
            <a:ext cx="5212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15803D"/>
                </a:solidFill>
              </a:rPr>
              <a:t>Yes</a:t>
            </a:r>
            <a:endParaRPr lang="en-US" sz="610" dirty="0"/>
          </a:p>
        </p:txBody>
      </p:sp>
      <p:sp>
        <p:nvSpPr>
          <p:cNvPr id="26" name="Shape 24"/>
          <p:cNvSpPr/>
          <p:nvPr/>
        </p:nvSpPr>
        <p:spPr>
          <a:xfrm>
            <a:off x="2203704" y="1645920"/>
            <a:ext cx="658368" cy="338328"/>
          </a:xfrm>
          <a:prstGeom prst="rect">
            <a:avLst/>
          </a:prstGeom>
          <a:solidFill>
            <a:srgbClr val="DCFCE7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26564" y="1719072"/>
            <a:ext cx="6126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15803D"/>
                </a:solidFill>
              </a:rPr>
              <a:t>Yes</a:t>
            </a:r>
            <a:endParaRPr lang="en-US" sz="610" dirty="0"/>
          </a:p>
        </p:txBody>
      </p:sp>
      <p:sp>
        <p:nvSpPr>
          <p:cNvPr id="28" name="Shape 26"/>
          <p:cNvSpPr/>
          <p:nvPr/>
        </p:nvSpPr>
        <p:spPr>
          <a:xfrm>
            <a:off x="2862072" y="1645920"/>
            <a:ext cx="749808" cy="338328"/>
          </a:xfrm>
          <a:prstGeom prst="rect">
            <a:avLst/>
          </a:prstGeom>
          <a:solidFill>
            <a:srgbClr val="DCFCE7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84932" y="1719072"/>
            <a:ext cx="704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15803D"/>
                </a:solidFill>
              </a:rPr>
              <a:t>Yes</a:t>
            </a:r>
            <a:endParaRPr lang="en-US" sz="610" dirty="0"/>
          </a:p>
        </p:txBody>
      </p:sp>
      <p:sp>
        <p:nvSpPr>
          <p:cNvPr id="30" name="Shape 28"/>
          <p:cNvSpPr/>
          <p:nvPr/>
        </p:nvSpPr>
        <p:spPr>
          <a:xfrm>
            <a:off x="3611880" y="1645920"/>
            <a:ext cx="658368" cy="338328"/>
          </a:xfrm>
          <a:prstGeom prst="rect">
            <a:avLst/>
          </a:prstGeom>
          <a:solidFill>
            <a:srgbClr val="FEE2E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34740" y="1719072"/>
            <a:ext cx="6126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B91C1C"/>
                </a:solidFill>
              </a:rPr>
              <a:t>No</a:t>
            </a:r>
            <a:endParaRPr lang="en-US" sz="610" dirty="0"/>
          </a:p>
        </p:txBody>
      </p:sp>
      <p:sp>
        <p:nvSpPr>
          <p:cNvPr id="32" name="Shape 30"/>
          <p:cNvSpPr/>
          <p:nvPr/>
        </p:nvSpPr>
        <p:spPr>
          <a:xfrm>
            <a:off x="4270248" y="1645920"/>
            <a:ext cx="658368" cy="338328"/>
          </a:xfrm>
          <a:prstGeom prst="rect">
            <a:avLst/>
          </a:prstGeom>
          <a:solidFill>
            <a:srgbClr val="DCFCE7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93108" y="1719072"/>
            <a:ext cx="6126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15803D"/>
                </a:solidFill>
              </a:rPr>
              <a:t>Yes</a:t>
            </a:r>
            <a:endParaRPr lang="en-US" sz="610" dirty="0"/>
          </a:p>
        </p:txBody>
      </p:sp>
      <p:sp>
        <p:nvSpPr>
          <p:cNvPr id="34" name="Shape 32"/>
          <p:cNvSpPr/>
          <p:nvPr/>
        </p:nvSpPr>
        <p:spPr>
          <a:xfrm>
            <a:off x="4928616" y="1645920"/>
            <a:ext cx="6199632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51476" y="1719072"/>
            <a:ext cx="6153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334155"/>
                </a:solidFill>
              </a:rPr>
              <a:t>Because of FEMA’s mission performance during Hurricane Katrina, concerns have been raised regarding the agency’s organizational placement, includ…</a:t>
            </a:r>
            <a:endParaRPr lang="en-US" sz="570" dirty="0"/>
          </a:p>
        </p:txBody>
      </p:sp>
      <p:sp>
        <p:nvSpPr>
          <p:cNvPr id="36" name="Shape 34"/>
          <p:cNvSpPr/>
          <p:nvPr/>
        </p:nvSpPr>
        <p:spPr>
          <a:xfrm>
            <a:off x="502920" y="1984248"/>
            <a:ext cx="576072" cy="338328"/>
          </a:xfrm>
          <a:prstGeom prst="rect">
            <a:avLst/>
          </a:prstGeom>
          <a:solidFill>
            <a:srgbClr val="F1F5F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5780" y="2057400"/>
            <a:ext cx="5303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111827"/>
                </a:solidFill>
              </a:rPr>
              <a:t>14:3</a:t>
            </a:r>
            <a:endParaRPr lang="en-US" sz="610" dirty="0"/>
          </a:p>
        </p:txBody>
      </p:sp>
      <p:sp>
        <p:nvSpPr>
          <p:cNvPr id="38" name="Shape 36"/>
          <p:cNvSpPr/>
          <p:nvPr/>
        </p:nvSpPr>
        <p:spPr>
          <a:xfrm>
            <a:off x="1078992" y="1984248"/>
            <a:ext cx="557784" cy="338328"/>
          </a:xfrm>
          <a:prstGeom prst="rect">
            <a:avLst/>
          </a:prstGeom>
          <a:solidFill>
            <a:srgbClr val="FEE2E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01852" y="2057400"/>
            <a:ext cx="512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B91C1C"/>
                </a:solidFill>
              </a:rPr>
              <a:t>No</a:t>
            </a:r>
            <a:endParaRPr lang="en-US" sz="610" dirty="0"/>
          </a:p>
        </p:txBody>
      </p:sp>
      <p:sp>
        <p:nvSpPr>
          <p:cNvPr id="40" name="Shape 38"/>
          <p:cNvSpPr/>
          <p:nvPr/>
        </p:nvSpPr>
        <p:spPr>
          <a:xfrm>
            <a:off x="1636776" y="1984248"/>
            <a:ext cx="566928" cy="338328"/>
          </a:xfrm>
          <a:prstGeom prst="rect">
            <a:avLst/>
          </a:prstGeom>
          <a:solidFill>
            <a:srgbClr val="FEE2E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659636" y="2057400"/>
            <a:ext cx="5212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B91C1C"/>
                </a:solidFill>
              </a:rPr>
              <a:t>No</a:t>
            </a:r>
            <a:endParaRPr lang="en-US" sz="610" dirty="0"/>
          </a:p>
        </p:txBody>
      </p:sp>
      <p:sp>
        <p:nvSpPr>
          <p:cNvPr id="42" name="Shape 40"/>
          <p:cNvSpPr/>
          <p:nvPr/>
        </p:nvSpPr>
        <p:spPr>
          <a:xfrm>
            <a:off x="2203704" y="1984248"/>
            <a:ext cx="658368" cy="338328"/>
          </a:xfrm>
          <a:prstGeom prst="rect">
            <a:avLst/>
          </a:prstGeom>
          <a:solidFill>
            <a:srgbClr val="FEE2E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26564" y="2057400"/>
            <a:ext cx="6126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B91C1C"/>
                </a:solidFill>
              </a:rPr>
              <a:t>No</a:t>
            </a:r>
            <a:endParaRPr lang="en-US" sz="610" dirty="0"/>
          </a:p>
        </p:txBody>
      </p:sp>
      <p:sp>
        <p:nvSpPr>
          <p:cNvPr id="44" name="Shape 42"/>
          <p:cNvSpPr/>
          <p:nvPr/>
        </p:nvSpPr>
        <p:spPr>
          <a:xfrm>
            <a:off x="2862072" y="1984248"/>
            <a:ext cx="749808" cy="338328"/>
          </a:xfrm>
          <a:prstGeom prst="rect">
            <a:avLst/>
          </a:prstGeom>
          <a:solidFill>
            <a:srgbClr val="FEE2E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84932" y="2057400"/>
            <a:ext cx="704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B91C1C"/>
                </a:solidFill>
              </a:rPr>
              <a:t>No</a:t>
            </a:r>
            <a:endParaRPr lang="en-US" sz="610" dirty="0"/>
          </a:p>
        </p:txBody>
      </p:sp>
      <p:sp>
        <p:nvSpPr>
          <p:cNvPr id="46" name="Shape 44"/>
          <p:cNvSpPr/>
          <p:nvPr/>
        </p:nvSpPr>
        <p:spPr>
          <a:xfrm>
            <a:off x="3611880" y="1984248"/>
            <a:ext cx="658368" cy="338328"/>
          </a:xfrm>
          <a:prstGeom prst="rect">
            <a:avLst/>
          </a:prstGeom>
          <a:solidFill>
            <a:srgbClr val="F8FAFC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34740" y="2057400"/>
            <a:ext cx="6126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94A3B8"/>
                </a:solidFill>
              </a:rPr>
              <a:t>—</a:t>
            </a:r>
            <a:endParaRPr lang="en-US" sz="610" dirty="0"/>
          </a:p>
        </p:txBody>
      </p:sp>
      <p:sp>
        <p:nvSpPr>
          <p:cNvPr id="48" name="Shape 46"/>
          <p:cNvSpPr/>
          <p:nvPr/>
        </p:nvSpPr>
        <p:spPr>
          <a:xfrm>
            <a:off x="4270248" y="1984248"/>
            <a:ext cx="658368" cy="338328"/>
          </a:xfrm>
          <a:prstGeom prst="rect">
            <a:avLst/>
          </a:prstGeom>
          <a:solidFill>
            <a:srgbClr val="FEE2E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93108" y="2057400"/>
            <a:ext cx="6126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B91C1C"/>
                </a:solidFill>
              </a:rPr>
              <a:t>No</a:t>
            </a:r>
            <a:endParaRPr lang="en-US" sz="610" dirty="0"/>
          </a:p>
        </p:txBody>
      </p:sp>
      <p:sp>
        <p:nvSpPr>
          <p:cNvPr id="50" name="Shape 48"/>
          <p:cNvSpPr/>
          <p:nvPr/>
        </p:nvSpPr>
        <p:spPr>
          <a:xfrm>
            <a:off x="4928616" y="1984248"/>
            <a:ext cx="6199632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51476" y="2057400"/>
            <a:ext cx="6153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334155"/>
                </a:solidFill>
              </a:rPr>
              <a:t>In addition, we have done a great deal of work on prior disasters. In 1993, we conducted several reviews examining the federal response to Hurric…</a:t>
            </a:r>
            <a:endParaRPr lang="en-US" sz="570" dirty="0"/>
          </a:p>
        </p:txBody>
      </p:sp>
      <p:sp>
        <p:nvSpPr>
          <p:cNvPr id="52" name="Shape 50"/>
          <p:cNvSpPr/>
          <p:nvPr/>
        </p:nvSpPr>
        <p:spPr>
          <a:xfrm>
            <a:off x="502920" y="2322576"/>
            <a:ext cx="576072" cy="338328"/>
          </a:xfrm>
          <a:prstGeom prst="rect">
            <a:avLst/>
          </a:prstGeom>
          <a:solidFill>
            <a:srgbClr val="F1F5F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5780" y="2395728"/>
            <a:ext cx="5303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111827"/>
                </a:solidFill>
              </a:rPr>
              <a:t>14:4</a:t>
            </a:r>
            <a:endParaRPr lang="en-US" sz="610" dirty="0"/>
          </a:p>
        </p:txBody>
      </p:sp>
      <p:sp>
        <p:nvSpPr>
          <p:cNvPr id="54" name="Shape 52"/>
          <p:cNvSpPr/>
          <p:nvPr/>
        </p:nvSpPr>
        <p:spPr>
          <a:xfrm>
            <a:off x="1078992" y="2322576"/>
            <a:ext cx="557784" cy="338328"/>
          </a:xfrm>
          <a:prstGeom prst="rect">
            <a:avLst/>
          </a:prstGeom>
          <a:solidFill>
            <a:srgbClr val="FEE2E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101852" y="2395728"/>
            <a:ext cx="512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B91C1C"/>
                </a:solidFill>
              </a:rPr>
              <a:t>No</a:t>
            </a:r>
            <a:endParaRPr lang="en-US" sz="610" dirty="0"/>
          </a:p>
        </p:txBody>
      </p:sp>
      <p:sp>
        <p:nvSpPr>
          <p:cNvPr id="56" name="Shape 54"/>
          <p:cNvSpPr/>
          <p:nvPr/>
        </p:nvSpPr>
        <p:spPr>
          <a:xfrm>
            <a:off x="1636776" y="2322576"/>
            <a:ext cx="566928" cy="338328"/>
          </a:xfrm>
          <a:prstGeom prst="rect">
            <a:avLst/>
          </a:prstGeom>
          <a:solidFill>
            <a:srgbClr val="DCFCE7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659636" y="2395728"/>
            <a:ext cx="5212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15803D"/>
                </a:solidFill>
              </a:rPr>
              <a:t>Yes</a:t>
            </a:r>
            <a:endParaRPr lang="en-US" sz="610" dirty="0"/>
          </a:p>
        </p:txBody>
      </p:sp>
      <p:sp>
        <p:nvSpPr>
          <p:cNvPr id="58" name="Shape 56"/>
          <p:cNvSpPr/>
          <p:nvPr/>
        </p:nvSpPr>
        <p:spPr>
          <a:xfrm>
            <a:off x="2203704" y="2322576"/>
            <a:ext cx="658368" cy="338328"/>
          </a:xfrm>
          <a:prstGeom prst="rect">
            <a:avLst/>
          </a:prstGeom>
          <a:solidFill>
            <a:srgbClr val="DCFCE7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226564" y="2395728"/>
            <a:ext cx="6126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15803D"/>
                </a:solidFill>
              </a:rPr>
              <a:t>Yes</a:t>
            </a:r>
            <a:endParaRPr lang="en-US" sz="610" dirty="0"/>
          </a:p>
        </p:txBody>
      </p:sp>
      <p:sp>
        <p:nvSpPr>
          <p:cNvPr id="60" name="Shape 58"/>
          <p:cNvSpPr/>
          <p:nvPr/>
        </p:nvSpPr>
        <p:spPr>
          <a:xfrm>
            <a:off x="2862072" y="2322576"/>
            <a:ext cx="749808" cy="338328"/>
          </a:xfrm>
          <a:prstGeom prst="rect">
            <a:avLst/>
          </a:prstGeom>
          <a:solidFill>
            <a:srgbClr val="DCFCE7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884932" y="2395728"/>
            <a:ext cx="704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15803D"/>
                </a:solidFill>
              </a:rPr>
              <a:t>Yes</a:t>
            </a:r>
            <a:endParaRPr lang="en-US" sz="610" dirty="0"/>
          </a:p>
        </p:txBody>
      </p:sp>
      <p:sp>
        <p:nvSpPr>
          <p:cNvPr id="62" name="Shape 60"/>
          <p:cNvSpPr/>
          <p:nvPr/>
        </p:nvSpPr>
        <p:spPr>
          <a:xfrm>
            <a:off x="3611880" y="2322576"/>
            <a:ext cx="658368" cy="338328"/>
          </a:xfrm>
          <a:prstGeom prst="rect">
            <a:avLst/>
          </a:prstGeom>
          <a:solidFill>
            <a:srgbClr val="FEE2E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634740" y="2395728"/>
            <a:ext cx="6126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B91C1C"/>
                </a:solidFill>
              </a:rPr>
              <a:t>No</a:t>
            </a:r>
            <a:endParaRPr lang="en-US" sz="610" dirty="0"/>
          </a:p>
        </p:txBody>
      </p:sp>
      <p:sp>
        <p:nvSpPr>
          <p:cNvPr id="64" name="Shape 62"/>
          <p:cNvSpPr/>
          <p:nvPr/>
        </p:nvSpPr>
        <p:spPr>
          <a:xfrm>
            <a:off x="4270248" y="2322576"/>
            <a:ext cx="658368" cy="338328"/>
          </a:xfrm>
          <a:prstGeom prst="rect">
            <a:avLst/>
          </a:prstGeom>
          <a:solidFill>
            <a:srgbClr val="F8FAFC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293108" y="2395728"/>
            <a:ext cx="6126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94A3B8"/>
                </a:solidFill>
              </a:rPr>
              <a:t>—</a:t>
            </a:r>
            <a:endParaRPr lang="en-US" sz="610" dirty="0"/>
          </a:p>
        </p:txBody>
      </p:sp>
      <p:sp>
        <p:nvSpPr>
          <p:cNvPr id="66" name="Shape 64"/>
          <p:cNvSpPr/>
          <p:nvPr/>
        </p:nvSpPr>
        <p:spPr>
          <a:xfrm>
            <a:off x="4928616" y="2322576"/>
            <a:ext cx="6199632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951476" y="2395728"/>
            <a:ext cx="6153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334155"/>
                </a:solidFill>
              </a:rPr>
              <a:t>Because of FEMA’s mission performance during Hurricane Katrina, concerns have been raised regarding the agency’s organizational placement, includ…</a:t>
            </a:r>
            <a:endParaRPr lang="en-US" sz="570" dirty="0"/>
          </a:p>
        </p:txBody>
      </p:sp>
      <p:sp>
        <p:nvSpPr>
          <p:cNvPr id="68" name="Shape 66"/>
          <p:cNvSpPr/>
          <p:nvPr/>
        </p:nvSpPr>
        <p:spPr>
          <a:xfrm>
            <a:off x="502920" y="2660904"/>
            <a:ext cx="576072" cy="338328"/>
          </a:xfrm>
          <a:prstGeom prst="rect">
            <a:avLst/>
          </a:prstGeom>
          <a:solidFill>
            <a:srgbClr val="F1F5F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25780" y="2734056"/>
            <a:ext cx="5303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111827"/>
                </a:solidFill>
              </a:rPr>
              <a:t>14:5</a:t>
            </a:r>
            <a:endParaRPr lang="en-US" sz="610" dirty="0"/>
          </a:p>
        </p:txBody>
      </p:sp>
      <p:sp>
        <p:nvSpPr>
          <p:cNvPr id="70" name="Shape 68"/>
          <p:cNvSpPr/>
          <p:nvPr/>
        </p:nvSpPr>
        <p:spPr>
          <a:xfrm>
            <a:off x="1078992" y="2660904"/>
            <a:ext cx="557784" cy="338328"/>
          </a:xfrm>
          <a:prstGeom prst="rect">
            <a:avLst/>
          </a:prstGeom>
          <a:solidFill>
            <a:srgbClr val="FEE2E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101852" y="2734056"/>
            <a:ext cx="512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B91C1C"/>
                </a:solidFill>
              </a:rPr>
              <a:t>No</a:t>
            </a:r>
            <a:endParaRPr lang="en-US" sz="610" dirty="0"/>
          </a:p>
        </p:txBody>
      </p:sp>
      <p:sp>
        <p:nvSpPr>
          <p:cNvPr id="72" name="Shape 70"/>
          <p:cNvSpPr/>
          <p:nvPr/>
        </p:nvSpPr>
        <p:spPr>
          <a:xfrm>
            <a:off x="1636776" y="2660904"/>
            <a:ext cx="566928" cy="338328"/>
          </a:xfrm>
          <a:prstGeom prst="rect">
            <a:avLst/>
          </a:prstGeom>
          <a:solidFill>
            <a:srgbClr val="FEE2E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659636" y="2734056"/>
            <a:ext cx="5212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B91C1C"/>
                </a:solidFill>
              </a:rPr>
              <a:t>No</a:t>
            </a:r>
            <a:endParaRPr lang="en-US" sz="610" dirty="0"/>
          </a:p>
        </p:txBody>
      </p:sp>
      <p:sp>
        <p:nvSpPr>
          <p:cNvPr id="74" name="Shape 72"/>
          <p:cNvSpPr/>
          <p:nvPr/>
        </p:nvSpPr>
        <p:spPr>
          <a:xfrm>
            <a:off x="2203704" y="2660904"/>
            <a:ext cx="658368" cy="338328"/>
          </a:xfrm>
          <a:prstGeom prst="rect">
            <a:avLst/>
          </a:prstGeom>
          <a:solidFill>
            <a:srgbClr val="FEE2E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226564" y="2734056"/>
            <a:ext cx="6126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B91C1C"/>
                </a:solidFill>
              </a:rPr>
              <a:t>No</a:t>
            </a:r>
            <a:endParaRPr lang="en-US" sz="610" dirty="0"/>
          </a:p>
        </p:txBody>
      </p:sp>
      <p:sp>
        <p:nvSpPr>
          <p:cNvPr id="76" name="Shape 74"/>
          <p:cNvSpPr/>
          <p:nvPr/>
        </p:nvSpPr>
        <p:spPr>
          <a:xfrm>
            <a:off x="2862072" y="2660904"/>
            <a:ext cx="749808" cy="338328"/>
          </a:xfrm>
          <a:prstGeom prst="rect">
            <a:avLst/>
          </a:prstGeom>
          <a:solidFill>
            <a:srgbClr val="FEE2E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884932" y="2734056"/>
            <a:ext cx="704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B91C1C"/>
                </a:solidFill>
              </a:rPr>
              <a:t>No</a:t>
            </a:r>
            <a:endParaRPr lang="en-US" sz="610" dirty="0"/>
          </a:p>
        </p:txBody>
      </p:sp>
      <p:sp>
        <p:nvSpPr>
          <p:cNvPr id="78" name="Shape 76"/>
          <p:cNvSpPr/>
          <p:nvPr/>
        </p:nvSpPr>
        <p:spPr>
          <a:xfrm>
            <a:off x="3611880" y="2660904"/>
            <a:ext cx="658368" cy="338328"/>
          </a:xfrm>
          <a:prstGeom prst="rect">
            <a:avLst/>
          </a:prstGeom>
          <a:solidFill>
            <a:srgbClr val="F8FAFC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634740" y="2734056"/>
            <a:ext cx="6126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94A3B8"/>
                </a:solidFill>
              </a:rPr>
              <a:t>—</a:t>
            </a:r>
            <a:endParaRPr lang="en-US" sz="610" dirty="0"/>
          </a:p>
        </p:txBody>
      </p:sp>
      <p:sp>
        <p:nvSpPr>
          <p:cNvPr id="80" name="Shape 78"/>
          <p:cNvSpPr/>
          <p:nvPr/>
        </p:nvSpPr>
        <p:spPr>
          <a:xfrm>
            <a:off x="4270248" y="2660904"/>
            <a:ext cx="658368" cy="338328"/>
          </a:xfrm>
          <a:prstGeom prst="rect">
            <a:avLst/>
          </a:prstGeom>
          <a:solidFill>
            <a:srgbClr val="F8FAFC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293108" y="2734056"/>
            <a:ext cx="6126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94A3B8"/>
                </a:solidFill>
              </a:rPr>
              <a:t>—</a:t>
            </a:r>
            <a:endParaRPr lang="en-US" sz="610" dirty="0"/>
          </a:p>
        </p:txBody>
      </p:sp>
      <p:sp>
        <p:nvSpPr>
          <p:cNvPr id="82" name="Shape 80"/>
          <p:cNvSpPr/>
          <p:nvPr/>
        </p:nvSpPr>
        <p:spPr>
          <a:xfrm>
            <a:off x="4928616" y="2660904"/>
            <a:ext cx="6199632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951476" y="2734056"/>
            <a:ext cx="6153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334155"/>
                </a:solidFill>
              </a:rPr>
              <a:t>Because it is possible to respond to incidents maturing to catastrophic magnitude in a more proactive manner than surprise catastrophic incidents…</a:t>
            </a:r>
            <a:endParaRPr lang="en-US" sz="570" dirty="0"/>
          </a:p>
        </p:txBody>
      </p:sp>
      <p:sp>
        <p:nvSpPr>
          <p:cNvPr id="84" name="Shape 82"/>
          <p:cNvSpPr/>
          <p:nvPr/>
        </p:nvSpPr>
        <p:spPr>
          <a:xfrm>
            <a:off x="502920" y="2999232"/>
            <a:ext cx="576072" cy="338328"/>
          </a:xfrm>
          <a:prstGeom prst="rect">
            <a:avLst/>
          </a:prstGeom>
          <a:solidFill>
            <a:srgbClr val="F1F5F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25780" y="3072384"/>
            <a:ext cx="5303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111827"/>
                </a:solidFill>
              </a:rPr>
              <a:t>14:6</a:t>
            </a:r>
            <a:endParaRPr lang="en-US" sz="610" dirty="0"/>
          </a:p>
        </p:txBody>
      </p:sp>
      <p:sp>
        <p:nvSpPr>
          <p:cNvPr id="86" name="Shape 84"/>
          <p:cNvSpPr/>
          <p:nvPr/>
        </p:nvSpPr>
        <p:spPr>
          <a:xfrm>
            <a:off x="1078992" y="2999232"/>
            <a:ext cx="557784" cy="338328"/>
          </a:xfrm>
          <a:prstGeom prst="rect">
            <a:avLst/>
          </a:prstGeom>
          <a:solidFill>
            <a:srgbClr val="FEE2E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101852" y="3072384"/>
            <a:ext cx="512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B91C1C"/>
                </a:solidFill>
              </a:rPr>
              <a:t>No</a:t>
            </a:r>
            <a:endParaRPr lang="en-US" sz="610" dirty="0"/>
          </a:p>
        </p:txBody>
      </p:sp>
      <p:sp>
        <p:nvSpPr>
          <p:cNvPr id="88" name="Shape 86"/>
          <p:cNvSpPr/>
          <p:nvPr/>
        </p:nvSpPr>
        <p:spPr>
          <a:xfrm>
            <a:off x="1636776" y="2999232"/>
            <a:ext cx="566928" cy="338328"/>
          </a:xfrm>
          <a:prstGeom prst="rect">
            <a:avLst/>
          </a:prstGeom>
          <a:solidFill>
            <a:srgbClr val="FEE2E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659636" y="3072384"/>
            <a:ext cx="5212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B91C1C"/>
                </a:solidFill>
              </a:rPr>
              <a:t>No</a:t>
            </a:r>
            <a:endParaRPr lang="en-US" sz="610" dirty="0"/>
          </a:p>
        </p:txBody>
      </p:sp>
      <p:sp>
        <p:nvSpPr>
          <p:cNvPr id="90" name="Shape 88"/>
          <p:cNvSpPr/>
          <p:nvPr/>
        </p:nvSpPr>
        <p:spPr>
          <a:xfrm>
            <a:off x="2203704" y="2999232"/>
            <a:ext cx="658368" cy="338328"/>
          </a:xfrm>
          <a:prstGeom prst="rect">
            <a:avLst/>
          </a:prstGeom>
          <a:solidFill>
            <a:srgbClr val="FEE2E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226564" y="3072384"/>
            <a:ext cx="6126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B91C1C"/>
                </a:solidFill>
              </a:rPr>
              <a:t>No</a:t>
            </a:r>
            <a:endParaRPr lang="en-US" sz="610" dirty="0"/>
          </a:p>
        </p:txBody>
      </p:sp>
      <p:sp>
        <p:nvSpPr>
          <p:cNvPr id="92" name="Shape 90"/>
          <p:cNvSpPr/>
          <p:nvPr/>
        </p:nvSpPr>
        <p:spPr>
          <a:xfrm>
            <a:off x="2862072" y="2999232"/>
            <a:ext cx="749808" cy="338328"/>
          </a:xfrm>
          <a:prstGeom prst="rect">
            <a:avLst/>
          </a:prstGeom>
          <a:solidFill>
            <a:srgbClr val="FEE2E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884932" y="3072384"/>
            <a:ext cx="704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B91C1C"/>
                </a:solidFill>
              </a:rPr>
              <a:t>No</a:t>
            </a:r>
            <a:endParaRPr lang="en-US" sz="610" dirty="0"/>
          </a:p>
        </p:txBody>
      </p:sp>
      <p:sp>
        <p:nvSpPr>
          <p:cNvPr id="94" name="Shape 92"/>
          <p:cNvSpPr/>
          <p:nvPr/>
        </p:nvSpPr>
        <p:spPr>
          <a:xfrm>
            <a:off x="3611880" y="2999232"/>
            <a:ext cx="658368" cy="338328"/>
          </a:xfrm>
          <a:prstGeom prst="rect">
            <a:avLst/>
          </a:prstGeom>
          <a:solidFill>
            <a:srgbClr val="FEE2E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634740" y="3072384"/>
            <a:ext cx="6126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B91C1C"/>
                </a:solidFill>
              </a:rPr>
              <a:t>No</a:t>
            </a:r>
            <a:endParaRPr lang="en-US" sz="610" dirty="0"/>
          </a:p>
        </p:txBody>
      </p:sp>
      <p:sp>
        <p:nvSpPr>
          <p:cNvPr id="96" name="Shape 94"/>
          <p:cNvSpPr/>
          <p:nvPr/>
        </p:nvSpPr>
        <p:spPr>
          <a:xfrm>
            <a:off x="4270248" y="2999232"/>
            <a:ext cx="658368" cy="338328"/>
          </a:xfrm>
          <a:prstGeom prst="rect">
            <a:avLst/>
          </a:prstGeom>
          <a:solidFill>
            <a:srgbClr val="F8FAFC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293108" y="3072384"/>
            <a:ext cx="6126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94A3B8"/>
                </a:solidFill>
              </a:rPr>
              <a:t>—</a:t>
            </a:r>
            <a:endParaRPr lang="en-US" sz="610" dirty="0"/>
          </a:p>
        </p:txBody>
      </p:sp>
      <p:sp>
        <p:nvSpPr>
          <p:cNvPr id="98" name="Shape 96"/>
          <p:cNvSpPr/>
          <p:nvPr/>
        </p:nvSpPr>
        <p:spPr>
          <a:xfrm>
            <a:off x="4928616" y="2999232"/>
            <a:ext cx="6199632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951476" y="3072384"/>
            <a:ext cx="6153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334155"/>
                </a:solidFill>
              </a:rPr>
              <a:t>A proactive approach to catastrophic disasters when there is warning is also in keeping with recommendations we made in 1993 following Hurricane …</a:t>
            </a:r>
            <a:endParaRPr lang="en-US" sz="570" dirty="0"/>
          </a:p>
        </p:txBody>
      </p:sp>
      <p:sp>
        <p:nvSpPr>
          <p:cNvPr id="100" name="Shape 98"/>
          <p:cNvSpPr/>
          <p:nvPr/>
        </p:nvSpPr>
        <p:spPr>
          <a:xfrm>
            <a:off x="502920" y="3337560"/>
            <a:ext cx="576072" cy="338328"/>
          </a:xfrm>
          <a:prstGeom prst="rect">
            <a:avLst/>
          </a:prstGeom>
          <a:solidFill>
            <a:srgbClr val="F1F5F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25780" y="3410712"/>
            <a:ext cx="5303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111827"/>
                </a:solidFill>
              </a:rPr>
              <a:t>14:7</a:t>
            </a:r>
            <a:endParaRPr lang="en-US" sz="610" dirty="0"/>
          </a:p>
        </p:txBody>
      </p:sp>
      <p:sp>
        <p:nvSpPr>
          <p:cNvPr id="102" name="Shape 100"/>
          <p:cNvSpPr/>
          <p:nvPr/>
        </p:nvSpPr>
        <p:spPr>
          <a:xfrm>
            <a:off x="1078992" y="3337560"/>
            <a:ext cx="557784" cy="338328"/>
          </a:xfrm>
          <a:prstGeom prst="rect">
            <a:avLst/>
          </a:prstGeom>
          <a:solidFill>
            <a:srgbClr val="DCFCE7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101852" y="3410712"/>
            <a:ext cx="512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15803D"/>
                </a:solidFill>
              </a:rPr>
              <a:t>Yes</a:t>
            </a:r>
            <a:endParaRPr lang="en-US" sz="610" dirty="0"/>
          </a:p>
        </p:txBody>
      </p:sp>
      <p:sp>
        <p:nvSpPr>
          <p:cNvPr id="104" name="Shape 102"/>
          <p:cNvSpPr/>
          <p:nvPr/>
        </p:nvSpPr>
        <p:spPr>
          <a:xfrm>
            <a:off x="1636776" y="3337560"/>
            <a:ext cx="566928" cy="338328"/>
          </a:xfrm>
          <a:prstGeom prst="rect">
            <a:avLst/>
          </a:prstGeom>
          <a:solidFill>
            <a:srgbClr val="FEE2E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659636" y="3410712"/>
            <a:ext cx="5212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B91C1C"/>
                </a:solidFill>
              </a:rPr>
              <a:t>No</a:t>
            </a:r>
            <a:endParaRPr lang="en-US" sz="610" dirty="0"/>
          </a:p>
        </p:txBody>
      </p:sp>
      <p:sp>
        <p:nvSpPr>
          <p:cNvPr id="106" name="Shape 104"/>
          <p:cNvSpPr/>
          <p:nvPr/>
        </p:nvSpPr>
        <p:spPr>
          <a:xfrm>
            <a:off x="2203704" y="3337560"/>
            <a:ext cx="658368" cy="338328"/>
          </a:xfrm>
          <a:prstGeom prst="rect">
            <a:avLst/>
          </a:prstGeom>
          <a:solidFill>
            <a:srgbClr val="DCFCE7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2226564" y="3410712"/>
            <a:ext cx="6126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15803D"/>
                </a:solidFill>
              </a:rPr>
              <a:t>Yes</a:t>
            </a:r>
            <a:endParaRPr lang="en-US" sz="610" dirty="0"/>
          </a:p>
        </p:txBody>
      </p:sp>
      <p:sp>
        <p:nvSpPr>
          <p:cNvPr id="108" name="Shape 106"/>
          <p:cNvSpPr/>
          <p:nvPr/>
        </p:nvSpPr>
        <p:spPr>
          <a:xfrm>
            <a:off x="2862072" y="3337560"/>
            <a:ext cx="749808" cy="338328"/>
          </a:xfrm>
          <a:prstGeom prst="rect">
            <a:avLst/>
          </a:prstGeom>
          <a:solidFill>
            <a:srgbClr val="DCFCE7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884932" y="3410712"/>
            <a:ext cx="704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15803D"/>
                </a:solidFill>
              </a:rPr>
              <a:t>Yes</a:t>
            </a:r>
            <a:endParaRPr lang="en-US" sz="610" dirty="0"/>
          </a:p>
        </p:txBody>
      </p:sp>
      <p:sp>
        <p:nvSpPr>
          <p:cNvPr id="110" name="Shape 108"/>
          <p:cNvSpPr/>
          <p:nvPr/>
        </p:nvSpPr>
        <p:spPr>
          <a:xfrm>
            <a:off x="3611880" y="3337560"/>
            <a:ext cx="658368" cy="338328"/>
          </a:xfrm>
          <a:prstGeom prst="rect">
            <a:avLst/>
          </a:prstGeom>
          <a:solidFill>
            <a:srgbClr val="F8FAFC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3634740" y="3410712"/>
            <a:ext cx="6126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94A3B8"/>
                </a:solidFill>
              </a:rPr>
              <a:t>—</a:t>
            </a:r>
            <a:endParaRPr lang="en-US" sz="610" dirty="0"/>
          </a:p>
        </p:txBody>
      </p:sp>
      <p:sp>
        <p:nvSpPr>
          <p:cNvPr id="112" name="Shape 110"/>
          <p:cNvSpPr/>
          <p:nvPr/>
        </p:nvSpPr>
        <p:spPr>
          <a:xfrm>
            <a:off x="4270248" y="3337560"/>
            <a:ext cx="658368" cy="338328"/>
          </a:xfrm>
          <a:prstGeom prst="rect">
            <a:avLst/>
          </a:prstGeom>
          <a:solidFill>
            <a:srgbClr val="F8FAFC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293108" y="3410712"/>
            <a:ext cx="6126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94A3B8"/>
                </a:solidFill>
              </a:rPr>
              <a:t>—</a:t>
            </a:r>
            <a:endParaRPr lang="en-US" sz="610" dirty="0"/>
          </a:p>
        </p:txBody>
      </p:sp>
      <p:sp>
        <p:nvSpPr>
          <p:cNvPr id="114" name="Shape 112"/>
          <p:cNvSpPr/>
          <p:nvPr/>
        </p:nvSpPr>
        <p:spPr>
          <a:xfrm>
            <a:off x="4928616" y="3337560"/>
            <a:ext cx="6199632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4951476" y="3410712"/>
            <a:ext cx="6153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334155"/>
                </a:solidFill>
              </a:rPr>
              <a:t>I want to emphasize that across these capabilities, streamlining, simplifying, and expediting decision making should quickly replace “business as…</a:t>
            </a:r>
            <a:endParaRPr lang="en-US" sz="570" dirty="0"/>
          </a:p>
        </p:txBody>
      </p:sp>
      <p:sp>
        <p:nvSpPr>
          <p:cNvPr id="116" name="Shape 114"/>
          <p:cNvSpPr/>
          <p:nvPr/>
        </p:nvSpPr>
        <p:spPr>
          <a:xfrm>
            <a:off x="502920" y="3675888"/>
            <a:ext cx="576072" cy="338328"/>
          </a:xfrm>
          <a:prstGeom prst="rect">
            <a:avLst/>
          </a:prstGeom>
          <a:solidFill>
            <a:srgbClr val="F1F5F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525780" y="3749040"/>
            <a:ext cx="5303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111827"/>
                </a:solidFill>
              </a:rPr>
              <a:t>14:8</a:t>
            </a:r>
            <a:endParaRPr lang="en-US" sz="610" dirty="0"/>
          </a:p>
        </p:txBody>
      </p:sp>
      <p:sp>
        <p:nvSpPr>
          <p:cNvPr id="118" name="Shape 116"/>
          <p:cNvSpPr/>
          <p:nvPr/>
        </p:nvSpPr>
        <p:spPr>
          <a:xfrm>
            <a:off x="1078992" y="3675888"/>
            <a:ext cx="557784" cy="338328"/>
          </a:xfrm>
          <a:prstGeom prst="rect">
            <a:avLst/>
          </a:prstGeom>
          <a:solidFill>
            <a:srgbClr val="FEE2E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1101852" y="3749040"/>
            <a:ext cx="512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B91C1C"/>
                </a:solidFill>
              </a:rPr>
              <a:t>No</a:t>
            </a:r>
            <a:endParaRPr lang="en-US" sz="610" dirty="0"/>
          </a:p>
        </p:txBody>
      </p:sp>
      <p:sp>
        <p:nvSpPr>
          <p:cNvPr id="120" name="Shape 118"/>
          <p:cNvSpPr/>
          <p:nvPr/>
        </p:nvSpPr>
        <p:spPr>
          <a:xfrm>
            <a:off x="1636776" y="3675888"/>
            <a:ext cx="566928" cy="338328"/>
          </a:xfrm>
          <a:prstGeom prst="rect">
            <a:avLst/>
          </a:prstGeom>
          <a:solidFill>
            <a:srgbClr val="FEE2E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659636" y="3749040"/>
            <a:ext cx="5212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B91C1C"/>
                </a:solidFill>
              </a:rPr>
              <a:t>No</a:t>
            </a:r>
            <a:endParaRPr lang="en-US" sz="610" dirty="0"/>
          </a:p>
        </p:txBody>
      </p:sp>
      <p:sp>
        <p:nvSpPr>
          <p:cNvPr id="122" name="Shape 120"/>
          <p:cNvSpPr/>
          <p:nvPr/>
        </p:nvSpPr>
        <p:spPr>
          <a:xfrm>
            <a:off x="2203704" y="3675888"/>
            <a:ext cx="658368" cy="338328"/>
          </a:xfrm>
          <a:prstGeom prst="rect">
            <a:avLst/>
          </a:prstGeom>
          <a:solidFill>
            <a:srgbClr val="FEE2E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2226564" y="3749040"/>
            <a:ext cx="6126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B91C1C"/>
                </a:solidFill>
              </a:rPr>
              <a:t>No</a:t>
            </a:r>
            <a:endParaRPr lang="en-US" sz="610" dirty="0"/>
          </a:p>
        </p:txBody>
      </p:sp>
      <p:sp>
        <p:nvSpPr>
          <p:cNvPr id="124" name="Shape 122"/>
          <p:cNvSpPr/>
          <p:nvPr/>
        </p:nvSpPr>
        <p:spPr>
          <a:xfrm>
            <a:off x="2862072" y="3675888"/>
            <a:ext cx="749808" cy="338328"/>
          </a:xfrm>
          <a:prstGeom prst="rect">
            <a:avLst/>
          </a:prstGeom>
          <a:solidFill>
            <a:srgbClr val="FEE2E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2884932" y="3749040"/>
            <a:ext cx="704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B91C1C"/>
                </a:solidFill>
              </a:rPr>
              <a:t>No</a:t>
            </a:r>
            <a:endParaRPr lang="en-US" sz="610" dirty="0"/>
          </a:p>
        </p:txBody>
      </p:sp>
      <p:sp>
        <p:nvSpPr>
          <p:cNvPr id="126" name="Shape 124"/>
          <p:cNvSpPr/>
          <p:nvPr/>
        </p:nvSpPr>
        <p:spPr>
          <a:xfrm>
            <a:off x="3611880" y="3675888"/>
            <a:ext cx="658368" cy="338328"/>
          </a:xfrm>
          <a:prstGeom prst="rect">
            <a:avLst/>
          </a:prstGeom>
          <a:solidFill>
            <a:srgbClr val="FEE2E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3634740" y="3749040"/>
            <a:ext cx="6126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B91C1C"/>
                </a:solidFill>
              </a:rPr>
              <a:t>No</a:t>
            </a:r>
            <a:endParaRPr lang="en-US" sz="610" dirty="0"/>
          </a:p>
        </p:txBody>
      </p:sp>
      <p:sp>
        <p:nvSpPr>
          <p:cNvPr id="128" name="Shape 126"/>
          <p:cNvSpPr/>
          <p:nvPr/>
        </p:nvSpPr>
        <p:spPr>
          <a:xfrm>
            <a:off x="4270248" y="3675888"/>
            <a:ext cx="658368" cy="338328"/>
          </a:xfrm>
          <a:prstGeom prst="rect">
            <a:avLst/>
          </a:prstGeom>
          <a:solidFill>
            <a:srgbClr val="F8FAFC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4293108" y="3749040"/>
            <a:ext cx="6126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94A3B8"/>
                </a:solidFill>
              </a:rPr>
              <a:t>—</a:t>
            </a:r>
            <a:endParaRPr lang="en-US" sz="610" dirty="0"/>
          </a:p>
        </p:txBody>
      </p:sp>
      <p:sp>
        <p:nvSpPr>
          <p:cNvPr id="130" name="Shape 128"/>
          <p:cNvSpPr/>
          <p:nvPr/>
        </p:nvSpPr>
        <p:spPr>
          <a:xfrm>
            <a:off x="4928616" y="3675888"/>
            <a:ext cx="6199632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4951476" y="3749040"/>
            <a:ext cx="6153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334155"/>
                </a:solidFill>
              </a:rPr>
              <a:t>Our work on interoperable communications identified problem definition, performance goals and standards, and defining the roles of federal, state…</a:t>
            </a:r>
            <a:endParaRPr lang="en-US" sz="570" dirty="0"/>
          </a:p>
        </p:txBody>
      </p:sp>
      <p:sp>
        <p:nvSpPr>
          <p:cNvPr id="132" name="Shape 130"/>
          <p:cNvSpPr/>
          <p:nvPr/>
        </p:nvSpPr>
        <p:spPr>
          <a:xfrm>
            <a:off x="502920" y="4014216"/>
            <a:ext cx="576072" cy="338328"/>
          </a:xfrm>
          <a:prstGeom prst="rect">
            <a:avLst/>
          </a:prstGeom>
          <a:solidFill>
            <a:srgbClr val="F1F5F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525780" y="4087368"/>
            <a:ext cx="5303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111827"/>
                </a:solidFill>
              </a:rPr>
              <a:t>14:9</a:t>
            </a:r>
            <a:endParaRPr lang="en-US" sz="610" dirty="0"/>
          </a:p>
        </p:txBody>
      </p:sp>
      <p:sp>
        <p:nvSpPr>
          <p:cNvPr id="134" name="Shape 132"/>
          <p:cNvSpPr/>
          <p:nvPr/>
        </p:nvSpPr>
        <p:spPr>
          <a:xfrm>
            <a:off x="1078992" y="4014216"/>
            <a:ext cx="557784" cy="338328"/>
          </a:xfrm>
          <a:prstGeom prst="rect">
            <a:avLst/>
          </a:prstGeom>
          <a:solidFill>
            <a:srgbClr val="FEE2E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1101852" y="4087368"/>
            <a:ext cx="512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B91C1C"/>
                </a:solidFill>
              </a:rPr>
              <a:t>No</a:t>
            </a:r>
            <a:endParaRPr lang="en-US" sz="610" dirty="0"/>
          </a:p>
        </p:txBody>
      </p:sp>
      <p:sp>
        <p:nvSpPr>
          <p:cNvPr id="136" name="Shape 134"/>
          <p:cNvSpPr/>
          <p:nvPr/>
        </p:nvSpPr>
        <p:spPr>
          <a:xfrm>
            <a:off x="1636776" y="4014216"/>
            <a:ext cx="566928" cy="338328"/>
          </a:xfrm>
          <a:prstGeom prst="rect">
            <a:avLst/>
          </a:prstGeom>
          <a:solidFill>
            <a:srgbClr val="FEE2E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1659636" y="4087368"/>
            <a:ext cx="5212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B91C1C"/>
                </a:solidFill>
              </a:rPr>
              <a:t>No</a:t>
            </a:r>
            <a:endParaRPr lang="en-US" sz="610" dirty="0"/>
          </a:p>
        </p:txBody>
      </p:sp>
      <p:sp>
        <p:nvSpPr>
          <p:cNvPr id="138" name="Shape 136"/>
          <p:cNvSpPr/>
          <p:nvPr/>
        </p:nvSpPr>
        <p:spPr>
          <a:xfrm>
            <a:off x="2203704" y="4014216"/>
            <a:ext cx="658368" cy="338328"/>
          </a:xfrm>
          <a:prstGeom prst="rect">
            <a:avLst/>
          </a:prstGeom>
          <a:solidFill>
            <a:srgbClr val="FEE2E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2226564" y="4087368"/>
            <a:ext cx="6126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B91C1C"/>
                </a:solidFill>
              </a:rPr>
              <a:t>No</a:t>
            </a:r>
            <a:endParaRPr lang="en-US" sz="610" dirty="0"/>
          </a:p>
        </p:txBody>
      </p:sp>
      <p:sp>
        <p:nvSpPr>
          <p:cNvPr id="140" name="Shape 138"/>
          <p:cNvSpPr/>
          <p:nvPr/>
        </p:nvSpPr>
        <p:spPr>
          <a:xfrm>
            <a:off x="2862072" y="4014216"/>
            <a:ext cx="749808" cy="338328"/>
          </a:xfrm>
          <a:prstGeom prst="rect">
            <a:avLst/>
          </a:prstGeom>
          <a:solidFill>
            <a:srgbClr val="FEE2E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2884932" y="4087368"/>
            <a:ext cx="704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B91C1C"/>
                </a:solidFill>
              </a:rPr>
              <a:t>No</a:t>
            </a:r>
            <a:endParaRPr lang="en-US" sz="610" dirty="0"/>
          </a:p>
        </p:txBody>
      </p:sp>
      <p:sp>
        <p:nvSpPr>
          <p:cNvPr id="142" name="Shape 140"/>
          <p:cNvSpPr/>
          <p:nvPr/>
        </p:nvSpPr>
        <p:spPr>
          <a:xfrm>
            <a:off x="3611880" y="4014216"/>
            <a:ext cx="658368" cy="338328"/>
          </a:xfrm>
          <a:prstGeom prst="rect">
            <a:avLst/>
          </a:prstGeom>
          <a:solidFill>
            <a:srgbClr val="FEE2E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3634740" y="4087368"/>
            <a:ext cx="6126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B91C1C"/>
                </a:solidFill>
              </a:rPr>
              <a:t>No</a:t>
            </a:r>
            <a:endParaRPr lang="en-US" sz="610" dirty="0"/>
          </a:p>
        </p:txBody>
      </p:sp>
      <p:sp>
        <p:nvSpPr>
          <p:cNvPr id="144" name="Shape 142"/>
          <p:cNvSpPr/>
          <p:nvPr/>
        </p:nvSpPr>
        <p:spPr>
          <a:xfrm>
            <a:off x="4270248" y="4014216"/>
            <a:ext cx="658368" cy="338328"/>
          </a:xfrm>
          <a:prstGeom prst="rect">
            <a:avLst/>
          </a:prstGeom>
          <a:solidFill>
            <a:srgbClr val="F8FAFC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4293108" y="4087368"/>
            <a:ext cx="6126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94A3B8"/>
                </a:solidFill>
              </a:rPr>
              <a:t>—</a:t>
            </a:r>
            <a:endParaRPr lang="en-US" sz="610" dirty="0"/>
          </a:p>
        </p:txBody>
      </p:sp>
      <p:sp>
        <p:nvSpPr>
          <p:cNvPr id="146" name="Shape 144"/>
          <p:cNvSpPr/>
          <p:nvPr/>
        </p:nvSpPr>
        <p:spPr>
          <a:xfrm>
            <a:off x="4928616" y="4014216"/>
            <a:ext cx="6199632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4951476" y="4087368"/>
            <a:ext cx="6153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334155"/>
                </a:solidFill>
              </a:rPr>
              <a:t>Damage and needs assessment: Damage and needs assessment is the capability to immediately conduct damage assessments of infrastructure and to est…</a:t>
            </a:r>
            <a:endParaRPr lang="en-US" sz="570" dirty="0"/>
          </a:p>
        </p:txBody>
      </p:sp>
      <p:sp>
        <p:nvSpPr>
          <p:cNvPr id="148" name="Shape 146"/>
          <p:cNvSpPr/>
          <p:nvPr/>
        </p:nvSpPr>
        <p:spPr>
          <a:xfrm>
            <a:off x="502920" y="4352544"/>
            <a:ext cx="576072" cy="338328"/>
          </a:xfrm>
          <a:prstGeom prst="rect">
            <a:avLst/>
          </a:prstGeom>
          <a:solidFill>
            <a:srgbClr val="F1F5F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525780" y="4425696"/>
            <a:ext cx="5303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111827"/>
                </a:solidFill>
              </a:rPr>
              <a:t>14:12</a:t>
            </a:r>
            <a:endParaRPr lang="en-US" sz="610" dirty="0"/>
          </a:p>
        </p:txBody>
      </p:sp>
      <p:sp>
        <p:nvSpPr>
          <p:cNvPr id="150" name="Shape 148"/>
          <p:cNvSpPr/>
          <p:nvPr/>
        </p:nvSpPr>
        <p:spPr>
          <a:xfrm>
            <a:off x="1078992" y="4352544"/>
            <a:ext cx="557784" cy="338328"/>
          </a:xfrm>
          <a:prstGeom prst="rect">
            <a:avLst/>
          </a:prstGeom>
          <a:solidFill>
            <a:srgbClr val="FEE2E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1101852" y="4425696"/>
            <a:ext cx="512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B91C1C"/>
                </a:solidFill>
              </a:rPr>
              <a:t>No</a:t>
            </a:r>
            <a:endParaRPr lang="en-US" sz="610" dirty="0"/>
          </a:p>
        </p:txBody>
      </p:sp>
      <p:sp>
        <p:nvSpPr>
          <p:cNvPr id="152" name="Shape 150"/>
          <p:cNvSpPr/>
          <p:nvPr/>
        </p:nvSpPr>
        <p:spPr>
          <a:xfrm>
            <a:off x="1636776" y="4352544"/>
            <a:ext cx="566928" cy="338328"/>
          </a:xfrm>
          <a:prstGeom prst="rect">
            <a:avLst/>
          </a:prstGeom>
          <a:solidFill>
            <a:srgbClr val="DCFCE7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1659636" y="4425696"/>
            <a:ext cx="5212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15803D"/>
                </a:solidFill>
              </a:rPr>
              <a:t>Yes</a:t>
            </a:r>
            <a:endParaRPr lang="en-US" sz="610" dirty="0"/>
          </a:p>
        </p:txBody>
      </p:sp>
      <p:sp>
        <p:nvSpPr>
          <p:cNvPr id="154" name="Shape 152"/>
          <p:cNvSpPr/>
          <p:nvPr/>
        </p:nvSpPr>
        <p:spPr>
          <a:xfrm>
            <a:off x="2203704" y="4352544"/>
            <a:ext cx="658368" cy="338328"/>
          </a:xfrm>
          <a:prstGeom prst="rect">
            <a:avLst/>
          </a:prstGeom>
          <a:solidFill>
            <a:srgbClr val="DCFCE7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2226564" y="4425696"/>
            <a:ext cx="6126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15803D"/>
                </a:solidFill>
              </a:rPr>
              <a:t>Yes</a:t>
            </a:r>
            <a:endParaRPr lang="en-US" sz="610" dirty="0"/>
          </a:p>
        </p:txBody>
      </p:sp>
      <p:sp>
        <p:nvSpPr>
          <p:cNvPr id="156" name="Shape 154"/>
          <p:cNvSpPr/>
          <p:nvPr/>
        </p:nvSpPr>
        <p:spPr>
          <a:xfrm>
            <a:off x="2862072" y="4352544"/>
            <a:ext cx="749808" cy="338328"/>
          </a:xfrm>
          <a:prstGeom prst="rect">
            <a:avLst/>
          </a:prstGeom>
          <a:solidFill>
            <a:srgbClr val="DCFCE7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2884932" y="4425696"/>
            <a:ext cx="704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15803D"/>
                </a:solidFill>
              </a:rPr>
              <a:t>Yes</a:t>
            </a:r>
            <a:endParaRPr lang="en-US" sz="610" dirty="0"/>
          </a:p>
        </p:txBody>
      </p:sp>
      <p:sp>
        <p:nvSpPr>
          <p:cNvPr id="158" name="Shape 156"/>
          <p:cNvSpPr/>
          <p:nvPr/>
        </p:nvSpPr>
        <p:spPr>
          <a:xfrm>
            <a:off x="3611880" y="4352544"/>
            <a:ext cx="658368" cy="338328"/>
          </a:xfrm>
          <a:prstGeom prst="rect">
            <a:avLst/>
          </a:prstGeom>
          <a:solidFill>
            <a:srgbClr val="FEE2E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3634740" y="4425696"/>
            <a:ext cx="6126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B91C1C"/>
                </a:solidFill>
              </a:rPr>
              <a:t>No</a:t>
            </a:r>
            <a:endParaRPr lang="en-US" sz="610" dirty="0"/>
          </a:p>
        </p:txBody>
      </p:sp>
      <p:sp>
        <p:nvSpPr>
          <p:cNvPr id="160" name="Shape 158"/>
          <p:cNvSpPr/>
          <p:nvPr/>
        </p:nvSpPr>
        <p:spPr>
          <a:xfrm>
            <a:off x="4270248" y="4352544"/>
            <a:ext cx="658368" cy="338328"/>
          </a:xfrm>
          <a:prstGeom prst="rect">
            <a:avLst/>
          </a:prstGeom>
          <a:solidFill>
            <a:srgbClr val="F8FAFC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4293108" y="4425696"/>
            <a:ext cx="6126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94A3B8"/>
                </a:solidFill>
              </a:rPr>
              <a:t>—</a:t>
            </a:r>
            <a:endParaRPr lang="en-US" sz="610" dirty="0"/>
          </a:p>
        </p:txBody>
      </p:sp>
      <p:sp>
        <p:nvSpPr>
          <p:cNvPr id="162" name="Shape 160"/>
          <p:cNvSpPr/>
          <p:nvPr/>
        </p:nvSpPr>
        <p:spPr>
          <a:xfrm>
            <a:off x="4928616" y="4352544"/>
            <a:ext cx="6199632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4951476" y="4425696"/>
            <a:ext cx="6153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334155"/>
                </a:solidFill>
              </a:rPr>
              <a:t>Because of FEMA’s mission performance during Hurricane Katrina, concerns have been raised regarding the agency’s organizational placement, includ…</a:t>
            </a:r>
            <a:endParaRPr lang="en-US" sz="570" dirty="0"/>
          </a:p>
        </p:txBody>
      </p:sp>
      <p:sp>
        <p:nvSpPr>
          <p:cNvPr id="164" name="Shape 162"/>
          <p:cNvSpPr/>
          <p:nvPr/>
        </p:nvSpPr>
        <p:spPr>
          <a:xfrm>
            <a:off x="502920" y="4690872"/>
            <a:ext cx="576072" cy="338328"/>
          </a:xfrm>
          <a:prstGeom prst="rect">
            <a:avLst/>
          </a:prstGeom>
          <a:solidFill>
            <a:srgbClr val="F1F5F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525780" y="4764024"/>
            <a:ext cx="5303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111827"/>
                </a:solidFill>
              </a:rPr>
              <a:t>14:13</a:t>
            </a:r>
            <a:endParaRPr lang="en-US" sz="610" dirty="0"/>
          </a:p>
        </p:txBody>
      </p:sp>
      <p:sp>
        <p:nvSpPr>
          <p:cNvPr id="166" name="Shape 164"/>
          <p:cNvSpPr/>
          <p:nvPr/>
        </p:nvSpPr>
        <p:spPr>
          <a:xfrm>
            <a:off x="1078992" y="4690872"/>
            <a:ext cx="557784" cy="338328"/>
          </a:xfrm>
          <a:prstGeom prst="rect">
            <a:avLst/>
          </a:prstGeom>
          <a:solidFill>
            <a:srgbClr val="FEE2E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1101852" y="4764024"/>
            <a:ext cx="512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B91C1C"/>
                </a:solidFill>
              </a:rPr>
              <a:t>No</a:t>
            </a:r>
            <a:endParaRPr lang="en-US" sz="610" dirty="0"/>
          </a:p>
        </p:txBody>
      </p:sp>
      <p:sp>
        <p:nvSpPr>
          <p:cNvPr id="168" name="Shape 166"/>
          <p:cNvSpPr/>
          <p:nvPr/>
        </p:nvSpPr>
        <p:spPr>
          <a:xfrm>
            <a:off x="1636776" y="4690872"/>
            <a:ext cx="566928" cy="338328"/>
          </a:xfrm>
          <a:prstGeom prst="rect">
            <a:avLst/>
          </a:prstGeom>
          <a:solidFill>
            <a:srgbClr val="FEE2E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1659636" y="4764024"/>
            <a:ext cx="5212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B91C1C"/>
                </a:solidFill>
              </a:rPr>
              <a:t>No</a:t>
            </a:r>
            <a:endParaRPr lang="en-US" sz="610" dirty="0"/>
          </a:p>
        </p:txBody>
      </p:sp>
      <p:sp>
        <p:nvSpPr>
          <p:cNvPr id="170" name="Shape 168"/>
          <p:cNvSpPr/>
          <p:nvPr/>
        </p:nvSpPr>
        <p:spPr>
          <a:xfrm>
            <a:off x="2203704" y="4690872"/>
            <a:ext cx="658368" cy="338328"/>
          </a:xfrm>
          <a:prstGeom prst="rect">
            <a:avLst/>
          </a:prstGeom>
          <a:solidFill>
            <a:srgbClr val="FEE2E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2226564" y="4764024"/>
            <a:ext cx="6126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B91C1C"/>
                </a:solidFill>
              </a:rPr>
              <a:t>No</a:t>
            </a:r>
            <a:endParaRPr lang="en-US" sz="610" dirty="0"/>
          </a:p>
        </p:txBody>
      </p:sp>
      <p:sp>
        <p:nvSpPr>
          <p:cNvPr id="172" name="Shape 170"/>
          <p:cNvSpPr/>
          <p:nvPr/>
        </p:nvSpPr>
        <p:spPr>
          <a:xfrm>
            <a:off x="2862072" y="4690872"/>
            <a:ext cx="749808" cy="338328"/>
          </a:xfrm>
          <a:prstGeom prst="rect">
            <a:avLst/>
          </a:prstGeom>
          <a:solidFill>
            <a:srgbClr val="FEE2E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2884932" y="4764024"/>
            <a:ext cx="704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B91C1C"/>
                </a:solidFill>
              </a:rPr>
              <a:t>No</a:t>
            </a:r>
            <a:endParaRPr lang="en-US" sz="610" dirty="0"/>
          </a:p>
        </p:txBody>
      </p:sp>
      <p:sp>
        <p:nvSpPr>
          <p:cNvPr id="174" name="Shape 172"/>
          <p:cNvSpPr/>
          <p:nvPr/>
        </p:nvSpPr>
        <p:spPr>
          <a:xfrm>
            <a:off x="3611880" y="4690872"/>
            <a:ext cx="658368" cy="338328"/>
          </a:xfrm>
          <a:prstGeom prst="rect">
            <a:avLst/>
          </a:prstGeom>
          <a:solidFill>
            <a:srgbClr val="F8FAFC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3634740" y="4764024"/>
            <a:ext cx="6126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94A3B8"/>
                </a:solidFill>
              </a:rPr>
              <a:t>—</a:t>
            </a:r>
            <a:endParaRPr lang="en-US" sz="610" dirty="0"/>
          </a:p>
        </p:txBody>
      </p:sp>
      <p:sp>
        <p:nvSpPr>
          <p:cNvPr id="176" name="Shape 174"/>
          <p:cNvSpPr/>
          <p:nvPr/>
        </p:nvSpPr>
        <p:spPr>
          <a:xfrm>
            <a:off x="4270248" y="4690872"/>
            <a:ext cx="658368" cy="338328"/>
          </a:xfrm>
          <a:prstGeom prst="rect">
            <a:avLst/>
          </a:prstGeom>
          <a:solidFill>
            <a:srgbClr val="F8FAFC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4293108" y="4764024"/>
            <a:ext cx="6126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94A3B8"/>
                </a:solidFill>
              </a:rPr>
              <a:t>—</a:t>
            </a:r>
            <a:endParaRPr lang="en-US" sz="610" dirty="0"/>
          </a:p>
        </p:txBody>
      </p:sp>
      <p:sp>
        <p:nvSpPr>
          <p:cNvPr id="178" name="Shape 176"/>
          <p:cNvSpPr/>
          <p:nvPr/>
        </p:nvSpPr>
        <p:spPr>
          <a:xfrm>
            <a:off x="4928616" y="4690872"/>
            <a:ext cx="6199632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4951476" y="4764024"/>
            <a:ext cx="6153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334155"/>
                </a:solidFill>
              </a:rPr>
              <a:t>The health care infrastructure in the New Orleans area, including emergency, hospital and clinic facilities, was significantly damaged by Hurrica…</a:t>
            </a:r>
            <a:endParaRPr lang="en-US" sz="570" dirty="0"/>
          </a:p>
        </p:txBody>
      </p:sp>
      <p:sp>
        <p:nvSpPr>
          <p:cNvPr id="180" name="Shape 178"/>
          <p:cNvSpPr/>
          <p:nvPr/>
        </p:nvSpPr>
        <p:spPr>
          <a:xfrm>
            <a:off x="502920" y="5029200"/>
            <a:ext cx="576072" cy="338328"/>
          </a:xfrm>
          <a:prstGeom prst="rect">
            <a:avLst/>
          </a:prstGeom>
          <a:solidFill>
            <a:srgbClr val="F1F5F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525780" y="5102352"/>
            <a:ext cx="5303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111827"/>
                </a:solidFill>
              </a:rPr>
              <a:t>14:14</a:t>
            </a:r>
            <a:endParaRPr lang="en-US" sz="610" dirty="0"/>
          </a:p>
        </p:txBody>
      </p:sp>
      <p:sp>
        <p:nvSpPr>
          <p:cNvPr id="182" name="Shape 180"/>
          <p:cNvSpPr/>
          <p:nvPr/>
        </p:nvSpPr>
        <p:spPr>
          <a:xfrm>
            <a:off x="1078992" y="5029200"/>
            <a:ext cx="557784" cy="338328"/>
          </a:xfrm>
          <a:prstGeom prst="rect">
            <a:avLst/>
          </a:prstGeom>
          <a:solidFill>
            <a:srgbClr val="FEE2E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1101852" y="5102352"/>
            <a:ext cx="512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B91C1C"/>
                </a:solidFill>
              </a:rPr>
              <a:t>No</a:t>
            </a:r>
            <a:endParaRPr lang="en-US" sz="610" dirty="0"/>
          </a:p>
        </p:txBody>
      </p:sp>
      <p:sp>
        <p:nvSpPr>
          <p:cNvPr id="184" name="Shape 182"/>
          <p:cNvSpPr/>
          <p:nvPr/>
        </p:nvSpPr>
        <p:spPr>
          <a:xfrm>
            <a:off x="1636776" y="5029200"/>
            <a:ext cx="566928" cy="338328"/>
          </a:xfrm>
          <a:prstGeom prst="rect">
            <a:avLst/>
          </a:prstGeom>
          <a:solidFill>
            <a:srgbClr val="FEE2E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1659636" y="5102352"/>
            <a:ext cx="5212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B91C1C"/>
                </a:solidFill>
              </a:rPr>
              <a:t>No</a:t>
            </a:r>
            <a:endParaRPr lang="en-US" sz="610" dirty="0"/>
          </a:p>
        </p:txBody>
      </p:sp>
      <p:sp>
        <p:nvSpPr>
          <p:cNvPr id="186" name="Shape 184"/>
          <p:cNvSpPr/>
          <p:nvPr/>
        </p:nvSpPr>
        <p:spPr>
          <a:xfrm>
            <a:off x="2203704" y="5029200"/>
            <a:ext cx="658368" cy="338328"/>
          </a:xfrm>
          <a:prstGeom prst="rect">
            <a:avLst/>
          </a:prstGeom>
          <a:solidFill>
            <a:srgbClr val="FEE2E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2226564" y="5102352"/>
            <a:ext cx="6126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B91C1C"/>
                </a:solidFill>
              </a:rPr>
              <a:t>No</a:t>
            </a:r>
            <a:endParaRPr lang="en-US" sz="610" dirty="0"/>
          </a:p>
        </p:txBody>
      </p:sp>
      <p:sp>
        <p:nvSpPr>
          <p:cNvPr id="188" name="Shape 186"/>
          <p:cNvSpPr/>
          <p:nvPr/>
        </p:nvSpPr>
        <p:spPr>
          <a:xfrm>
            <a:off x="2862072" y="5029200"/>
            <a:ext cx="749808" cy="338328"/>
          </a:xfrm>
          <a:prstGeom prst="rect">
            <a:avLst/>
          </a:prstGeom>
          <a:solidFill>
            <a:srgbClr val="FEE2E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2884932" y="5102352"/>
            <a:ext cx="704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B91C1C"/>
                </a:solidFill>
              </a:rPr>
              <a:t>No</a:t>
            </a:r>
            <a:endParaRPr lang="en-US" sz="610" dirty="0"/>
          </a:p>
        </p:txBody>
      </p:sp>
      <p:sp>
        <p:nvSpPr>
          <p:cNvPr id="190" name="Shape 188"/>
          <p:cNvSpPr/>
          <p:nvPr/>
        </p:nvSpPr>
        <p:spPr>
          <a:xfrm>
            <a:off x="3611880" y="5029200"/>
            <a:ext cx="658368" cy="338328"/>
          </a:xfrm>
          <a:prstGeom prst="rect">
            <a:avLst/>
          </a:prstGeom>
          <a:solidFill>
            <a:srgbClr val="FEE2E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3634740" y="5102352"/>
            <a:ext cx="6126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B91C1C"/>
                </a:solidFill>
              </a:rPr>
              <a:t>No</a:t>
            </a:r>
            <a:endParaRPr lang="en-US" sz="610" dirty="0"/>
          </a:p>
        </p:txBody>
      </p:sp>
      <p:sp>
        <p:nvSpPr>
          <p:cNvPr id="192" name="Shape 190"/>
          <p:cNvSpPr/>
          <p:nvPr/>
        </p:nvSpPr>
        <p:spPr>
          <a:xfrm>
            <a:off x="4270248" y="5029200"/>
            <a:ext cx="658368" cy="338328"/>
          </a:xfrm>
          <a:prstGeom prst="rect">
            <a:avLst/>
          </a:prstGeom>
          <a:solidFill>
            <a:srgbClr val="F8FAFC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4293108" y="5102352"/>
            <a:ext cx="6126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94A3B8"/>
                </a:solidFill>
              </a:rPr>
              <a:t>—</a:t>
            </a:r>
            <a:endParaRPr lang="en-US" sz="610" dirty="0"/>
          </a:p>
        </p:txBody>
      </p:sp>
      <p:sp>
        <p:nvSpPr>
          <p:cNvPr id="194" name="Shape 192"/>
          <p:cNvSpPr/>
          <p:nvPr/>
        </p:nvSpPr>
        <p:spPr>
          <a:xfrm>
            <a:off x="4928616" y="5029200"/>
            <a:ext cx="6199632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4951476" y="5102352"/>
            <a:ext cx="6153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334155"/>
                </a:solidFill>
              </a:rPr>
              <a:t>Over the long term, building a new health care system will be vital to attract people back to New Orleans and ensure its recovery. State, local a…</a:t>
            </a:r>
            <a:endParaRPr lang="en-US" sz="570" dirty="0"/>
          </a:p>
        </p:txBody>
      </p:sp>
      <p:sp>
        <p:nvSpPr>
          <p:cNvPr id="196" name="Text 194"/>
          <p:cNvSpPr/>
          <p:nvPr/>
        </p:nvSpPr>
        <p:spPr>
          <a:xfrm>
            <a:off x="594360" y="5998464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Green = predicted Yes; red = predicted No; gray dash = no returned result in the uploaded file.</a:t>
            </a:r>
            <a:endParaRPr lang="en-US" sz="920" dirty="0"/>
          </a:p>
        </p:txBody>
      </p:sp>
      <p:sp>
        <p:nvSpPr>
          <p:cNvPr id="197" name="Text 195"/>
          <p:cNvSpPr/>
          <p:nvPr/>
        </p:nvSpPr>
        <p:spPr>
          <a:xfrm>
            <a:off x="594360" y="6217920"/>
            <a:ext cx="10607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</a:rPr>
              <a:t>Main pattern: OpenAI examples prompts recover rows 14:2, 14:4, 14:7, and 14:12; many ground-truth Yes rows are still missed.</a:t>
            </a:r>
            <a:endParaRPr lang="en-US" sz="950" dirty="0"/>
          </a:p>
        </p:txBody>
      </p:sp>
      <p:sp>
        <p:nvSpPr>
          <p:cNvPr id="198" name="Text 196"/>
          <p:cNvSpPr/>
          <p:nvPr/>
        </p:nvSpPr>
        <p:spPr>
          <a:xfrm>
            <a:off x="594360" y="6519672"/>
            <a:ext cx="9966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Use this slide for qualitative review with the codebook owner.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next iteration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 this file as a debugging + prompt-sensitivity run, then rerun a cleaner comparison.</a:t>
            </a:r>
            <a:endParaRPr lang="en-US" sz="1080" dirty="0"/>
          </a:p>
        </p:txBody>
      </p:sp>
      <p:sp>
        <p:nvSpPr>
          <p:cNvPr id="4" name="Text 2"/>
          <p:cNvSpPr/>
          <p:nvPr/>
        </p:nvSpPr>
        <p:spPr>
          <a:xfrm>
            <a:off x="777240" y="1325880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F766E"/>
                </a:solidFill>
              </a:rPr>
              <a:t>PROMPT CHOICE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777240" y="1645920"/>
            <a:ext cx="54864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</a:rPr>
              <a:t>Use definitions + examples without metadata as the next baseline.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It matches the metadata version on OpenAI recall while using fewer tokens and lower cost.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777240" y="2907792"/>
            <a:ext cx="534924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907792"/>
            <a:ext cx="54864" cy="8046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304495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Fix before rerun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41832" y="3392424"/>
            <a:ext cx="50749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334155"/>
                </a:solidFill>
              </a:rPr>
              <a:t>Claude/Anthropic rows need a successful wrapper call before they can be scored. Gemini should be resumed only after quota/billing is available.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822960" y="3995928"/>
            <a:ext cx="256032" cy="228600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2064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11827"/>
                </a:solidFill>
              </a:rPr>
              <a:t>Balance GPT Test — </a:t>
            </a:r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</a:rPr>
              <a:t>Add confirmed No passages so specificity, precision, and false positives can be measured.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822960" y="4498848"/>
            <a:ext cx="256032" cy="228600"/>
          </a:xfrm>
          <a:prstGeom prst="rect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207008" y="4480560"/>
            <a:ext cx="512064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11827"/>
                </a:solidFill>
              </a:rPr>
              <a:t>Clarify Unlearning boundary — </a:t>
            </a:r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</a:rPr>
              <a:t>Explicitly define implicit institutional revision, post-failure recommendations, and replacement of prior assumptions.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822960" y="5001768"/>
            <a:ext cx="256032" cy="228600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207008" y="4983480"/>
            <a:ext cx="512064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11827"/>
                </a:solidFill>
              </a:rPr>
              <a:t>Compress examples — </a:t>
            </a:r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</a:rPr>
              <a:t>Keep the most diagnostic examples and remove metadata unless it is rewritten as short decision rules.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822960" y="5504688"/>
            <a:ext cx="256032" cy="228600"/>
          </a:xfrm>
          <a:prstGeom prst="rect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207008" y="5486400"/>
            <a:ext cx="512064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11827"/>
                </a:solidFill>
              </a:rPr>
              <a:t>Resume missing providers — </a:t>
            </a:r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</a:rPr>
              <a:t>Rerun only missing/error Claude and Gemini rows; preserve successful OpenAI rows.</a:t>
            </a:r>
            <a:endParaRPr lang="en-US" sz="98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6629400" y="1325880"/>
          <a:ext cx="46177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6629400" y="4617720"/>
            <a:ext cx="46177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629400" y="4617720"/>
            <a:ext cx="54864" cy="914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93992" y="475488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Decision summary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793992" y="5102352"/>
            <a:ext cx="43434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334155"/>
                </a:solidFill>
              </a:rPr>
              <a:t>Examples help. Metadata does not yet justify its token cost. The next run should prioritize a balanced test set and a cleaner cross-provider execution.</a:t>
            </a:r>
            <a:endParaRPr lang="en-US" sz="1030" dirty="0"/>
          </a:p>
        </p:txBody>
      </p:sp>
      <p:sp>
        <p:nvSpPr>
          <p:cNvPr id="24" name="Text 21"/>
          <p:cNvSpPr/>
          <p:nvPr/>
        </p:nvSpPr>
        <p:spPr>
          <a:xfrm>
            <a:off x="594360" y="6519672"/>
            <a:ext cx="9966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Presentation generated from predictions_most.csv; results reflect the actual rows available in that file.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Unlearning Prompt A/B Test Results</dc:title>
  <dc:subject>Unlearning prompt A/B test results</dc:subject>
  <dc:creator>OpenAI</dc:creator>
  <cp:lastModifiedBy>OpenAI</cp:lastModifiedBy>
  <cp:revision>1</cp:revision>
  <dcterms:created xsi:type="dcterms:W3CDTF">2026-07-03T13:25:58Z</dcterms:created>
  <dcterms:modified xsi:type="dcterms:W3CDTF">2026-07-03T13:25:58Z</dcterms:modified>
</cp:coreProperties>
</file>
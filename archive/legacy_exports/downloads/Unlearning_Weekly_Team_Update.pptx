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E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Old broad
simple</c:v>
                  </c:pt>
                  <c:pt idx="1">
                    <c:v>Old broad
checklist</c:v>
                  </c:pt>
                  <c:pt idx="2">
                    <c:v>Current strict
simple</c:v>
                  </c:pt>
                  <c:pt idx="3">
                    <c:v>Current strict
checklist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0.541667</c:v>
                </c:pt>
                <c:pt idx="1">
                  <c:v>0.510417</c:v>
                </c:pt>
                <c:pt idx="2">
                  <c:v>0.260417</c:v>
                </c:pt>
                <c:pt idx="3">
                  <c:v>0.364583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Specificity</c:v>
                </c:pt>
              </c:strCache>
            </c:strRef>
          </c:tx>
          <c:spPr>
            <a:solidFill>
              <a:srgbClr val="D86F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Old broad
simple</c:v>
                  </c:pt>
                  <c:pt idx="1">
                    <c:v>Old broad
checklist</c:v>
                  </c:pt>
                  <c:pt idx="2">
                    <c:v>Current strict
simple</c:v>
                  </c:pt>
                  <c:pt idx="3">
                    <c:v>Current strict
checklist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0.666667</c:v>
                </c:pt>
                <c:pt idx="1">
                  <c:v>0.7</c:v>
                </c:pt>
                <c:pt idx="2">
                  <c:v>0.966667</c:v>
                </c:pt>
                <c:pt idx="3">
                  <c:v>0.966667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5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Old broad
simple</c:v>
                  </c:pt>
                  <c:pt idx="1">
                    <c:v>Old broad
checklist</c:v>
                  </c:pt>
                  <c:pt idx="2">
                    <c:v>Current strict
simple</c:v>
                  </c:pt>
                  <c:pt idx="3">
                    <c:v>Current strict
checklist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0.652795</c:v>
                </c:pt>
                <c:pt idx="1">
                  <c:v>0.635454</c:v>
                </c:pt>
                <c:pt idx="2">
                  <c:v>0.40803</c:v>
                </c:pt>
                <c:pt idx="3">
                  <c:v>0.525794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Unanimous agreement</c:v>
                </c:pt>
              </c:strCache>
            </c:strRef>
          </c:tx>
          <c:spPr>
            <a:solidFill>
              <a:srgbClr val="1E8A8A"/>
            </a:solidFill>
            <a:ln w="25400" cap="flat">
              <a:solidFill>
                <a:srgbClr val="1E8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8A8A"/>
              </a:solidFill>
              <a:ln w="9525" cap="flat">
                <a:solidFill>
                  <a:srgbClr val="1E8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17</c:v>
                  </c:pt>
                  <c:pt idx="1">
                    <c:v>43</c:v>
                  </c:pt>
                  <c:pt idx="2">
                    <c:v>101</c:v>
                  </c:pt>
                  <c:pt idx="3">
                    <c:v>211</c:v>
                  </c:pt>
                  <c:pt idx="4">
                    <c:v>307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0.690476</c:v>
                </c:pt>
                <c:pt idx="1">
                  <c:v>0.690476</c:v>
                </c:pt>
                <c:pt idx="2">
                  <c:v>0.738095</c:v>
                </c:pt>
                <c:pt idx="3">
                  <c:v>0.738095</c:v>
                </c:pt>
                <c:pt idx="4">
                  <c:v>0.690476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Fleiss κ</c:v>
                </c:pt>
              </c:strCache>
            </c:strRef>
          </c:tx>
          <c:spPr>
            <a:solidFill>
              <a:srgbClr val="D86F45"/>
            </a:solidFill>
            <a:ln w="25400" cap="flat">
              <a:solidFill>
                <a:srgbClr val="D86F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86F45"/>
              </a:solidFill>
              <a:ln w="9525" cap="flat">
                <a:solidFill>
                  <a:srgbClr val="D86F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17</c:v>
                  </c:pt>
                  <c:pt idx="1">
                    <c:v>43</c:v>
                  </c:pt>
                  <c:pt idx="2">
                    <c:v>101</c:v>
                  </c:pt>
                  <c:pt idx="3">
                    <c:v>211</c:v>
                  </c:pt>
                  <c:pt idx="4">
                    <c:v>307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0.502581</c:v>
                </c:pt>
                <c:pt idx="1">
                  <c:v>0.502581</c:v>
                </c:pt>
                <c:pt idx="2">
                  <c:v>0.572222</c:v>
                </c:pt>
                <c:pt idx="3">
                  <c:v>0.564835</c:v>
                </c:pt>
                <c:pt idx="4">
                  <c:v>0.502581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4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6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a weekly research update: not a final model-selection presentation. The full controlled A/B phase details can be presented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that the multiple-seed stability run did happen: five repeat seeds, 630 predictions in the controlled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why the cleaned set is a stronger research substrate than the earlier 49-row test, even though it is smaller.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presenting local context as a complete solution; present it as an infrastructure improvement and diagnostic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EPA is a human adjudication target: the labels, codebook definition, and model behavior need to be reconciled.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A/B result to include this week. Details of later A/B phases can be saved for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answer the user’s “did I actually run multiple seeds?” question: yes, five repeated trials were completed for the provisional finalist.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team asks about reliability: frame as review triage/production pilot, not an accuracy benchmark, because no human gold labels were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separate what belongs in this meeting from the full controlled A/B phase discussion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08592" y="0"/>
            <a:ext cx="2880360" cy="6858000"/>
          </a:xfrm>
          <a:prstGeom prst="rect">
            <a:avLst/>
          </a:prstGeom>
          <a:solidFill>
            <a:srgbClr val="1E8A8A">
              <a:alpha val="80000"/>
            </a:srgbClr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0"/>
            <a:ext cx="1901952" cy="6858000"/>
          </a:xfrm>
          <a:prstGeom prst="rect">
            <a:avLst/>
          </a:prstGeom>
          <a:solidFill>
            <a:srgbClr val="D86F45">
              <a:alpha val="70000"/>
            </a:srgbClr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85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D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team update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D7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49-label benchmark to a cleaner, reproducible pipeline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685800" y="2395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1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benchmark • local context • codebook comparison • consensus metrics • production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1645920" cy="0"/>
          </a:xfrm>
          <a:prstGeom prst="line">
            <a:avLst/>
          </a:prstGeom>
          <a:noFill/>
          <a:ln w="38100">
            <a:solidFill>
              <a:srgbClr val="D86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55264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week’s focus: what changed since the 49-label EPA error diagnostic, and what needs team adjudication next.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6071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 since last meeting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meeting centered on the 49-label mixed benchmark and the EPA failure mode.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4173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TIME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452628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27632"/>
            <a:ext cx="64008" cy="14447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647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49-label mixed benchmark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59536" y="2103120"/>
            <a:ext cx="42062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We had 49 human-coded passages (39 Yes / 10 No) and saw a strong false-negative pattern in the EPA document.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658368" y="3273552"/>
            <a:ext cx="45262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273552"/>
            <a:ext cx="64008" cy="1280160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4107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Core concern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59536" y="3749040"/>
            <a:ext cx="4206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EPA was not a random error case: it exposed a boundary between “learning,” “resources,” and organizational unlearning.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6446520" y="14173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WEEK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446520" y="1627632"/>
            <a:ext cx="4663440" cy="115214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627632"/>
            <a:ext cx="64008" cy="1152144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17647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Cleaner research substrate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647688" y="2103120"/>
            <a:ext cx="434340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Reduced to a context-complete 42-row benchmark, added row-level provenance, and isolated leakage/duplicate risks.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6446520" y="2944368"/>
            <a:ext cx="46634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944368"/>
            <a:ext cx="64008" cy="1316736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308152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Better diagnostics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647688" y="3419856"/>
            <a:ext cx="43434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Added model agreement, majority/tiered review, evidence validation, repeat stability, and a production pilot on a new document.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5349240" y="2834640"/>
            <a:ext cx="841248" cy="0"/>
          </a:xfrm>
          <a:prstGeom prst="line">
            <a:avLst/>
          </a:prstGeom>
          <a:noFill/>
          <a:ln w="38100">
            <a:solidFill>
              <a:srgbClr val="1E8A8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86384" y="5166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6F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86384" y="5605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mixed-label rows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16352" y="5166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816352" y="5605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context-complete rows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20840" y="5166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20840" y="56052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providers kept throughout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732520" y="5166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732520" y="5605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seeds completed for stability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cleanup: from 49 labels to 42 usable test rows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was not just fewer rows; it was a defensible, reproducible benchmark.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2057400" cy="1024128"/>
          </a:xfrm>
          <a:prstGeom prst="rect">
            <a:avLst/>
          </a:prstGeom>
          <a:solidFill>
            <a:srgbClr val="D86F45"/>
          </a:solidFill>
          <a:ln>
            <a:solidFill>
              <a:srgbClr val="D86F4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mixed benchmark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34640" y="2331720"/>
            <a:ext cx="256032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154680" y="1828800"/>
            <a:ext cx="2057400" cy="1024128"/>
          </a:xfrm>
          <a:prstGeom prst="rect">
            <a:avLst/>
          </a:prstGeom>
          <a:solidFill>
            <a:srgbClr val="CBA552"/>
          </a:solidFill>
          <a:ln>
            <a:solidFill>
              <a:srgbClr val="CBA552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duplicates + leakage risk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331720"/>
            <a:ext cx="256032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623560" y="1828800"/>
            <a:ext cx="2057400" cy="1024128"/>
          </a:xfrm>
          <a:prstGeom prst="rect">
            <a:avLst/>
          </a:prstGeom>
          <a:solidFill>
            <a:srgbClr val="1E8A8A"/>
          </a:solidFill>
          <a:ln>
            <a:solidFill>
              <a:srgbClr val="1E8A8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rows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context-complete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0" y="2331720"/>
            <a:ext cx="256032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92440" y="1828800"/>
            <a:ext cx="2057400" cy="1024128"/>
          </a:xfrm>
          <a:prstGeom prst="rect">
            <a:avLst/>
          </a:prstGeom>
          <a:solidFill>
            <a:srgbClr val="18324A"/>
          </a:solidFill>
          <a:ln>
            <a:solidFill>
              <a:srgbClr val="18324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 Yes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No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frozen class balance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7307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REMOVED / CONTROLLED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804672" y="404164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Parent-child / near-duplicate passages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Passages with codebook/example overlap to avoid leakage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Rows without the context structure needed for matched local-context tests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446520" y="37307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ADDED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6437376" y="404164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Stable paragraph IDs and document IDs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 paragraph + title/section + neighboring paragraph fields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Hashes, run logs, and resume-safe outputs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Local-context version: target paragraph plus nearby source 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 context-complete benchmark so models could use source-local information without seeing the whole document.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47088"/>
            <a:ext cx="1298448" cy="1170432"/>
          </a:xfrm>
          <a:prstGeom prst="roundRect">
            <a:avLst>
              <a:gd name="adj" fmla="val 5469"/>
            </a:avLst>
          </a:prstGeom>
          <a:solidFill>
            <a:srgbClr val="EAE6DB"/>
          </a:solidFill>
          <a:ln w="7620">
            <a:solidFill>
              <a:srgbClr val="D2CA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8600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 −2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31720" y="1847088"/>
            <a:ext cx="1298448" cy="1170432"/>
          </a:xfrm>
          <a:prstGeom prst="roundRect">
            <a:avLst>
              <a:gd name="adj" fmla="val 5469"/>
            </a:avLst>
          </a:prstGeom>
          <a:solidFill>
            <a:srgbClr val="EAE6DB"/>
          </a:solidFill>
          <a:ln w="7620">
            <a:solidFill>
              <a:srgbClr val="D2CA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228600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 −1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77640" y="1847088"/>
            <a:ext cx="1298448" cy="1170432"/>
          </a:xfrm>
          <a:prstGeom prst="roundRect">
            <a:avLst>
              <a:gd name="adj" fmla="val 5469"/>
            </a:avLst>
          </a:prstGeom>
          <a:solidFill>
            <a:srgbClr val="1E8A8A"/>
          </a:solidFill>
          <a:ln w="7620">
            <a:solidFill>
              <a:srgbClr val="D2CA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6512" y="228600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23560" y="1847088"/>
            <a:ext cx="1298448" cy="1170432"/>
          </a:xfrm>
          <a:prstGeom prst="roundRect">
            <a:avLst>
              <a:gd name="adj" fmla="val 5469"/>
            </a:avLst>
          </a:prstGeom>
          <a:solidFill>
            <a:srgbClr val="EAE6DB"/>
          </a:solidFill>
          <a:ln w="7620">
            <a:solidFill>
              <a:srgbClr val="D2CA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228600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+1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1847088"/>
            <a:ext cx="1298448" cy="1170432"/>
          </a:xfrm>
          <a:prstGeom prst="roundRect">
            <a:avLst>
              <a:gd name="adj" fmla="val 5469"/>
            </a:avLst>
          </a:prstGeom>
          <a:solidFill>
            <a:srgbClr val="EAE6DB"/>
          </a:solidFill>
          <a:ln w="7620">
            <a:solidFill>
              <a:srgbClr val="D2CA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88352" y="228600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+2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target row, bounded context only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3063240"/>
            <a:ext cx="0" cy="228600"/>
          </a:xfrm>
          <a:prstGeom prst="line">
            <a:avLst/>
          </a:prstGeom>
          <a:noFill/>
          <a:ln w="19050">
            <a:solidFill>
              <a:srgbClr val="1E8A8A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41832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41832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context-complete passages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418320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41832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local-context predictions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(42 × 3 providers)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4224528"/>
            <a:ext cx="50292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224528"/>
            <a:ext cx="64008" cy="1143000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36168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Main result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024128" y="4700016"/>
            <a:ext cx="4709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The local-context version made the evaluation cleaner and more inspectable, but context alone did not settle the EPA definition/label ambiguity.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6263640" y="4224528"/>
            <a:ext cx="48920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4224528"/>
            <a:ext cx="64008" cy="1143000"/>
          </a:xfrm>
          <a:prstGeom prst="rect">
            <a:avLst/>
          </a:prstGeom>
          <a:solidFill>
            <a:srgbClr val="2E5B78"/>
          </a:solidFill>
          <a:ln w="12700">
            <a:solidFill>
              <a:srgbClr val="2E5B7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4361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Why it matters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6464808" y="4700016"/>
            <a:ext cx="4572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Now every test row can be evaluated as target-only, metadata-only, ±1 paragraph, or ±2 paragraph without changing the underlying benchmark.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EPA remained the key adjudication bottleneck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failure pattern now has a clearer shape: it is concentrated in definition-boundary cases, not spread evenly.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EPA subset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7373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176272" y="1947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in the cleaned benchmark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615184"/>
            <a:ext cx="3337560" cy="438912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2615184"/>
            <a:ext cx="1042416" cy="43891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24912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historical Yes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272491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4572000" cy="438912"/>
          </a:xfrm>
          <a:prstGeom prst="rect">
            <a:avLst/>
          </a:prstGeom>
          <a:solidFill>
            <a:srgbClr val="E9E2D8"/>
          </a:solidFill>
          <a:ln>
            <a:solidFill>
              <a:srgbClr val="E9E2D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benchmark total: 42 rows = 32 Yes / 10 No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841248" y="415137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EPA subset accounts for half of the cleaned benchmark and concentrates the hardest definition-boundary cases.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172200" y="1508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6172200" y="1792224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Exact EPA document matching fixed a false-positive matching bug.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Priority adjudication queue now surfaces rows where definitions, model agreement, and historical labels diverge.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EPA rows are the best place to decide how broad the final unlearning definition should be.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4754880" cy="115214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794760"/>
            <a:ext cx="64008" cy="1152144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9319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Interpretation for the team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373368" y="4270248"/>
            <a:ext cx="443484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The next research question is no longer just “which model is best?” It is “which passages should count as unlearning under the final definition?”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Old vs. current codebook: the core tradeoff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Phase 1 comparison: old broad definition vs. current strict definition on the same 42 rows.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58368" y="1481328"/>
          <a:ext cx="6126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1517904"/>
            <a:ext cx="434340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0" y="1517904"/>
            <a:ext cx="64008" cy="1261872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87768" y="16550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Old broad definition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7287768" y="1993392"/>
            <a:ext cx="40233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Recovered more historical positives, but specificity dropped. This suggests it better matches some legacy positive labels but risks counting broader learning/resource cases.</a:t>
            </a:r>
            <a:endParaRPr lang="en-US" sz="1010" dirty="0"/>
          </a:p>
        </p:txBody>
      </p:sp>
      <p:sp>
        <p:nvSpPr>
          <p:cNvPr id="11" name="Shape 8"/>
          <p:cNvSpPr/>
          <p:nvPr/>
        </p:nvSpPr>
        <p:spPr>
          <a:xfrm>
            <a:off x="7086600" y="2971800"/>
            <a:ext cx="434340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86600" y="2971800"/>
            <a:ext cx="64008" cy="1060704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87768" y="3108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Current strict definition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7287768" y="3447288"/>
            <a:ext cx="402336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Much more specific, especially with the evidence checklist, but missed many historical positives.</a:t>
            </a:r>
            <a:endParaRPr lang="en-US" sz="1010" dirty="0"/>
          </a:p>
        </p:txBody>
      </p:sp>
      <p:sp>
        <p:nvSpPr>
          <p:cNvPr id="15" name="Shape 12"/>
          <p:cNvSpPr/>
          <p:nvPr/>
        </p:nvSpPr>
        <p:spPr>
          <a:xfrm>
            <a:off x="7086600" y="4224528"/>
            <a:ext cx="4343400" cy="1005840"/>
          </a:xfrm>
          <a:prstGeom prst="roundRect">
            <a:avLst>
              <a:gd name="adj" fmla="val 6364"/>
            </a:avLst>
          </a:prstGeom>
          <a:solidFill>
            <a:srgbClr val="FFF7ED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86600" y="4224528"/>
            <a:ext cx="64008" cy="1005840"/>
          </a:xfrm>
          <a:prstGeom prst="rect">
            <a:avLst/>
          </a:prstGeom>
          <a:solidFill>
            <a:srgbClr val="CBA552"/>
          </a:solidFill>
          <a:ln w="12700">
            <a:solidFill>
              <a:srgbClr val="CBA55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87768" y="43616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Important caveat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7287768" y="4700016"/>
            <a:ext cx="4023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This is an operational comparison against historical labels. Final old/current/final definition-specific gold labels still need human adjudication.</a:t>
            </a:r>
            <a:endParaRPr lang="en-US" sz="1010" dirty="0"/>
          </a:p>
        </p:txBody>
      </p:sp>
      <p:sp>
        <p:nvSpPr>
          <p:cNvPr id="19" name="Text 16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expanded beyond accuracy: agreement, voting, stability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now records whether models agree, whether repeat runs shift labels, and which rows need human review.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REPEATED-RUN STABILITY</a:t>
            </a:r>
            <a:endParaRPr lang="en-US" sz="83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1572768"/>
          <a:ext cx="4983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44622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seeds/repeats completed: 17, 43, 101, 211, 307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 predictions: 630</a:t>
            </a:r>
            <a:endParaRPr lang="en-US" sz="102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172200" y="1572768"/>
          <a:ext cx="4526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355080" y="446227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Tiered review distribution from the provisional finalist</a:t>
            </a:r>
            <a:endParaRPr lang="en-US" sz="1020" dirty="0"/>
          </a:p>
        </p:txBody>
      </p:sp>
      <p:sp>
        <p:nvSpPr>
          <p:cNvPr id="11" name="Shape 7"/>
          <p:cNvSpPr/>
          <p:nvPr/>
        </p:nvSpPr>
        <p:spPr>
          <a:xfrm>
            <a:off x="713232" y="5230368"/>
            <a:ext cx="480060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3232" y="5230368"/>
            <a:ext cx="64008" cy="786384"/>
          </a:xfrm>
          <a:prstGeom prst="rect">
            <a:avLst/>
          </a:prstGeom>
          <a:solidFill>
            <a:srgbClr val="2E5B78"/>
          </a:solidFill>
          <a:ln w="12700">
            <a:solidFill>
              <a:srgbClr val="2E5B78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53675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Model-repeat stability</a:t>
            </a:r>
            <a:endParaRPr lang="en-US" sz="1220" dirty="0"/>
          </a:p>
        </p:txBody>
      </p:sp>
      <p:sp>
        <p:nvSpPr>
          <p:cNvPr id="14" name="Text 10"/>
          <p:cNvSpPr/>
          <p:nvPr/>
        </p:nvSpPr>
        <p:spPr>
          <a:xfrm>
            <a:off x="914400" y="5705856"/>
            <a:ext cx="448056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Claude and Gemini were stable across repeat pairs; OpenAI had small variation (mean pairwise agreement ≈ 96%).</a:t>
            </a:r>
            <a:endParaRPr lang="en-US" sz="1010" dirty="0"/>
          </a:p>
        </p:txBody>
      </p:sp>
      <p:sp>
        <p:nvSpPr>
          <p:cNvPr id="15" name="Shape 11"/>
          <p:cNvSpPr/>
          <p:nvPr/>
        </p:nvSpPr>
        <p:spPr>
          <a:xfrm>
            <a:off x="6172200" y="5230368"/>
            <a:ext cx="480060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72200" y="5230368"/>
            <a:ext cx="64008" cy="786384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73368" y="53675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Review implication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6373368" y="5705856"/>
            <a:ext cx="448056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Tier 3 rows and tier-changing rows are high-value adjudication targets because the models are detecting ambiguity.</a:t>
            </a:r>
            <a:endParaRPr lang="en-US" sz="1010" dirty="0"/>
          </a:p>
        </p:txBody>
      </p:sp>
      <p:sp>
        <p:nvSpPr>
          <p:cNvPr id="19" name="Text 15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pilot on a new document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the pipeline to “What if Hurricane Katrina Hit in 2020” as a review-oriented production pilot.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2808" y="2468880"/>
            <a:ext cx="484632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2468880"/>
            <a:ext cx="502920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23560" y="2468880"/>
            <a:ext cx="502920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98080" y="2468880"/>
            <a:ext cx="502920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2E5B78"/>
          </a:solidFill>
          <a:ln w="12700">
            <a:solidFill>
              <a:srgbClr val="2E5B7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3-provider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CBA552"/>
          </a:solidFill>
          <a:ln w="12700">
            <a:solidFill>
              <a:srgbClr val="CBA55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Majority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tiered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77240" y="4416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paragraph texts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63240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063240" y="4416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occurrences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49240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49240" y="4416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unique-text model predictions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83880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6F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183880" y="4416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annotation segments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" y="5285232"/>
            <a:ext cx="104241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285232"/>
            <a:ext cx="64008" cy="731520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22392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How to position this result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914400" y="5760720"/>
            <a:ext cx="10104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The pilot shows the workflow can generate review-ready outputs on a new document. It should not be described as accuracy-tested until human gold labels exist for that document.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I’d like to get out of this week’s meeting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infrastructure is now working; the main bottleneck is theoretical adjudication.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51206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17320"/>
            <a:ext cx="64008" cy="2331720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Ready to share now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14400" y="1892808"/>
            <a:ext cx="48006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• Clean 42-row benchmark with duplicate/leakage controls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• Local-context test set and pipeline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• Old vs. current codebook tradeoff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• Consensus, majority/tiered review, and repeat-stability metrics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• New-document production pilot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07492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17320"/>
            <a:ext cx="64008" cy="2331720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5544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324A"/>
                </a:solidFill>
              </a:rPr>
              <a:t>Decisions / feedback needed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10528" y="1892808"/>
            <a:ext cx="47548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• Which EPA cases should count under old vs. current definitions?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• Should the final definition prioritize stricter specificity or broader recall?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• Which rows should be prioritized for human adjudication?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4606A"/>
                </a:solidFill>
              </a:rPr>
              <a:t>• Which context candidates should be rerun for confirmation?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960120" y="4187952"/>
            <a:ext cx="9692640" cy="0"/>
          </a:xfrm>
          <a:prstGeom prst="line">
            <a:avLst/>
          </a:prstGeom>
          <a:noFill/>
          <a:ln w="15240">
            <a:solidFill>
              <a:srgbClr val="E8E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498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CLOSE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768096" y="4828032"/>
            <a:ext cx="992124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week: validate the cleaned benchmark, EPA adjudication plan, and codebook tradeoff.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week: present the full controlled A/B phase results and final candidate comparison.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8096" y="5815584"/>
            <a:ext cx="3886200" cy="310896"/>
          </a:xfrm>
          <a:prstGeom prst="roundRect">
            <a:avLst>
              <a:gd name="adj" fmla="val 23529"/>
            </a:avLst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884164"/>
            <a:ext cx="3739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additional broad model run needed before adjudication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Project — Weekly Update</dc:title>
  <dc:subject>Unlearning Project Weekly Team Meeting Update</dc:subject>
  <dc:creator>OpenAI</dc:creator>
  <cp:lastModifiedBy>OpenAI</cp:lastModifiedBy>
  <cp:revision>1</cp:revision>
  <dcterms:created xsi:type="dcterms:W3CDTF">2026-07-24T11:51:09Z</dcterms:created>
  <dcterms:modified xsi:type="dcterms:W3CDTF">2026-07-24T11:51:09Z</dcterms:modified>
</cp:coreProperties>
</file>